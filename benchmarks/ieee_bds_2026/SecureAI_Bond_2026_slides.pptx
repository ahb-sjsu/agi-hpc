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~12-15 min talk + Q&amp;A. This paper was ACCEPTED at IEEE BigDataService 2026, Special Track on Secure AI (both reviews: weak accept).</a:t>
            </a:r>
          </a:p>
          <a:p/>
          <a:p>
            <a:r>
              <a:t>If you are not Andrew: "I'm presenting on behalf of Andrew Bond, San Jose State University."</a:t>
            </a:r>
          </a:p>
          <a:p/>
          <a:p>
            <a:r>
              <a:t>ONE-SENTENCE SUMMARY of the whole talk: LLMs that make moral/safety decisions can be manipulated just by REWORDING the input — we built a framework that measures exactly WHICH rewordings move WHICH models, showed the attack works end-to-end against a real moderation pipeline, and (new since the paper) built and measured a defense.</a:t>
            </a:r>
          </a:p>
          <a:p/>
          <a:p>
            <a:r>
              <a:t>The word "geometric" just means: a judgment is a POINT in a multi-dimensional harm space, and we measure how far perturbations MOVE that point (displacement). No deep math needed on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TERM — "behavioral manipulation vulnerability": the attacker never changes the FACTS of a scenario, only the PRESENTATION (wording, tone, irrelevant detail). A secure evaluator should give the same verdict either way. These models don't.</a:t>
            </a:r>
          </a:p>
          <a:p/>
          <a:p>
            <a:r>
              <a:t>Why it matters: LLMs already gate content moderation, triage, legal-intake style decisions. If wording moves the verdict, wording is an attack surface.</a:t>
            </a:r>
          </a:p>
          <a:p/>
          <a:p>
            <a:r>
              <a:t>BOTTOM BLOCK (the measurement gap): prior work tests one bias at a time and reports ONE robustness number. Analogy that lands well: a single credit score vs. the full credit report — if failures have n independent directions, one scalar throws away n−1 of them, and you cannot reconstruct them afterwards.</a:t>
            </a:r>
          </a:p>
          <a:p/>
          <a:p>
            <a:r>
              <a:t>Don't over-dwell here; the punchline slides are 8-11.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THE FRAMEWORK WORKS (3 steps): (1) every model judgment is scored as a 7-dimensional harm vector — physical, emotional, financial, autonomy, trust, social, identity — each 0-10, so total harm is 0-70. (2) apply perturbations that should NOT change the moral evaluation. (3) measure how far the vector moved = displacement. Output is a per-model VULNERABILITY PROFILE, not one number.</a:t>
            </a:r>
          </a:p>
          <a:p/>
          <a:p>
            <a:r>
              <a:t>$50/day: the whole 5-model, ~8,000-call evaluation fits a Kaggle budget — any team can afford to reproduce this. Worth saying out loud.</a:t>
            </a:r>
          </a:p>
          <a:p/>
          <a:p>
            <a:r>
              <a:t>RIGHT SIDE — DEME v3: the 9-dimension moral vector of the ErisML compiler (Andrew's open-source ethics decision kernel). The 7-D space is the measurement-reliable projection of those 9 dimensions — i.e., the coordinates aren't invented for this paper; two axes were dropped because models couldn't score them reliably.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exists because reviewers asked "where do the 7 dimensions come from?" Answer: they are a PROJECTION of the DEME v3 9-axis moral vector. Four map directly, three partially, and two (rights, epistemic quality) are NOT scored — they produced unreliable judgments in preliminary testing, so the paper says so honestly rather than pretending.</a:t>
            </a:r>
          </a:p>
          <a:p/>
          <a:p>
            <a:r>
              <a:t>Key phrase: "a reliability-driven projection, not a bijection."</a:t>
            </a:r>
          </a:p>
          <a:p/>
          <a:p>
            <a:r>
              <a:t>Bottom line of the slide: this evaluation pipeline is the measurement FRONT-END; the ErisML compiler's DEME bridge is the downstream decision kernel that turns harm vectors into a typed verdict (DEMEVerdict). That wiring becomes important on slide 9, where we attack the whole chain.</a:t>
            </a:r>
          </a:p>
          <a:p/>
          <a:p>
            <a:r>
              <a:t>If pressed on "identity" mapping weakly to privacy/standing: note it gets properly fixed by the new identity_attack channel on slide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HEADLINE FINDING of the accepted paper. Vulnerabilities are SELECTIVE, not uniform:</a:t>
            </a:r>
          </a:p>
          <a:p/>
          <a:p>
            <a:r>
              <a:t>MOVE judgments (all 5 models): linguistic framing (euphemistic vs dramatic rewording), emotional anchoring (Cohen's d 0.6-1.1 = medium-to-large), irrelevant sensory detail.</a:t>
            </a:r>
          </a:p>
          <a:p>
            <a:r>
              <a:t>DO NOT move judgments: gender swap, evaluation order.</a:t>
            </a:r>
          </a:p>
          <a:p/>
          <a:p>
            <a:r>
              <a:t>The common thread (right block): the three live surfaces all make morally irrelevant features PERCEPTUALLY SALIENT. So the attack mechanism is salience manipulation — attackers must change what's perceptually prominent, not just any surface token. That selectivity also proves the framework discriminates real vulnerabilities from noise.</a:t>
            </a:r>
          </a:p>
          <a:p/>
          <a:p>
            <a:r>
              <a:t>FOOTNOTE (methods honesty, reviewers asked for this): headline stats are effect sizes (Cohen's d, harm-point displacement), not sigmas; every test is compared against replication control arms (same text re-judged) — apparent 6-sigma violations in early analyses VANISHED under those controls. Say this if any statistician looks skeptical.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 FINDING: robustness profiles are DISSOCIABLE — no model dominates.</a:t>
            </a:r>
          </a:p>
          <a:p/>
          <a:p>
            <a:r>
              <a:t>Concrete contrast to say out loud: Claude has ZERO sycophancy (never accepts a fabricated correction) — but the WORST emotional-anchoring recovery (20%) and worst divided attention. Gemini Flash 2.0 recovers from emotional manipulation the BEST (73%) — but has the worst working memory.</a:t>
            </a:r>
          </a:p>
          <a:p/>
          <a:p>
            <a:r>
              <a:t>Consequence (bottom block): averaging partially-independent dimensions gives a number that describes NO model accurately. So single-test certification — "this model scored X on robustness" — is FALSE ASSURANCE. This is the main deployment message of the accepted paper.</a:t>
            </a:r>
          </a:p>
          <a:p/>
          <a:p>
            <a:r>
              <a:t>Anticipate: "which model should I use then?" Answer: depends which attack surfaces matter for YOUR use case — that's exactly why the output is a profile, not a 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reviewers' #1 concern: "is the 7-D harm space validated or asserted?" This slide is the camera-ready answer.</a:t>
            </a:r>
          </a:p>
          <a:p/>
          <a:p>
            <a:r>
              <a:t>Design: 6 OPEN models from 5 different families (Qwen3 x2, GLM-5, GPT-OSS, MiniMax-M2, Gemma) each score the full 7-D vector on 31 scenarios, 3 repetitions. Panel is served by the NRP (National Research Platform) managed LLM API — fully open, no proprietary endpoints, so anyone can re-run it. The panel is DISJOINT from the 5 models under test.</a:t>
            </a:r>
          </a:p>
          <a:p/>
          <a:p>
            <a:r>
              <a:t>TERMS: ICC(2,k) = intraclass correlation, two-way random, average-measures — the standard inter-rater reliability statistic; 0.969 overall is excellent. Krippendorff's alpha = chance-corrected agreement; 0.836 overall is strong.</a:t>
            </a:r>
          </a:p>
          <a:p/>
          <a:p>
            <a:r>
              <a:t>Honest caveat if asked why physical/autonomy are lowest (~0.57): near-floor artifact — interpersonal scenarios rarely involve physical harm, so tiny disagreements at 0-1 crush the coefficient. Test-retest r=0.96 sets the stochastic floor the perturbation effects are measured against.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Reviewer ask #3: "show an end-to-end exploit, not just displacement." Walk it as a story:</a:t>
            </a:r>
          </a:p>
          <a:p/>
          <a:p>
            <a:r>
              <a:t>You run a moderation filter: flag anything with total harm &gt; T. The attacker controls ONLY the wording. They rewrite the same facts euphemistically — corporate-liability language, "involuntary separation from the platform" style. Panel-averaged harm drops 14.0 points on the 0-70 scale. At a median-calibrated threshold, 3 of the 6 audited gold scenarios silently flip from FLAG to PASS. Nothing about the underlying event changed.</a:t>
            </a:r>
          </a:p>
          <a:p/>
          <a:p>
            <a:r>
              <a:t>THE ASYMMETRY IS THE SCARY PART: euphemism moves scores twice as much as dramatization (-14 vs +7.3). So the filter is far easier to EVADE (hide real harm) than to TRIP (fake a false positive) — it fails in the dangerous direction.</a:t>
            </a:r>
          </a:p>
          <a:p/>
          <a:p>
            <a:r>
              <a:t>Honest scope if asked: n=6 gold items with hand-audited rewrites = an EXISTENCE PROOF of the end-to-end exploit; the displacement magnitude itself is established on 31 scenarios.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Natural objection: "so don't use a scalar threshold — use a principled rule engine." This slide kills that hope.</a:t>
            </a:r>
          </a:p>
          <a:p/>
          <a:p>
            <a:r>
              <a:t>Setup: route each scenario through the real ErisML DEME v3 kernel: an LLM extracts structured ethical FACTS (rights violation? valid consent? harm severity?), then GenevaEMV3 — a fixed, deterministic rule module — maps facts to a typed verdict: forbid / avoid / neutral / prefer / strongly_prefer.</a:t>
            </a:r>
          </a:p>
          <a:p/>
          <a:p>
            <a:r>
              <a:t>Result across 161 scenario-model cases: euphemistic rewriting flips a restrictive verdict (forbid/avoid) to a permissive one in 13.7% of cases; forbid verdicts drop from 44 to 27 (-39%).</a:t>
            </a:r>
          </a:p>
          <a:p/>
          <a:p>
            <a:r>
              <a:t>THE QUOTABLE LINE: "a rule engine INHERITS, rather than cures, the front-end's salience vulnerability." The rules are fine — the FACTS feeding them were corrupted by the rewording. So hardening must target fact extraction / perception. That sets up the next slide (the defense).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FRAMING: slides 10-11 are work done AFTER the camera-ready. Say explicitly: "these results are post-publication, from the extended version in preparation." Do not present them as claims of the accepted paper.</a:t>
            </a:r>
          </a:p>
          <a:p/>
          <a:p>
            <a:r>
              <a:t>THE IDEA: a single wording is one arbitrary member of an equivalence class of morally identical texts. So don't judge the wording — judge the CLASS: generate m paraphrases of the input, average the per-dimension perception scores over the class, then decide. (For ML folks: semantic randomized smoothing / SmoothLLM, but with meaning-preserving paraphrases.)</a:t>
            </a:r>
          </a:p>
          <a:p/>
          <a:p>
            <a:r>
              <a:t>NUMBERS: theta_d = decision-layer drift under re-description; lower is better; bar of 0.5 was PRE-REGISTERED. At scale (60 held-out items, m=6): raw drift 0.407 -&gt; 0.219. The mechanism HALVES drift and meets the bar.</a:t>
            </a:r>
          </a:p>
          <a:p/>
          <a:p>
            <a:r>
              <a:t>THE HOLE AND ITS LOCATION: LLM paraphrasers refuse 24% of harmful inputs — exactly the content that matters. Red-team fix: NLLB back-translation through 6 languages refuses NOTHING; theta_d = 0.301 on harmful content. Conclusion: the hole belongs to the GENERATOR, not the mechanism.</a:t>
            </a:r>
          </a:p>
          <a:p/>
          <a:p>
            <a:r>
              <a:t>Deployment rule: if the generator refuses -&gt; singleton class -&gt; ESCALATE to a human by default; the audit proof records the class member hashes.</a:t>
            </a:r>
          </a:p>
          <a:p/>
          <a:p>
            <a:r>
              <a:t>Caveat if asked: at-scale paraphrases are natural, not adversarial; adversarial-at-scale is open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Also post-camera-ready. This answers "is the harm space validated?" at a deeper level: the dimension set is EXTENSIBLE and FALSIFIABLE.</a:t>
            </a:r>
          </a:p>
          <a:p/>
          <a:p>
            <a:r>
              <a:t>THE LOOP: residual analysis asks "is there moderation signal the current axes don't carry?" -&gt; flags candidates -&gt; each faces a PRE-REGISTERED admission gate (cross-dataset transfer, margin over null, fuzz test).</a:t>
            </a:r>
          </a:p>
          <a:p/>
          <a:p>
            <a:r>
              <a:t>SCORECARD — say all three outcomes, the rejections are the credibility: 3 flagged. 1 VALIDATED: identity_attack, held-out AUROC 0.80, CI [0.78-0.83], on two independent corpora, n=6400 — now live as a 10th channel. 1 RETRACTED: threat (failed a balanced resample). 1 DECLINED: sexual content — analysis showed it's a PLATFORM POLICY signal, not a moral axis (consensual explicitness isn't a moral violation; the moral weight was harassment, already covered). "The gate has teeth."</a:t>
            </a:r>
          </a:p>
          <a:p/>
          <a:p>
            <a:r>
              <a:t>Also: identity_attack is the dominant feature of the learned moderation contraction (AUROC 0.863, leakage-controlled), and invariance holds cross-lingually (0.72-0.80 across Spanish/Arabic/Chinese/Hindi/Swahili, harmful ≈ benign).</a:t>
            </a:r>
          </a:p>
          <a:p/>
          <a:p>
            <a:r>
              <a:t>HONESTY LINE if asked: these validations are on the learned-encoder perception layer (xbse), not on the LLM judges of the paper — re-running the paper's five tracks natively through this instrument IS the extended version.</a:t>
            </a:r>
          </a:p>
          <a:p/>
          <a:p>
            <a:r>
              <a:t>If asked "isn't identity_attack just a Perspective API label?": yes, the LABEL exists; the contribution is the INSTRUMENT — discovery from residuals, pre-registered admission, provenance-carrying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Deployment guidance — four points, one line each:</a:t>
            </a:r>
          </a:p>
          <a:p/>
          <a:p>
            <a:r>
              <a:t>1. WHERE TO LOOK: the live attack surface is salience repackaging — especially euphemistic minimization. Watch for measured, liability-flavored language hiding severity.</a:t>
            </a:r>
          </a:p>
          <a:p>
            <a:r>
              <a:t>2. PROMPT DEFENSES ARE BOUNDED: telling the model "you are being manipulated" recovers only ~38% — and this ceiling co-occurs with universal overconfidence (ECE 0.19-0.42). System-prompt guardrails fail two times out of three.</a:t>
            </a:r>
          </a:p>
          <a:p>
            <a:r>
              <a:t>3. ASK THE RIGHT QUESTION: not "what's the robustness score?" but "WHICH vulnerabilities matter for OUR use case?" — profiles, not rankings.</a:t>
            </a:r>
          </a:p>
          <a:p>
            <a:r>
              <a:t>4. HARDENING TARGET: the fact-extraction / perception front-end — downstream kernels inherit its failures (slide 9). And slide 10 showed perception CAN be hardened measurably.</a:t>
            </a:r>
          </a:p>
          <a:p/>
          <a:p>
            <a:r>
              <a:t>ECE = expected calibration error: gap between stated confidence and actual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Reproducibility first (quick): everything is pip-installable — the paper artifact (agi-hpc, tag bds2026-v1), and the new instrument: moral-spectrum-analyzer + xbse, both on PyPI as of July 2026. Decision kernel: ErisML / DEME v3, open source. Whole evaluation ran under $50/day on Kaggle; the validation panel runs on the open NRP API.</a:t>
            </a:r>
          </a:p>
          <a:p/>
          <a:p>
            <a:r>
              <a:t>THE FOUR TAKEAWAYS — read them slowly, this is the summary the audience leaves with:</a:t>
            </a:r>
          </a:p>
          <a:p>
            <a:r>
              <a:t>1. Vulnerabilities are SELECTIVE — salience manipulation is the attack surface.</a:t>
            </a:r>
          </a:p>
          <a:p>
            <a:r>
              <a:t>2. Robustness profiles are DISSOCIABLE — no single score is safe; certify per-surface.</a:t>
            </a:r>
          </a:p>
          <a:p>
            <a:r>
              <a:t>3. The exploit is END-TO-END — it flips scalar thresholds AND typed rule-engine verdicts.</a:t>
            </a:r>
          </a:p>
          <a:p>
            <a:r>
              <a:t>4. (since submission) It is DEFENSIBLE — deciding on the paraphrase CLASS instead of the wording halves drift, with the residual hole located and escalated.</a:t>
            </a:r>
          </a:p>
          <a:p/>
          <a:p>
            <a:r>
              <a:t>Attack -&gt; measurement -&gt; defense. That's the arc.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PREP — likely questions and short answers:</a:t>
            </a:r>
          </a:p>
          <a:p/>
          <a:p>
            <a:r>
              <a:t>Q: Why 7 dimensions and not 9? A: Two DEME axes (rights, epistemic quality) produced unreliable model scores; dropped for measurement reliability and disclosed. The extended version scores natively in 9+1-D.</a:t>
            </a:r>
          </a:p>
          <a:p>
            <a:r>
              <a:t>Q: Isn't this just prompt sensitivity? A: Prompt sensitivity is undirected noise; we show DIRECTED, selective, reproducible displacement under meaning-preserving transforms, with control arms — plus an end-to-end decision consequence.</a:t>
            </a:r>
          </a:p>
          <a:p>
            <a:r>
              <a:t>Q: How is the defense different from SmoothLLM / randomized smoothing? A: Same aggregation idea, but the perturbation family is meaning-preserving PARAPHRASE (semantic, not character-level), the certified quantity is a multi-dimensional moral decision, and the paraphrase generator explicitly joins the trust boundary (refusal -&gt; escalate).</a:t>
            </a:r>
          </a:p>
          <a:p>
            <a:r>
              <a:t>Q: Do the new results change the accepted paper? A: No — they're clearly labeled post-camera-ready; extended/journal version in preparation.</a:t>
            </a:r>
          </a:p>
          <a:p>
            <a:r>
              <a:t>Q: Model coverage is small (5 models / 2 families)? A: Acknowledged in the paper; the harm-space validation panel adds 6 open models / 5 families; trend claims are flagged as suggestive.</a:t>
            </a:r>
          </a:p>
          <a:p>
            <a:r>
              <a:t>Q: Human agreement rather than inter-model agreement? A: Open panel was chosen for reproducibility (no proprietary endpoints); human-rater validation is future work.</a:t>
            </a:r>
          </a:p>
          <a:p/>
          <a:p>
            <a:r>
              <a:t>Contact: andrew.bond@sjsu.edu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tlas_mark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502920"/>
            <a:ext cx="1371600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103120"/>
            <a:ext cx="999439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000" b="1">
                <a:solidFill>
                  <a:srgbClr val="1A2340"/>
                </a:solidFill>
                <a:latin typeface="Calibri"/>
              </a:rPr>
              <a:t>Selective Invariance Violations in
Large Language Model Moral Judgment</a:t>
            </a:r>
          </a:p>
          <a:p>
            <a:pPr algn="ctr">
              <a:spcAft>
                <a:spcPts val="2200"/>
              </a:spcAft>
            </a:pPr>
            <a:r>
              <a:rPr sz="1900">
                <a:solidFill>
                  <a:srgbClr val="2B6CB0"/>
                </a:solidFill>
                <a:latin typeface="Calibri"/>
              </a:rPr>
              <a:t>A Geometric Framework for Behavioral Manipulation Detection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A2340"/>
                </a:solidFill>
                <a:latin typeface="Calibri"/>
              </a:rPr>
              <a:t>Andrew H. Bond</a:t>
            </a:r>
          </a:p>
          <a:p>
            <a:pPr algn="ctr">
              <a:spcAft>
                <a:spcPts val="1600"/>
              </a:spcAft>
            </a:pPr>
            <a:r>
              <a:rPr sz="1400">
                <a:solidFill>
                  <a:srgbClr val="666666"/>
                </a:solidFill>
                <a:latin typeface="Calibri"/>
              </a:rPr>
              <a:t>Dept. of Computer Engineering, San Jose State University</a:t>
            </a:r>
          </a:p>
          <a:p>
            <a:pPr algn="ctr">
              <a:spcAft>
                <a:spcPts val="600"/>
              </a:spcAft>
            </a:pPr>
            <a:r>
              <a:rPr sz="1400" i="1">
                <a:solidFill>
                  <a:srgbClr val="1A2340"/>
                </a:solidFill>
                <a:latin typeface="Calibri"/>
              </a:rPr>
              <a:t>IEEE BigDataService 2026 — Special Track on Secure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The problem: LLMs as decision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>
                <a:solidFill>
                  <a:srgbClr val="202020"/>
                </a:solidFill>
                <a:latin typeface="Calibri"/>
              </a:rPr>
              <a:t>•  </a:t>
            </a:r>
            <a:r>
              <a:rPr sz="1700">
                <a:solidFill>
                  <a:srgbClr val="202020"/>
                </a:solidFill>
                <a:latin typeface="Calibri"/>
              </a:rPr>
              <a:t>LLMs increasingly gate </a:t>
            </a:r>
            <a:r>
              <a:rPr sz="1700" b="1">
                <a:solidFill>
                  <a:srgbClr val="2B6CB0"/>
                </a:solidFill>
                <a:latin typeface="Calibri"/>
              </a:rPr>
              <a:t>safety-critical decisions</a:t>
            </a:r>
            <a:r>
              <a:rPr sz="1700">
                <a:solidFill>
                  <a:srgbClr val="202020"/>
                </a:solidFill>
                <a:latin typeface="Calibri"/>
              </a:rPr>
              <a:t> — content moderation, clinical triage, legal analysis.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202020"/>
                </a:solidFill>
                <a:latin typeface="Calibri"/>
              </a:rPr>
              <a:t>•  </a:t>
            </a:r>
            <a:r>
              <a:rPr sz="1700">
                <a:solidFill>
                  <a:srgbClr val="202020"/>
                </a:solidFill>
                <a:latin typeface="Calibri"/>
              </a:rPr>
              <a:t>A secure evaluator should judge the </a:t>
            </a:r>
            <a:r>
              <a:rPr sz="1700" b="1">
                <a:solidFill>
                  <a:srgbClr val="2B6CB0"/>
                </a:solidFill>
                <a:latin typeface="Calibri"/>
              </a:rPr>
              <a:t>facts</a:t>
            </a:r>
            <a:r>
              <a:rPr sz="1700">
                <a:solidFill>
                  <a:srgbClr val="202020"/>
                </a:solidFill>
                <a:latin typeface="Calibri"/>
              </a:rPr>
              <a:t>, not their </a:t>
            </a:r>
            <a:r>
              <a:rPr sz="1700" b="1">
                <a:solidFill>
                  <a:srgbClr val="2B6CB0"/>
                </a:solidFill>
                <a:latin typeface="Calibri"/>
              </a:rPr>
              <a:t>presentation</a:t>
            </a:r>
            <a:r>
              <a:rPr sz="1700">
                <a:solidFill>
                  <a:srgbClr val="202020"/>
                </a:solidFill>
                <a:latin typeface="Calibri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02020"/>
                </a:solidFill>
                <a:latin typeface="Calibri"/>
              </a:rPr>
              <a:t>•  </a:t>
            </a:r>
            <a:r>
              <a:rPr sz="1700" b="1">
                <a:solidFill>
                  <a:srgbClr val="A67500"/>
                </a:solidFill>
                <a:latin typeface="Calibri"/>
              </a:rPr>
              <a:t>Behavioral manipulation vulnerability</a:t>
            </a:r>
            <a:r>
              <a:rPr sz="1700">
                <a:solidFill>
                  <a:srgbClr val="202020"/>
                </a:solidFill>
                <a:latin typeface="Calibri"/>
              </a:rPr>
              <a:t>: an attacker shifts the decision by changing morally </a:t>
            </a:r>
            <a:r>
              <a:rPr sz="1700" i="1">
                <a:solidFill>
                  <a:srgbClr val="202020"/>
                </a:solidFill>
                <a:latin typeface="Calibri"/>
              </a:rPr>
              <a:t>irrelevant</a:t>
            </a:r>
            <a:r>
              <a:rPr sz="1700">
                <a:solidFill>
                  <a:srgbClr val="202020"/>
                </a:solidFill>
                <a:latin typeface="Calibri"/>
              </a:rPr>
              <a:t> surface features — framing, tone, sensory detail — without changing the underlying situation.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11155680" cy="2148840"/>
          </a:xfrm>
          <a:prstGeom prst="roundRect">
            <a:avLst>
              <a:gd name="adj" fmla="val 6000"/>
            </a:avLst>
          </a:prstGeom>
          <a:solidFill>
            <a:srgbClr val="E9F0F9"/>
          </a:solidFill>
          <a:ln w="952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2B6CB0"/>
                </a:solidFill>
                <a:latin typeface="Calibri"/>
              </a:rPr>
              <a:t>The measurement gap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202020"/>
                </a:solidFill>
                <a:latin typeface="Calibri"/>
              </a:rPr>
              <a:t>Prior work probes one bias at a time and reports a </a:t>
            </a:r>
            <a:r>
              <a:rPr sz="1600" b="1">
                <a:solidFill>
                  <a:srgbClr val="2B6CB0"/>
                </a:solidFill>
                <a:latin typeface="Calibri"/>
              </a:rPr>
              <a:t>single scalar robustness score</a:t>
            </a:r>
            <a:r>
              <a:rPr sz="1600">
                <a:solidFill>
                  <a:srgbClr val="202020"/>
                </a:solidFill>
                <a:latin typeface="Calibri"/>
              </a:rPr>
              <a:t>. Across n independent failure directions, a scalar destroys n−1 of them. </a:t>
            </a:r>
            <a:r>
              <a:rPr sz="1600" b="1">
                <a:solidFill>
                  <a:srgbClr val="A67500"/>
                </a:solidFill>
                <a:latin typeface="Calibri"/>
              </a:rPr>
              <a:t>No post-hoc procedure recovers the lost 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Our approach: a geometric vulnerability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>
                <a:solidFill>
                  <a:srgbClr val="666666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72237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>
                <a:solidFill>
                  <a:srgbClr val="202020"/>
                </a:solidFill>
                <a:latin typeface="Calibri"/>
              </a:rPr>
              <a:t>•  </a:t>
            </a:r>
            <a:r>
              <a:rPr sz="1700">
                <a:solidFill>
                  <a:srgbClr val="202020"/>
                </a:solidFill>
                <a:latin typeface="Calibri"/>
              </a:rPr>
              <a:t>Map each judgment to a point in a </a:t>
            </a:r>
            <a:r>
              <a:rPr sz="1700" b="1">
                <a:solidFill>
                  <a:srgbClr val="2B6CB0"/>
                </a:solidFill>
                <a:latin typeface="Calibri"/>
              </a:rPr>
              <a:t>7-D harm space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666666"/>
                </a:solidFill>
                <a:latin typeface="Calibri"/>
              </a:rPr>
              <a:t>(physical, emotional, financial, autonomy, trust, social, identity; each 0–10).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202020"/>
                </a:solidFill>
                <a:latin typeface="Calibri"/>
              </a:rPr>
              <a:t>•  </a:t>
            </a:r>
            <a:r>
              <a:rPr sz="1700">
                <a:solidFill>
                  <a:srgbClr val="202020"/>
                </a:solidFill>
                <a:latin typeface="Calibri"/>
              </a:rPr>
              <a:t>Apply qualitatively distinct </a:t>
            </a:r>
            <a:r>
              <a:rPr sz="1700" b="1">
                <a:solidFill>
                  <a:srgbClr val="2B6CB0"/>
                </a:solidFill>
                <a:latin typeface="Calibri"/>
              </a:rPr>
              <a:t>perturbations</a:t>
            </a:r>
            <a:r>
              <a:rPr sz="1700">
                <a:solidFill>
                  <a:srgbClr val="202020"/>
                </a:solidFill>
                <a:latin typeface="Calibri"/>
              </a:rPr>
              <a:t>; measure </a:t>
            </a:r>
            <a:r>
              <a:rPr sz="1700" b="1">
                <a:solidFill>
                  <a:srgbClr val="2B6CB0"/>
                </a:solidFill>
                <a:latin typeface="Calibri"/>
              </a:rPr>
              <a:t>displacement</a:t>
            </a:r>
            <a:r>
              <a:rPr sz="1700">
                <a:solidFill>
                  <a:srgbClr val="202020"/>
                </a:solidFill>
                <a:latin typeface="Calibri"/>
              </a:rPr>
              <a:t> of the judgment vector.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202020"/>
                </a:solidFill>
                <a:latin typeface="Calibri"/>
              </a:rPr>
              <a:t>•  </a:t>
            </a:r>
            <a:r>
              <a:rPr sz="1700">
                <a:solidFill>
                  <a:srgbClr val="202020"/>
                </a:solidFill>
                <a:latin typeface="Calibri"/>
              </a:rPr>
              <a:t>Output a </a:t>
            </a:r>
            <a:r>
              <a:rPr sz="1700" b="1">
                <a:solidFill>
                  <a:srgbClr val="2B6CB0"/>
                </a:solidFill>
                <a:latin typeface="Calibri"/>
              </a:rPr>
              <a:t>per-model vulnerability profile</a:t>
            </a:r>
            <a:r>
              <a:rPr sz="1700">
                <a:solidFill>
                  <a:srgbClr val="202020"/>
                </a:solidFill>
                <a:latin typeface="Calibri"/>
              </a:rPr>
              <a:t>, not one number.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02020"/>
                </a:solidFill>
                <a:latin typeface="Calibri"/>
              </a:rPr>
              <a:t>•  </a:t>
            </a:r>
            <a:r>
              <a:rPr sz="1700">
                <a:solidFill>
                  <a:srgbClr val="202020"/>
                </a:solidFill>
                <a:latin typeface="Calibri"/>
              </a:rPr>
              <a:t>Runs under a realistic </a:t>
            </a:r>
            <a:r>
              <a:rPr sz="1700" b="1">
                <a:solidFill>
                  <a:srgbClr val="2B6CB0"/>
                </a:solidFill>
                <a:latin typeface="Calibri"/>
              </a:rPr>
              <a:t>$50/day</a:t>
            </a:r>
            <a:r>
              <a:rPr sz="1700">
                <a:solidFill>
                  <a:srgbClr val="202020"/>
                </a:solidFill>
                <a:latin typeface="Calibri"/>
              </a:rPr>
              <a:t> compute budget.</a:t>
            </a:r>
          </a:p>
        </p:txBody>
      </p:sp>
      <p:pic>
        <p:nvPicPr>
          <p:cNvPr id="5" name="Picture 4" descr="erisml_apple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1371600"/>
            <a:ext cx="2194560" cy="2194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3749039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>
                <a:solidFill>
                  <a:srgbClr val="666666"/>
                </a:solidFill>
                <a:latin typeface="Calibri"/>
              </a:rPr>
              <a:t>The 7-D space is a measurement-reliable projection of the </a:t>
            </a:r>
            <a:r>
              <a:rPr sz="1200" b="1">
                <a:solidFill>
                  <a:srgbClr val="2B6CB0"/>
                </a:solidFill>
                <a:latin typeface="Calibri"/>
              </a:rPr>
              <a:t>DEME v3</a:t>
            </a:r>
            <a:r>
              <a:rPr sz="1200">
                <a:solidFill>
                  <a:srgbClr val="666666"/>
                </a:solidFill>
                <a:latin typeface="Calibri"/>
              </a:rPr>
              <a:t> 9-D moral vector.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Grounding: 7-D harm space → DEME v3 9-D vector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>
                <a:solidFill>
                  <a:srgbClr val="666666"/>
                </a:solidFill>
                <a:latin typeface="Calibri"/>
              </a:rPr>
              <a:t>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624328" y="960120"/>
          <a:ext cx="6949440" cy="27980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/>
                <a:gridCol w="3108960"/>
                <a:gridCol w="146304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Harm dim.</a:t>
                      </a:r>
                    </a:p>
                  </a:txBody>
                  <a:tcPr marT="18288" marB="18288">
                    <a:solidFill>
                      <a:srgbClr val="2B6CB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DEME v3 axis</a:t>
                      </a:r>
                    </a:p>
                  </a:txBody>
                  <a:tcPr marT="18288" marB="18288">
                    <a:solidFill>
                      <a:srgbClr val="2B6CB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Mapping</a:t>
                      </a:r>
                    </a:p>
                  </a:txBody>
                  <a:tcPr marT="18288" marB="18288">
                    <a:solidFill>
                      <a:srgbClr val="2B6CB0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physical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physical harm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direct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autonomy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autonomy / consent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direct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trust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legitimacy / trust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direct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social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societal / environmental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direct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financial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fairness / equity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emotional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virtue / care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identity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privacy / standing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rights, epistemic quality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not scored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160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Calibri"/>
              </a:rPr>
              <a:t>The evaluation pipeline is the </a:t>
            </a:r>
            <a:r>
              <a:rPr sz="1400" b="1">
                <a:solidFill>
                  <a:srgbClr val="2B6CB0"/>
                </a:solidFill>
                <a:latin typeface="Calibri"/>
              </a:rPr>
              <a:t>measurement front-end</a:t>
            </a:r>
            <a:r>
              <a:rPr sz="1400">
                <a:solidFill>
                  <a:srgbClr val="202020"/>
                </a:solidFill>
                <a:latin typeface="Calibri"/>
              </a:rPr>
              <a:t>; the ErisML compiler's </a:t>
            </a:r>
            <a:r>
              <a:rPr sz="1400" b="1">
                <a:solidFill>
                  <a:srgbClr val="2B6CB0"/>
                </a:solidFill>
                <a:latin typeface="Calibri"/>
              </a:rPr>
              <a:t>DEME bridge</a:t>
            </a:r>
            <a:r>
              <a:rPr sz="1400">
                <a:solidFill>
                  <a:srgbClr val="202020"/>
                </a:solidFill>
                <a:latin typeface="Calibri"/>
              </a:rPr>
              <a:t> is the downstream decision kernel (</a:t>
            </a:r>
            <a:r>
              <a:rPr sz="1400">
                <a:solidFill>
                  <a:srgbClr val="202020"/>
                </a:solidFill>
                <a:latin typeface="Consolas"/>
              </a:rPr>
              <a:t>DEMEVerdict</a:t>
            </a:r>
            <a:r>
              <a:rPr sz="1400">
                <a:solidFill>
                  <a:srgbClr val="202020"/>
                </a:solidFill>
                <a:latin typeface="Calibri"/>
              </a:rPr>
              <a:t>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Finding 1 — Vulnerabilities are selective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>
                <a:solidFill>
                  <a:srgbClr val="666666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Calibri"/>
              </a:rPr>
              <a:t>Displace judgments (real attack surface):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202020"/>
                </a:solidFill>
                <a:latin typeface="Calibri"/>
              </a:rPr>
              <a:t>•  </a:t>
            </a:r>
            <a:r>
              <a:rPr sz="1600" b="1">
                <a:solidFill>
                  <a:srgbClr val="A67500"/>
                </a:solidFill>
                <a:latin typeface="Calibri"/>
              </a:rPr>
              <a:t>Linguistic framing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202020"/>
                </a:solidFill>
                <a:latin typeface="Calibri"/>
              </a:rPr>
              <a:t>•  </a:t>
            </a:r>
            <a:r>
              <a:rPr sz="1600" b="1">
                <a:solidFill>
                  <a:srgbClr val="A67500"/>
                </a:solidFill>
                <a:latin typeface="Calibri"/>
              </a:rPr>
              <a:t>Emotional anchoring</a:t>
            </a:r>
            <a:r>
              <a:rPr sz="1600">
                <a:solidFill>
                  <a:srgbClr val="202020"/>
                </a:solidFill>
                <a:latin typeface="Calibri"/>
              </a:rPr>
              <a:t>  (d = 0.6–1.1)</a:t>
            </a:r>
          </a:p>
          <a:p>
            <a:pPr algn="l">
              <a:spcAft>
                <a:spcPts val="1200"/>
              </a:spcAft>
            </a:pPr>
            <a:r>
              <a:rPr sz="1600">
                <a:solidFill>
                  <a:srgbClr val="202020"/>
                </a:solidFill>
                <a:latin typeface="Calibri"/>
              </a:rPr>
              <a:t>•  </a:t>
            </a:r>
            <a:r>
              <a:rPr sz="1600" b="1">
                <a:solidFill>
                  <a:srgbClr val="A67500"/>
                </a:solidFill>
                <a:latin typeface="Calibri"/>
              </a:rPr>
              <a:t>Irrelevant sensory detail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02020"/>
                </a:solidFill>
                <a:latin typeface="Calibri"/>
              </a:rPr>
              <a:t>Do </a:t>
            </a:r>
            <a:r>
              <a:rPr sz="1600" i="1">
                <a:solidFill>
                  <a:srgbClr val="202020"/>
                </a:solidFill>
                <a:latin typeface="Calibri"/>
              </a:rPr>
              <a:t>not</a:t>
            </a:r>
            <a:r>
              <a:rPr sz="1600" b="1">
                <a:solidFill>
                  <a:srgbClr val="202020"/>
                </a:solidFill>
                <a:latin typeface="Calibri"/>
              </a:rPr>
              <a:t> displace: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202020"/>
                </a:solidFill>
                <a:latin typeface="Calibri"/>
              </a:rPr>
              <a:t>•  </a:t>
            </a:r>
            <a:r>
              <a:rPr sz="1600">
                <a:solidFill>
                  <a:srgbClr val="202020"/>
                </a:solidFill>
                <a:latin typeface="Calibri"/>
              </a:rPr>
              <a:t>Gender swap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  <a:latin typeface="Calibri"/>
              </a:rPr>
              <a:t>•  </a:t>
            </a:r>
            <a:r>
              <a:rPr sz="1600">
                <a:solidFill>
                  <a:srgbClr val="202020"/>
                </a:solidFill>
                <a:latin typeface="Calibri"/>
              </a:rPr>
              <a:t>Evaluation order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0584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E9F0F9"/>
          </a:solidFill>
          <a:ln w="952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B6CB0"/>
                </a:solidFill>
                <a:latin typeface="Calibri"/>
              </a:rPr>
              <a:t>The common thread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02020"/>
                </a:solidFill>
                <a:latin typeface="Calibri"/>
              </a:rPr>
              <a:t>The three live surfaces all make morally irrelevant features </a:t>
            </a:r>
            <a:r>
              <a:rPr sz="1500" b="1">
                <a:solidFill>
                  <a:srgbClr val="2B6CB0"/>
                </a:solidFill>
                <a:latin typeface="Calibri"/>
              </a:rPr>
              <a:t>perceptually salient</a:t>
            </a:r>
            <a:r>
              <a:rPr sz="1500">
                <a:solidFill>
                  <a:srgbClr val="202020"/>
                </a:solidFill>
                <a:latin typeface="Calibri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202020"/>
                </a:solidFill>
                <a:latin typeface="Calibri"/>
              </a:rPr>
              <a:t>⇒ The attack mechanism is </a:t>
            </a:r>
            <a:r>
              <a:rPr sz="1500" b="1">
                <a:solidFill>
                  <a:srgbClr val="A67500"/>
                </a:solidFill>
                <a:latin typeface="Calibri"/>
              </a:rPr>
              <a:t>salience manipulation</a:t>
            </a:r>
            <a:r>
              <a:rPr sz="1500">
                <a:solidFill>
                  <a:srgbClr val="202020"/>
                </a:solidFill>
                <a:latin typeface="Calibri"/>
              </a:rPr>
              <a:t> — and the framework discriminates it from noise.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91072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666666"/>
                </a:solidFill>
                <a:latin typeface="Calibri"/>
              </a:rPr>
              <a:t>We lead with </a:t>
            </a:r>
            <a:r>
              <a:rPr sz="1200" b="1">
                <a:solidFill>
                  <a:srgbClr val="2B6CB0"/>
                </a:solidFill>
                <a:latin typeface="Calibri"/>
              </a:rPr>
              <a:t>effect sizes</a:t>
            </a:r>
            <a:r>
              <a:rPr sz="1200">
                <a:solidFill>
                  <a:srgbClr val="666666"/>
                </a:solidFill>
                <a:latin typeface="Calibri"/>
              </a:rPr>
              <a:t> (Cohen's d, displacement in harm-points) over σ; empirical control arms rule out stochastic drift.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Finding 2 — Robustness profiles are dissociable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>
                <a:solidFill>
                  <a:srgbClr val="666666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>
                <a:solidFill>
                  <a:srgbClr val="202020"/>
                </a:solidFill>
                <a:latin typeface="Calibri"/>
              </a:rPr>
              <a:t>•  </a:t>
            </a:r>
            <a:r>
              <a:rPr sz="1700" b="1">
                <a:solidFill>
                  <a:srgbClr val="2B6CB0"/>
                </a:solidFill>
                <a:latin typeface="Calibri"/>
              </a:rPr>
              <a:t>No model dominates</a:t>
            </a:r>
            <a:r>
              <a:rPr sz="1700">
                <a:solidFill>
                  <a:srgbClr val="202020"/>
                </a:solidFill>
                <a:latin typeface="Calibri"/>
              </a:rPr>
              <a:t> all attack surfaces.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202020"/>
                </a:solidFill>
                <a:latin typeface="Calibri"/>
              </a:rPr>
              <a:t>•  </a:t>
            </a:r>
            <a:r>
              <a:rPr sz="1700">
                <a:solidFill>
                  <a:srgbClr val="202020"/>
                </a:solidFill>
                <a:latin typeface="Calibri"/>
              </a:rPr>
              <a:t>Claude: </a:t>
            </a:r>
            <a:r>
              <a:rPr sz="1700" b="1">
                <a:solidFill>
                  <a:srgbClr val="A67500"/>
                </a:solidFill>
                <a:latin typeface="Calibri"/>
              </a:rPr>
              <a:t>zero sycophancy</a:t>
            </a:r>
            <a:r>
              <a:rPr sz="1700">
                <a:solidFill>
                  <a:srgbClr val="202020"/>
                </a:solidFill>
                <a:latin typeface="Calibri"/>
              </a:rPr>
              <a:t> — but </a:t>
            </a:r>
            <a:r>
              <a:rPr sz="1700" b="1">
                <a:solidFill>
                  <a:srgbClr val="A67500"/>
                </a:solidFill>
                <a:latin typeface="Calibri"/>
              </a:rPr>
              <a:t>worst</a:t>
            </a:r>
            <a:r>
              <a:rPr sz="1700">
                <a:solidFill>
                  <a:srgbClr val="202020"/>
                </a:solidFill>
                <a:latin typeface="Calibri"/>
              </a:rPr>
              <a:t> emotional-anchoring recovery (20%) and worst divided attention.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02020"/>
                </a:solidFill>
                <a:latin typeface="Calibri"/>
              </a:rPr>
              <a:t>•  </a:t>
            </a:r>
            <a:r>
              <a:rPr sz="1700">
                <a:solidFill>
                  <a:srgbClr val="202020"/>
                </a:solidFill>
                <a:latin typeface="Calibri"/>
              </a:rPr>
              <a:t>Flash 2.0: </a:t>
            </a:r>
            <a:r>
              <a:rPr sz="1700" b="1">
                <a:solidFill>
                  <a:srgbClr val="A67500"/>
                </a:solidFill>
                <a:latin typeface="Calibri"/>
              </a:rPr>
              <a:t>best</a:t>
            </a:r>
            <a:r>
              <a:rPr sz="1700">
                <a:solidFill>
                  <a:srgbClr val="202020"/>
                </a:solidFill>
                <a:latin typeface="Calibri"/>
              </a:rPr>
              <a:t> anchoring recovery (73%) — but </a:t>
            </a:r>
            <a:r>
              <a:rPr sz="1700" b="1">
                <a:solidFill>
                  <a:srgbClr val="A67500"/>
                </a:solidFill>
                <a:latin typeface="Calibri"/>
              </a:rPr>
              <a:t>worst</a:t>
            </a:r>
            <a:r>
              <a:rPr sz="1700">
                <a:solidFill>
                  <a:srgbClr val="202020"/>
                </a:solidFill>
                <a:latin typeface="Calibri"/>
              </a:rPr>
              <a:t> working memory.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31920"/>
            <a:ext cx="11155680" cy="2011680"/>
          </a:xfrm>
          <a:prstGeom prst="roundRect">
            <a:avLst>
              <a:gd name="adj" fmla="val 6000"/>
            </a:avLst>
          </a:prstGeom>
          <a:solidFill>
            <a:srgbClr val="E9F0F9"/>
          </a:solidFill>
          <a:ln w="952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2B6CB0"/>
                </a:solidFill>
                <a:latin typeface="Calibri"/>
              </a:rPr>
              <a:t>Consequence for Secure AI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  <a:latin typeface="Calibri"/>
              </a:rPr>
              <a:t>Averaging partially-independent dimensions yields a number that </a:t>
            </a:r>
            <a:r>
              <a:rPr sz="1600" b="1">
                <a:solidFill>
                  <a:srgbClr val="A67500"/>
                </a:solidFill>
                <a:latin typeface="Calibri"/>
              </a:rPr>
              <a:t>describes no model accurately.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A67500"/>
                </a:solidFill>
                <a:latin typeface="Calibri"/>
              </a:rPr>
              <a:t>Single-test certification provides false assurance.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NEW — Harm-space validation (reviewer-driven)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>
                <a:solidFill>
                  <a:srgbClr val="666666"/>
                </a:solidFill>
                <a:latin typeface="Calibr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02020"/>
                </a:solidFill>
                <a:latin typeface="Calibri"/>
              </a:rPr>
              <a:t>Is the 7-D space reliably measurable, or asserted?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  <a:latin typeface="Calibri"/>
              </a:rPr>
              <a:t>Inter-model agreement over an </a:t>
            </a:r>
            <a:r>
              <a:rPr sz="1500" b="1">
                <a:solidFill>
                  <a:srgbClr val="2B6CB0"/>
                </a:solidFill>
                <a:latin typeface="Calibri"/>
              </a:rPr>
              <a:t>open, multi-family panel</a:t>
            </a:r>
            <a:r>
              <a:rPr sz="1500">
                <a:solidFill>
                  <a:srgbClr val="202020"/>
                </a:solidFill>
                <a:latin typeface="Calibri"/>
              </a:rPr>
              <a:t> (6 models, 5 families: Qwen3, Qwen3-small, GLM-5, GPT-OSS, MiniMax-M2, Gemma) via the </a:t>
            </a:r>
            <a:r>
              <a:rPr sz="1500" b="1">
                <a:solidFill>
                  <a:srgbClr val="2B6CB0"/>
                </a:solidFill>
                <a:latin typeface="Calibri"/>
              </a:rPr>
              <a:t>NRP managed LLM API</a:t>
            </a:r>
            <a:r>
              <a:rPr sz="1500">
                <a:solidFill>
                  <a:srgbClr val="202020"/>
                </a:solidFill>
                <a:latin typeface="Calibri"/>
              </a:rPr>
              <a:t>; 31 scenarios, disjoint from systems under test, fully reproducible.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127248" y="2788920"/>
          <a:ext cx="5943600" cy="164591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17520"/>
                <a:gridCol w="1463040"/>
                <a:gridCol w="1463040"/>
              </a:tblGrid>
              <a:tr h="329183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18288" marB="18288">
                    <a:solidFill>
                      <a:srgbClr val="2B6CB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ICC(2,k)</a:t>
                      </a:r>
                    </a:p>
                  </a:txBody>
                  <a:tcPr marT="18288" marB="18288">
                    <a:solidFill>
                      <a:srgbClr val="2B6CB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Krippendorff α</a:t>
                      </a:r>
                    </a:p>
                  </a:txBody>
                  <a:tcPr marT="18288" marB="18288">
                    <a:solidFill>
                      <a:srgbClr val="2B6CB0"/>
                    </a:solidFill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Financial (highest)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0.983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0.902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Trust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0.958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0.783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Physical / Autonomy (lowest)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0.893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≈0.57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29187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02020"/>
                          </a:solidFill>
                          <a:latin typeface="Calibri"/>
                        </a:rPr>
                        <a:t>Overall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A67500"/>
                          </a:solidFill>
                          <a:latin typeface="Calibri"/>
                        </a:rPr>
                        <a:t>0.969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A67500"/>
                          </a:solidFill>
                          <a:latin typeface="Calibri"/>
                        </a:rPr>
                        <a:t>0.836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89204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666666"/>
                </a:solidFill>
                <a:latin typeface="Calibri"/>
              </a:rPr>
              <a:t>Test–retest median r = 0.96. Dimensions index a shared, model-independent structure.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NEW — Worked exploit: threshold evasion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>
                <a:solidFill>
                  <a:srgbClr val="666666"/>
                </a:solidFill>
                <a:latin typeface="Calibri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1">
                <a:solidFill>
                  <a:srgbClr val="202020"/>
                </a:solidFill>
                <a:latin typeface="Calibri"/>
              </a:rPr>
              <a:t>Content-moderation filter: flag if total harm &gt; 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202020"/>
                </a:solidFill>
                <a:latin typeface="Calibri"/>
              </a:rPr>
              <a:t>•  </a:t>
            </a:r>
            <a:r>
              <a:rPr sz="1700">
                <a:solidFill>
                  <a:srgbClr val="202020"/>
                </a:solidFill>
                <a:latin typeface="Calibri"/>
              </a:rPr>
              <a:t>Euphemistic rewriting (morally invariant) lowers panel-averaged harm by </a:t>
            </a:r>
            <a:r>
              <a:rPr sz="1700" b="1">
                <a:solidFill>
                  <a:srgbClr val="A67500"/>
                </a:solidFill>
                <a:latin typeface="Calibri"/>
              </a:rPr>
              <a:t>−14.0 points</a:t>
            </a:r>
            <a:r>
              <a:rPr sz="1700">
                <a:solidFill>
                  <a:srgbClr val="202020"/>
                </a:solidFill>
                <a:latin typeface="Calibri"/>
              </a:rPr>
              <a:t> on the 0–70 scale (4/6 gold &gt; 10 pts); dramatic only +7.3.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202020"/>
                </a:solidFill>
                <a:latin typeface="Calibri"/>
              </a:rPr>
              <a:t>•  </a:t>
            </a:r>
            <a:r>
              <a:rPr sz="1700">
                <a:solidFill>
                  <a:srgbClr val="202020"/>
                </a:solidFill>
                <a:latin typeface="Calibri"/>
              </a:rPr>
              <a:t>At a median-calibrated threshold, </a:t>
            </a:r>
            <a:r>
              <a:rPr sz="1700" b="1">
                <a:solidFill>
                  <a:srgbClr val="A67500"/>
                </a:solidFill>
                <a:latin typeface="Calibri"/>
              </a:rPr>
              <a:t>3 of 6</a:t>
            </a:r>
            <a:r>
              <a:rPr sz="1700">
                <a:solidFill>
                  <a:srgbClr val="202020"/>
                </a:solidFill>
                <a:latin typeface="Calibri"/>
              </a:rPr>
              <a:t> gold items silently reclassify FLAG → PASS.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02020"/>
                </a:solidFill>
                <a:latin typeface="Calibri"/>
              </a:rPr>
              <a:t>•  </a:t>
            </a:r>
            <a:r>
              <a:rPr sz="1700" b="1">
                <a:solidFill>
                  <a:srgbClr val="A67500"/>
                </a:solidFill>
                <a:latin typeface="Calibri"/>
              </a:rPr>
              <a:t>Asymmetry</a:t>
            </a:r>
            <a:r>
              <a:rPr sz="1700">
                <a:solidFill>
                  <a:srgbClr val="202020"/>
                </a:solidFill>
                <a:latin typeface="Calibri"/>
              </a:rPr>
              <a:t>: far easier to </a:t>
            </a:r>
            <a:r>
              <a:rPr sz="1700" i="1">
                <a:solidFill>
                  <a:srgbClr val="202020"/>
                </a:solidFill>
                <a:latin typeface="Calibri"/>
              </a:rPr>
              <a:t>evade</a:t>
            </a:r>
            <a:r>
              <a:rPr sz="1700">
                <a:solidFill>
                  <a:srgbClr val="202020"/>
                </a:solidFill>
                <a:latin typeface="Calibri"/>
              </a:rPr>
              <a:t> (hide harm) than to </a:t>
            </a:r>
            <a:r>
              <a:rPr sz="1700" i="1">
                <a:solidFill>
                  <a:srgbClr val="202020"/>
                </a:solidFill>
                <a:latin typeface="Calibri"/>
              </a:rPr>
              <a:t>trip</a:t>
            </a:r>
            <a:r>
              <a:rPr sz="1700">
                <a:solidFill>
                  <a:srgbClr val="202020"/>
                </a:solidFill>
                <a:latin typeface="Calibri"/>
              </a:rPr>
              <a:t> a false positive — the dangerous direction.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NEW — The exploit survives a principled kernel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>
                <a:solidFill>
                  <a:srgbClr val="666666"/>
                </a:solidFill>
                <a:latin typeface="Calibri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  <a:latin typeface="Calibri"/>
              </a:rPr>
              <a:t>Route each scenario through the real </a:t>
            </a:r>
            <a:r>
              <a:rPr sz="1600" b="1">
                <a:solidFill>
                  <a:srgbClr val="2B6CB0"/>
                </a:solidFill>
                <a:latin typeface="Calibri"/>
              </a:rPr>
              <a:t>ErisML DEME v3</a:t>
            </a:r>
            <a:r>
              <a:rPr sz="1600">
                <a:solidFill>
                  <a:srgbClr val="202020"/>
                </a:solidFill>
                <a:latin typeface="Calibri"/>
              </a:rPr>
              <a:t> decision kernel:</a:t>
            </a:r>
          </a:p>
          <a:p>
            <a:pPr algn="ctr"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Calibri"/>
              </a:rPr>
              <a:t>text → </a:t>
            </a:r>
            <a:r>
              <a:rPr sz="1400" b="1">
                <a:solidFill>
                  <a:srgbClr val="2B6CB0"/>
                </a:solidFill>
                <a:latin typeface="Calibri"/>
              </a:rPr>
              <a:t>LLM extracts ethical facts</a:t>
            </a:r>
            <a:r>
              <a:rPr sz="1400">
                <a:solidFill>
                  <a:srgbClr val="202020"/>
                </a:solidFill>
                <a:latin typeface="Calibri"/>
              </a:rPr>
              <a:t> → </a:t>
            </a:r>
            <a:r>
              <a:rPr sz="1400">
                <a:solidFill>
                  <a:srgbClr val="202020"/>
                </a:solidFill>
                <a:latin typeface="Consolas"/>
              </a:rPr>
              <a:t>GenevaEMV3</a:t>
            </a:r>
            <a:r>
              <a:rPr sz="1400">
                <a:solidFill>
                  <a:srgbClr val="202020"/>
                </a:solidFill>
                <a:latin typeface="Calibri"/>
              </a:rPr>
              <a:t> → typed verdict   </a:t>
            </a:r>
            <a:r>
              <a:rPr sz="1400">
                <a:solidFill>
                  <a:srgbClr val="202020"/>
                </a:solidFill>
                <a:latin typeface="Calibri"/>
              </a:rPr>
              <a:t>(forbid → avoid → neutral → prefer → strongly_prefer)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331720"/>
            <a:ext cx="11155680" cy="2286000"/>
          </a:xfrm>
          <a:prstGeom prst="roundRect">
            <a:avLst>
              <a:gd name="adj" fmla="val 6000"/>
            </a:avLst>
          </a:prstGeom>
          <a:solidFill>
            <a:srgbClr val="E9F0F9"/>
          </a:solidFill>
          <a:ln w="952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2B6CB0"/>
                </a:solidFill>
                <a:latin typeface="Calibri"/>
              </a:rPr>
              <a:t>Across 161 scenario–model cases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202020"/>
                </a:solidFill>
                <a:latin typeface="Calibri"/>
              </a:rPr>
              <a:t>•  </a:t>
            </a:r>
            <a:r>
              <a:rPr sz="1600">
                <a:solidFill>
                  <a:srgbClr val="202020"/>
                </a:solidFill>
                <a:latin typeface="Calibri"/>
              </a:rPr>
              <a:t>Euphemistic rewriting flips forbid/avoid → permissive in </a:t>
            </a:r>
            <a:r>
              <a:rPr sz="1600" b="1">
                <a:solidFill>
                  <a:srgbClr val="A67500"/>
                </a:solidFill>
                <a:latin typeface="Calibri"/>
              </a:rPr>
              <a:t>13.7%</a:t>
            </a:r>
            <a:r>
              <a:rPr sz="1600">
                <a:solidFill>
                  <a:srgbClr val="202020"/>
                </a:solidFill>
                <a:latin typeface="Calibri"/>
              </a:rPr>
              <a:t> of cases; mean shift </a:t>
            </a:r>
            <a:r>
              <a:rPr sz="1600" b="1">
                <a:solidFill>
                  <a:srgbClr val="A67500"/>
                </a:solidFill>
                <a:latin typeface="Calibri"/>
              </a:rPr>
              <a:t>+0.65</a:t>
            </a:r>
            <a:r>
              <a:rPr sz="1600">
                <a:solidFill>
                  <a:srgbClr val="202020"/>
                </a:solidFill>
                <a:latin typeface="Calibri"/>
              </a:rPr>
              <a:t> ordinal steps.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202020"/>
                </a:solidFill>
                <a:latin typeface="Calibri"/>
              </a:rPr>
              <a:t>•  </a:t>
            </a:r>
            <a:r>
              <a:rPr sz="1600">
                <a:solidFill>
                  <a:srgbClr val="202020"/>
                </a:solidFill>
                <a:latin typeface="Calibri"/>
              </a:rPr>
              <a:t>forbid verdicts fall </a:t>
            </a:r>
            <a:r>
              <a:rPr sz="1600" b="1">
                <a:solidFill>
                  <a:srgbClr val="A67500"/>
                </a:solidFill>
                <a:latin typeface="Calibri"/>
              </a:rPr>
              <a:t>44 → 27</a:t>
            </a:r>
            <a:r>
              <a:rPr sz="1600">
                <a:solidFill>
                  <a:srgbClr val="202020"/>
                </a:solidFill>
                <a:latin typeface="Calibri"/>
              </a:rPr>
              <a:t> (−39%); strongly_prefer rises 46 → 78.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98348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A67500"/>
                </a:solidFill>
                <a:latin typeface="Calibri"/>
              </a:rPr>
              <a:t>A rule engine inherits, rather than cures, the front-end's salience vulnerability.</a:t>
            </a:r>
            <a:r>
              <a:rPr sz="1600">
                <a:solidFill>
                  <a:srgbClr val="202020"/>
                </a:solidFill>
                <a:latin typeface="Calibri"/>
              </a:rPr>
              <a:t>  Harden </a:t>
            </a:r>
            <a:r>
              <a:rPr sz="1600" i="1">
                <a:solidFill>
                  <a:srgbClr val="202020"/>
                </a:solidFill>
                <a:latin typeface="Calibri"/>
              </a:rPr>
              <a:t>fact extraction</a:t>
            </a:r>
            <a:r>
              <a:rPr sz="1600">
                <a:solidFill>
                  <a:srgbClr val="202020"/>
                </a:solidFill>
                <a:latin typeface="Calibri"/>
              </a:rPr>
              <a:t>, not just the rule.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Since submission — a measured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202020"/>
                </a:solidFill>
                <a:latin typeface="Calibri"/>
              </a:rPr>
              <a:t>Equivalence-class averaging</a:t>
            </a:r>
            <a:r>
              <a:rPr sz="1600">
                <a:solidFill>
                  <a:srgbClr val="202020"/>
                </a:solidFill>
                <a:latin typeface="Calibri"/>
              </a:rPr>
              <a:t>: generate the input's paraphrase class (m paraphrases), </a:t>
            </a:r>
            <a:r>
              <a:rPr sz="1600" b="1">
                <a:solidFill>
                  <a:srgbClr val="2B6CB0"/>
                </a:solidFill>
                <a:latin typeface="Calibri"/>
              </a:rPr>
              <a:t>average per-dimension perception over the class</a:t>
            </a:r>
            <a:r>
              <a:rPr sz="1600">
                <a:solidFill>
                  <a:srgbClr val="202020"/>
                </a:solidFill>
                <a:latin typeface="Calibri"/>
              </a:rPr>
              <a:t>, then decide.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202020"/>
                </a:solidFill>
                <a:latin typeface="Calibri"/>
              </a:rPr>
              <a:t>•  </a:t>
            </a:r>
            <a:r>
              <a:rPr sz="1600">
                <a:solidFill>
                  <a:srgbClr val="202020"/>
                </a:solidFill>
                <a:latin typeface="Calibri"/>
              </a:rPr>
              <a:t>Pre-registered bar: decision-layer drift θₔ ≤ 0.5. At scale (60 held-out items, m = 6): raw drift </a:t>
            </a:r>
            <a:r>
              <a:rPr sz="1600" b="1">
                <a:solidFill>
                  <a:srgbClr val="A67500"/>
                </a:solidFill>
                <a:latin typeface="Calibri"/>
              </a:rPr>
              <a:t>0.407 → 0.219</a:t>
            </a:r>
            <a:r>
              <a:rPr sz="1600">
                <a:solidFill>
                  <a:srgbClr val="202020"/>
                </a:solidFill>
                <a:latin typeface="Calibri"/>
              </a:rPr>
              <a:t> — the mechanism </a:t>
            </a:r>
            <a:r>
              <a:rPr sz="1600" b="1">
                <a:solidFill>
                  <a:srgbClr val="2B6CB0"/>
                </a:solidFill>
                <a:latin typeface="Calibri"/>
              </a:rPr>
              <a:t>halves</a:t>
            </a:r>
            <a:r>
              <a:rPr sz="1600">
                <a:solidFill>
                  <a:srgbClr val="202020"/>
                </a:solidFill>
                <a:latin typeface="Calibri"/>
              </a:rPr>
              <a:t> salience drift and meets the bar.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202020"/>
                </a:solidFill>
                <a:latin typeface="Calibri"/>
              </a:rPr>
              <a:t>•  </a:t>
            </a:r>
            <a:r>
              <a:rPr sz="1600">
                <a:solidFill>
                  <a:srgbClr val="202020"/>
                </a:solidFill>
                <a:latin typeface="Calibri"/>
              </a:rPr>
              <a:t>LLM paraphrasers </a:t>
            </a:r>
            <a:r>
              <a:rPr sz="1600" b="1">
                <a:solidFill>
                  <a:srgbClr val="A67500"/>
                </a:solidFill>
                <a:latin typeface="Calibri"/>
              </a:rPr>
              <a:t>refuse 24%</a:t>
            </a:r>
            <a:r>
              <a:rPr sz="1600">
                <a:solidFill>
                  <a:srgbClr val="202020"/>
                </a:solidFill>
                <a:latin typeface="Calibri"/>
              </a:rPr>
              <a:t> of harmful inputs. A non-refusing red-team paraphraser (NLLB back-translation, 6 pivots): </a:t>
            </a:r>
            <a:r>
              <a:rPr sz="1600" b="1">
                <a:solidFill>
                  <a:srgbClr val="A67500"/>
                </a:solidFill>
                <a:latin typeface="Calibri"/>
              </a:rPr>
              <a:t>θₔ = 0.301</a:t>
            </a:r>
            <a:r>
              <a:rPr sz="1600">
                <a:solidFill>
                  <a:srgbClr val="202020"/>
                </a:solidFill>
                <a:latin typeface="Calibri"/>
              </a:rPr>
              <a:t> on harmful content — the hole is the </a:t>
            </a:r>
            <a:r>
              <a:rPr sz="1600" b="1">
                <a:solidFill>
                  <a:srgbClr val="2B6CB0"/>
                </a:solidFill>
                <a:latin typeface="Calibri"/>
              </a:rPr>
              <a:t>generator's</a:t>
            </a:r>
            <a:r>
              <a:rPr sz="1600">
                <a:solidFill>
                  <a:srgbClr val="202020"/>
                </a:solidFill>
                <a:latin typeface="Calibri"/>
              </a:rPr>
              <a:t>, not the mechanism's.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  <a:latin typeface="Calibri"/>
              </a:rPr>
              <a:t>•  </a:t>
            </a:r>
            <a:r>
              <a:rPr sz="1600">
                <a:solidFill>
                  <a:srgbClr val="202020"/>
                </a:solidFill>
                <a:latin typeface="Calibri"/>
              </a:rPr>
              <a:t>Trust boundary: refusal → singleton class → </a:t>
            </a:r>
            <a:r>
              <a:rPr sz="1600" b="1">
                <a:solidFill>
                  <a:srgbClr val="2B6CB0"/>
                </a:solidFill>
                <a:latin typeface="Calibri"/>
              </a:rPr>
              <a:t>escalate by default</a:t>
            </a:r>
            <a:r>
              <a:rPr sz="1600">
                <a:solidFill>
                  <a:srgbClr val="202020"/>
                </a:solidFill>
                <a:latin typeface="Calibri"/>
              </a:rPr>
              <a:t>; audit proof records class members.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91072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Calibri"/>
              </a:rPr>
              <a:t>Natural (not adversarial) paraphrases at scale. Post-camera-ready results, July 2026 — extended version in preparation.  </a:t>
            </a:r>
            <a:r>
              <a:rPr sz="1100">
                <a:solidFill>
                  <a:srgbClr val="666666"/>
                </a:solidFill>
                <a:latin typeface="Consolas"/>
              </a:rPr>
              <a:t>pip install moral-spectrum-analyzer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Since submission — the harm space is extensible and falsifiable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202020"/>
                </a:solidFill>
                <a:latin typeface="Calibri"/>
              </a:rPr>
              <a:t>Discovery loop</a:t>
            </a:r>
            <a:r>
              <a:rPr sz="1600">
                <a:solidFill>
                  <a:srgbClr val="202020"/>
                </a:solidFill>
                <a:latin typeface="Calibri"/>
              </a:rPr>
              <a:t>: residual analysis flags candidate missing dimensions → pre-registered admission gate.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202020"/>
                </a:solidFill>
                <a:latin typeface="Calibri"/>
              </a:rPr>
              <a:t>•  </a:t>
            </a:r>
            <a:r>
              <a:rPr sz="1600">
                <a:solidFill>
                  <a:srgbClr val="202020"/>
                </a:solidFill>
                <a:latin typeface="Calibri"/>
              </a:rPr>
              <a:t>Scorecard: 3 flagged → </a:t>
            </a:r>
            <a:r>
              <a:rPr sz="1600" b="1">
                <a:solidFill>
                  <a:srgbClr val="A67500"/>
                </a:solidFill>
                <a:latin typeface="Calibri"/>
              </a:rPr>
              <a:t>1 validated</a:t>
            </a:r>
            <a:r>
              <a:rPr sz="1600">
                <a:solidFill>
                  <a:srgbClr val="202020"/>
                </a:solidFill>
                <a:latin typeface="Calibri"/>
              </a:rPr>
              <a:t> (identity_attack), </a:t>
            </a:r>
            <a:r>
              <a:rPr sz="1600" b="1">
                <a:solidFill>
                  <a:srgbClr val="A67500"/>
                </a:solidFill>
                <a:latin typeface="Calibri"/>
              </a:rPr>
              <a:t>1 retracted</a:t>
            </a:r>
            <a:r>
              <a:rPr sz="1600">
                <a:solidFill>
                  <a:srgbClr val="202020"/>
                </a:solidFill>
                <a:latin typeface="Calibri"/>
              </a:rPr>
              <a:t> (threat), </a:t>
            </a:r>
            <a:r>
              <a:rPr sz="1600" b="1">
                <a:solidFill>
                  <a:srgbClr val="A67500"/>
                </a:solidFill>
                <a:latin typeface="Calibri"/>
              </a:rPr>
              <a:t>1 declined</a:t>
            </a:r>
            <a:r>
              <a:rPr sz="1600">
                <a:solidFill>
                  <a:srgbClr val="202020"/>
                </a:solidFill>
                <a:latin typeface="Calibri"/>
              </a:rPr>
              <a:t> (sexual content → policy channel); plus a registered rescue of the rights channel </a:t>
            </a:r>
            <a:r>
              <a:rPr sz="1600" b="1">
                <a:solidFill>
                  <a:srgbClr val="A67500"/>
                </a:solidFill>
                <a:latin typeface="Calibri"/>
              </a:rPr>
              <a:t>refuted</a:t>
            </a:r>
            <a:r>
              <a:rPr sz="1600">
                <a:solidFill>
                  <a:srgbClr val="202020"/>
                </a:solidFill>
                <a:latin typeface="Calibri"/>
              </a:rPr>
              <a:t> (trained 0.509 vs null 0.512 — stays a hard channel). </a:t>
            </a:r>
            <a:r>
              <a:rPr sz="1600" b="1">
                <a:solidFill>
                  <a:srgbClr val="2B6CB0"/>
                </a:solidFill>
                <a:latin typeface="Calibri"/>
              </a:rPr>
              <a:t>The gate has teeth, in both directions.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202020"/>
                </a:solidFill>
                <a:latin typeface="Calibri"/>
              </a:rPr>
              <a:t>•  </a:t>
            </a:r>
            <a:r>
              <a:rPr sz="1600">
                <a:solidFill>
                  <a:srgbClr val="202020"/>
                </a:solidFill>
                <a:latin typeface="Consolas"/>
              </a:rPr>
              <a:t>identity_attack</a:t>
            </a:r>
            <a:r>
              <a:rPr sz="1600">
                <a:solidFill>
                  <a:srgbClr val="202020"/>
                </a:solidFill>
                <a:latin typeface="Calibri"/>
              </a:rPr>
              <a:t>: cross-dataset held-out AUROC </a:t>
            </a:r>
            <a:r>
              <a:rPr sz="1600" b="1">
                <a:solidFill>
                  <a:srgbClr val="A67500"/>
                </a:solidFill>
                <a:latin typeface="Calibri"/>
              </a:rPr>
              <a:t>0.80</a:t>
            </a:r>
            <a:r>
              <a:rPr sz="1600">
                <a:solidFill>
                  <a:srgbClr val="202020"/>
                </a:solidFill>
                <a:latin typeface="Calibri"/>
              </a:rPr>
              <a:t> CI [0.78, 0.83] (+0.25 over null, 2 corpora, n = 6400) — wired live as a </a:t>
            </a:r>
            <a:r>
              <a:rPr sz="1600" b="1">
                <a:solidFill>
                  <a:srgbClr val="2B6CB0"/>
                </a:solidFill>
                <a:latin typeface="Calibri"/>
              </a:rPr>
              <a:t>10th channel</a:t>
            </a:r>
            <a:r>
              <a:rPr sz="1600">
                <a:solidFill>
                  <a:srgbClr val="202020"/>
                </a:solidFill>
                <a:latin typeface="Calibri"/>
              </a:rPr>
              <a:t>; dominant feature of a learned moderation contraction (OOF AUROC </a:t>
            </a:r>
            <a:r>
              <a:rPr sz="1600" b="1">
                <a:solidFill>
                  <a:srgbClr val="A67500"/>
                </a:solidFill>
                <a:latin typeface="Calibri"/>
              </a:rPr>
              <a:t>0.863</a:t>
            </a:r>
            <a:r>
              <a:rPr sz="1600">
                <a:solidFill>
                  <a:srgbClr val="202020"/>
                </a:solidFill>
                <a:latin typeface="Calibri"/>
              </a:rPr>
              <a:t>, leakage-controlled).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  <a:latin typeface="Calibri"/>
              </a:rPr>
              <a:t>•  </a:t>
            </a:r>
            <a:r>
              <a:rPr sz="1600">
                <a:solidFill>
                  <a:srgbClr val="202020"/>
                </a:solidFill>
                <a:latin typeface="Calibri"/>
              </a:rPr>
              <a:t>Cross-lingual at scale: invariance index </a:t>
            </a:r>
            <a:r>
              <a:rPr sz="1600" b="1">
                <a:solidFill>
                  <a:srgbClr val="A67500"/>
                </a:solidFill>
                <a:latin typeface="Calibri"/>
              </a:rPr>
              <a:t>0.72–0.80</a:t>
            </a:r>
            <a:r>
              <a:rPr sz="1600">
                <a:solidFill>
                  <a:srgbClr val="202020"/>
                </a:solidFill>
                <a:latin typeface="Calibri"/>
              </a:rPr>
              <a:t> across es/ar/zh/hi/sw, </a:t>
            </a:r>
            <a:r>
              <a:rPr sz="1600" b="1">
                <a:solidFill>
                  <a:srgbClr val="2B6CB0"/>
                </a:solidFill>
                <a:latin typeface="Calibri"/>
              </a:rPr>
              <a:t>harmful ≈ benign</a:t>
            </a:r>
            <a:r>
              <a:rPr sz="1600">
                <a:solidFill>
                  <a:srgbClr val="202020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91072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Calibri"/>
              </a:rPr>
              <a:t>Validated on the learned-encoder perception layer (</a:t>
            </a:r>
            <a:r>
              <a:rPr sz="1100">
                <a:solidFill>
                  <a:srgbClr val="666666"/>
                </a:solidFill>
                <a:latin typeface="Consolas"/>
              </a:rPr>
              <a:t>xbse</a:t>
            </a:r>
            <a:r>
              <a:rPr sz="1100">
                <a:solidFill>
                  <a:srgbClr val="666666"/>
                </a:solidFill>
                <a:latin typeface="Calibri"/>
              </a:rPr>
              <a:t>); native DEME re-run of the five tracks is the extended version. Post-camera-ready results, July 2026.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Since submission — reliable ≠ distinct: the space is bifactor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202020"/>
                </a:solidFill>
                <a:latin typeface="Calibri"/>
              </a:rPr>
              <a:t>ICC 0.97 proves the dimensions are reliably measurable — are they distinct?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  <a:latin typeface="Calibri"/>
              </a:rPr>
              <a:t>A registered bifactor readout, answered against ourselves: a </a:t>
            </a:r>
            <a:r>
              <a:rPr sz="1500" b="1">
                <a:solidFill>
                  <a:srgbClr val="2B6CB0"/>
                </a:solidFill>
                <a:latin typeface="Calibri"/>
              </a:rPr>
              <a:t>general moral-valence channel G</a:t>
            </a:r>
            <a:r>
              <a:rPr sz="1500">
                <a:solidFill>
                  <a:srgbClr val="202020"/>
                </a:solidFill>
                <a:latin typeface="Calibri"/>
              </a:rPr>
              <a:t> is real (cross-dataset AUROC </a:t>
            </a:r>
            <a:r>
              <a:rPr sz="1500" b="1">
                <a:solidFill>
                  <a:srgbClr val="A67500"/>
                </a:solidFill>
                <a:latin typeface="Calibri"/>
              </a:rPr>
              <a:t>0.856 ± 0.008</a:t>
            </a:r>
            <a:r>
              <a:rPr sz="1500">
                <a:solidFill>
                  <a:srgbClr val="202020"/>
                </a:solidFill>
                <a:latin typeface="Calibri"/>
              </a:rPr>
              <a:t>, +0.337 over null, n = 51,319) — and five named axes are ≥ </a:t>
            </a:r>
            <a:r>
              <a:rPr sz="1500" b="1">
                <a:solidFill>
                  <a:srgbClr val="A67500"/>
                </a:solidFill>
                <a:latin typeface="Calibri"/>
              </a:rPr>
              <a:t>0.98</a:t>
            </a:r>
            <a:r>
              <a:rPr sz="1500">
                <a:solidFill>
                  <a:srgbClr val="202020"/>
                </a:solidFill>
                <a:latin typeface="Calibri"/>
              </a:rPr>
              <a:t> predictable from G alone.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2377440"/>
          <a:ext cx="11155680" cy="914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88696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02020"/>
                          </a:solidFill>
                          <a:latin typeface="Calibri"/>
                        </a:rPr>
                        <a:t>Own-axis (specific)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environmental +.31 · privacy +.28 · identity_attack +.25 · autonomy +.17 · physical +.08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02020"/>
                          </a:solidFill>
                          <a:latin typeface="Calibri"/>
                        </a:rPr>
                        <a:t>Demote to G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fairness · loyalty · care · legitimacy · epistemic · purity  (−.02 to −.12)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3832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666666"/>
                </a:solidFill>
                <a:latin typeface="Calibri"/>
              </a:rPr>
              <a:t>The G row is bimodal: 0.85–0.94 on demoted axes' own pairs, chance on the specific 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840480"/>
            <a:ext cx="11155680" cy="1874519"/>
          </a:xfrm>
          <a:prstGeom prst="roundRect">
            <a:avLst>
              <a:gd name="adj" fmla="val 6000"/>
            </a:avLst>
          </a:prstGeom>
          <a:solidFill>
            <a:srgbClr val="E9F0F9"/>
          </a:solidFill>
          <a:ln w="952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B6CB0"/>
                </a:solidFill>
                <a:latin typeface="Calibri"/>
              </a:rPr>
              <a:t>Consequence for Secure AI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  <a:latin typeface="Calibri"/>
              </a:rPr>
              <a:t>A scalar robustness score is now </a:t>
            </a:r>
            <a:r>
              <a:rPr sz="1500" b="1">
                <a:solidFill>
                  <a:srgbClr val="A67500"/>
                </a:solidFill>
                <a:latin typeface="Calibri"/>
              </a:rPr>
              <a:t>measured, not argued</a:t>
            </a:r>
            <a:r>
              <a:rPr sz="1500">
                <a:solidFill>
                  <a:srgbClr val="202020"/>
                </a:solidFill>
                <a:latin typeface="Calibri"/>
              </a:rPr>
              <a:t>, to be mostly G — the vulnerability structure lives in the surviving specifics.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202020"/>
                </a:solidFill>
                <a:latin typeface="Calibri"/>
              </a:rPr>
              <a:t>In this talk's terms: </a:t>
            </a:r>
            <a:r>
              <a:rPr sz="1500" b="1">
                <a:solidFill>
                  <a:srgbClr val="2B6CB0"/>
                </a:solidFill>
                <a:latin typeface="Calibri"/>
              </a:rPr>
              <a:t>autonomy, identity, social, physical</a:t>
            </a:r>
            <a:r>
              <a:rPr sz="1500">
                <a:solidFill>
                  <a:srgbClr val="202020"/>
                </a:solidFill>
                <a:latin typeface="Calibri"/>
              </a:rPr>
              <a:t> are specific; </a:t>
            </a:r>
            <a:r>
              <a:rPr sz="1500" b="1">
                <a:solidFill>
                  <a:srgbClr val="2B6CB0"/>
                </a:solidFill>
                <a:latin typeface="Calibri"/>
              </a:rPr>
              <a:t>trust, emotional, financial</a:t>
            </a:r>
            <a:r>
              <a:rPr sz="1500">
                <a:solidFill>
                  <a:srgbClr val="202020"/>
                </a:solidFill>
                <a:latin typeface="Calibri"/>
              </a:rPr>
              <a:t> largely ride G. The readout shows G plus survivors — </a:t>
            </a:r>
            <a:r>
              <a:rPr sz="1500" b="1">
                <a:solidFill>
                  <a:srgbClr val="A67500"/>
                </a:solidFill>
                <a:latin typeface="Calibri"/>
              </a:rPr>
              <a:t>never a hollow axis</a:t>
            </a:r>
            <a:r>
              <a:rPr sz="1500">
                <a:solidFill>
                  <a:srgbClr val="202020"/>
                </a:solidFill>
                <a:latin typeface="Calibr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91072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Calibri"/>
              </a:rPr>
              <a:t>12×12 specificity gate, registered margin 0.05, production checkpoints. Post-camera-ready results, July 2026.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Implications for Secure AI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>
                <a:solidFill>
                  <a:srgbClr val="666666"/>
                </a:solidFill>
                <a:latin typeface="Calibr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202020"/>
                </a:solidFill>
                <a:latin typeface="Calibri"/>
              </a:rPr>
              <a:t>•  </a:t>
            </a:r>
            <a:r>
              <a:rPr sz="1700" b="1">
                <a:solidFill>
                  <a:srgbClr val="2B6CB0"/>
                </a:solidFill>
                <a:latin typeface="Calibri"/>
              </a:rPr>
              <a:t>Where to look</a:t>
            </a:r>
            <a:r>
              <a:rPr sz="1700">
                <a:solidFill>
                  <a:srgbClr val="202020"/>
                </a:solidFill>
                <a:latin typeface="Calibri"/>
              </a:rPr>
              <a:t>: attacks that repackage the same facts with different </a:t>
            </a:r>
            <a:r>
              <a:rPr sz="1700" b="1">
                <a:solidFill>
                  <a:srgbClr val="A67500"/>
                </a:solidFill>
                <a:latin typeface="Calibri"/>
              </a:rPr>
              <a:t>salience</a:t>
            </a:r>
            <a:r>
              <a:rPr sz="1700">
                <a:solidFill>
                  <a:srgbClr val="202020"/>
                </a:solidFill>
                <a:latin typeface="Calibri"/>
              </a:rPr>
              <a:t> (euphemistic minimization).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202020"/>
                </a:solidFill>
                <a:latin typeface="Calibri"/>
              </a:rPr>
              <a:t>•  </a:t>
            </a:r>
            <a:r>
              <a:rPr sz="1700" b="1">
                <a:solidFill>
                  <a:srgbClr val="2B6CB0"/>
                </a:solidFill>
                <a:latin typeface="Calibri"/>
              </a:rPr>
              <a:t>Prompt-level defenses are bounded</a:t>
            </a:r>
            <a:r>
              <a:rPr sz="1700">
                <a:solidFill>
                  <a:srgbClr val="202020"/>
                </a:solidFill>
                <a:latin typeface="Calibri"/>
              </a:rPr>
              <a:t>: explicit warnings recover only ~38% — a ceiling co-occurring with universal overconfidence (ECE 0.19–0.42).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202020"/>
                </a:solidFill>
                <a:latin typeface="Calibri"/>
              </a:rPr>
              <a:t>•  </a:t>
            </a:r>
            <a:r>
              <a:rPr sz="1700" b="1">
                <a:solidFill>
                  <a:srgbClr val="2B6CB0"/>
                </a:solidFill>
                <a:latin typeface="Calibri"/>
              </a:rPr>
              <a:t>Ask the right question</a:t>
            </a:r>
            <a:r>
              <a:rPr sz="1700">
                <a:solidFill>
                  <a:srgbClr val="202020"/>
                </a:solidFill>
                <a:latin typeface="Calibri"/>
              </a:rPr>
              <a:t>: “which vulnerabilities matter for our use case?” — not “what's the robustness score?”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02020"/>
                </a:solidFill>
                <a:latin typeface="Calibri"/>
              </a:rPr>
              <a:t>•  </a:t>
            </a:r>
            <a:r>
              <a:rPr sz="1700" b="1">
                <a:solidFill>
                  <a:srgbClr val="2B6CB0"/>
                </a:solidFill>
                <a:latin typeface="Calibri"/>
              </a:rPr>
              <a:t>Hardening target</a:t>
            </a:r>
            <a:r>
              <a:rPr sz="1700">
                <a:solidFill>
                  <a:srgbClr val="202020"/>
                </a:solidFill>
                <a:latin typeface="Calibri"/>
              </a:rPr>
              <a:t>: the fact-extraction front-end, since downstream kernels inherit its failures.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The larger program: philosophy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>
                <a:solidFill>
                  <a:srgbClr val="666666"/>
                </a:solidFill>
                <a:latin typeface="Calibri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202020"/>
                </a:solidFill>
                <a:latin typeface="Calibri"/>
              </a:rPr>
              <a:t>This paper is one instance of a method: take a construct usually settled by </a:t>
            </a:r>
            <a:r>
              <a:rPr sz="1700" b="1">
                <a:solidFill>
                  <a:srgbClr val="2B6CB0"/>
                </a:solidFill>
                <a:latin typeface="Calibri"/>
              </a:rPr>
              <a:t>argument</a:t>
            </a:r>
            <a:r>
              <a:rPr sz="1700">
                <a:solidFill>
                  <a:srgbClr val="202020"/>
                </a:solidFill>
                <a:latin typeface="Calibri"/>
              </a:rPr>
              <a:t> — what is a harm? has this judgment been manipulated? — and build it into an </a:t>
            </a:r>
            <a:r>
              <a:rPr sz="1700" b="1">
                <a:solidFill>
                  <a:srgbClr val="A67500"/>
                </a:solidFill>
                <a:latin typeface="Calibri"/>
              </a:rPr>
              <a:t>instrument</a:t>
            </a:r>
            <a:r>
              <a:rPr sz="1700">
                <a:solidFill>
                  <a:srgbClr val="202020"/>
                </a:solidFill>
                <a:latin typeface="Calibri"/>
              </a:rPr>
              <a:t> you can measure, falsify, and harden.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331720"/>
            <a:ext cx="6080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202020"/>
                </a:solidFill>
                <a:latin typeface="Calibri"/>
              </a:rPr>
              <a:t>What makes it engineering, not rhetoric</a:t>
            </a:r>
          </a:p>
          <a:p>
            <a:pPr algn="l">
              <a:spcAft>
                <a:spcPts val="1200"/>
              </a:spcAft>
            </a:pPr>
            <a:r>
              <a:rPr sz="1500">
                <a:solidFill>
                  <a:srgbClr val="202020"/>
                </a:solidFill>
                <a:latin typeface="Calibri"/>
              </a:rPr>
              <a:t>•  </a:t>
            </a:r>
            <a:r>
              <a:rPr sz="1500">
                <a:solidFill>
                  <a:srgbClr val="202020"/>
                </a:solidFill>
                <a:latin typeface="Calibri"/>
              </a:rPr>
              <a:t>A </a:t>
            </a:r>
            <a:r>
              <a:rPr sz="1500" b="1">
                <a:solidFill>
                  <a:srgbClr val="2B6CB0"/>
                </a:solidFill>
                <a:latin typeface="Calibri"/>
              </a:rPr>
              <a:t>space</a:t>
            </a:r>
            <a:r>
              <a:rPr sz="1500">
                <a:solidFill>
                  <a:srgbClr val="202020"/>
                </a:solidFill>
                <a:latin typeface="Calibri"/>
              </a:rPr>
              <a:t>, not a slogan: judgments are points, manipulation is </a:t>
            </a:r>
            <a:r>
              <a:rPr sz="1500" b="1">
                <a:solidFill>
                  <a:srgbClr val="2B6CB0"/>
                </a:solidFill>
                <a:latin typeface="Calibri"/>
              </a:rPr>
              <a:t>displacement</a:t>
            </a:r>
            <a:r>
              <a:rPr sz="1500">
                <a:solidFill>
                  <a:srgbClr val="202020"/>
                </a:solidFill>
                <a:latin typeface="Calibri"/>
              </a:rPr>
              <a:t>, robustness is </a:t>
            </a:r>
            <a:r>
              <a:rPr sz="1500" b="1">
                <a:solidFill>
                  <a:srgbClr val="2B6CB0"/>
                </a:solidFill>
                <a:latin typeface="Calibri"/>
              </a:rPr>
              <a:t>invariance</a:t>
            </a:r>
            <a:r>
              <a:rPr sz="1500">
                <a:solidFill>
                  <a:srgbClr val="202020"/>
                </a:solidFill>
                <a:latin typeface="Calibri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  <a:latin typeface="Calibri"/>
              </a:rPr>
              <a:t>•  </a:t>
            </a:r>
            <a:r>
              <a:rPr sz="1500" b="1">
                <a:solidFill>
                  <a:srgbClr val="2B6CB0"/>
                </a:solidFill>
                <a:latin typeface="Calibri"/>
              </a:rPr>
              <a:t>Pre-registration</a:t>
            </a:r>
            <a:r>
              <a:rPr sz="1500">
                <a:solidFill>
                  <a:srgbClr val="202020"/>
                </a:solidFill>
                <a:latin typeface="Calibri"/>
              </a:rPr>
              <a:t> + </a:t>
            </a:r>
            <a:r>
              <a:rPr sz="1500" b="1">
                <a:solidFill>
                  <a:srgbClr val="2B6CB0"/>
                </a:solidFill>
                <a:latin typeface="Calibri"/>
              </a:rPr>
              <a:t>admission gates that retract</a:t>
            </a:r>
            <a:r>
              <a:rPr sz="1500">
                <a:solidFill>
                  <a:srgbClr val="202020"/>
                </a:solidFill>
                <a:latin typeface="Calibri"/>
              </a:rPr>
              <a:t>: this talk's own bifactor test </a:t>
            </a:r>
            <a:r>
              <a:rPr sz="1500" i="1">
                <a:solidFill>
                  <a:srgbClr val="202020"/>
                </a:solidFill>
                <a:latin typeface="Calibri"/>
              </a:rPr>
              <a:t>failed</a:t>
            </a:r>
            <a:r>
              <a:rPr sz="1500">
                <a:solidFill>
                  <a:srgbClr val="202020"/>
                </a:solidFill>
                <a:latin typeface="Calibri"/>
              </a:rPr>
              <a:t> its P1; a channel rescue was </a:t>
            </a:r>
            <a:r>
              <a:rPr sz="1500" i="1">
                <a:solidFill>
                  <a:srgbClr val="202020"/>
                </a:solidFill>
                <a:latin typeface="Calibri"/>
              </a:rPr>
              <a:t>refuted</a:t>
            </a:r>
            <a:r>
              <a:rPr sz="1500">
                <a:solidFill>
                  <a:srgbClr val="202020"/>
                </a:solidFill>
                <a:latin typeface="Calibri"/>
              </a:rPr>
              <a:t>. Claims that don't transfer are demoted — </a:t>
            </a:r>
            <a:r>
              <a:rPr sz="1500" b="1">
                <a:solidFill>
                  <a:srgbClr val="A67500"/>
                </a:solidFill>
                <a:latin typeface="Calibri"/>
              </a:rPr>
              <a:t>in public</a:t>
            </a:r>
            <a:r>
              <a:rPr sz="1500">
                <a:solidFill>
                  <a:srgbClr val="202020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12280" y="2331720"/>
            <a:ext cx="4892040" cy="3063240"/>
          </a:xfrm>
          <a:prstGeom prst="roundRect">
            <a:avLst>
              <a:gd name="adj" fmla="val 6000"/>
            </a:avLst>
          </a:prstGeom>
          <a:solidFill>
            <a:srgbClr val="E9F0F9"/>
          </a:solidFill>
          <a:ln w="952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B6CB0"/>
                </a:solidFill>
                <a:latin typeface="Calibri"/>
              </a:rPr>
              <a:t>The wager</a:t>
            </a:r>
          </a:p>
          <a:p>
            <a:pPr algn="l">
              <a:spcAft>
                <a:spcPts val="1200"/>
              </a:spcAft>
            </a:pPr>
            <a:r>
              <a:rPr sz="1500">
                <a:solidFill>
                  <a:srgbClr val="202020"/>
                </a:solidFill>
                <a:latin typeface="Calibri"/>
              </a:rPr>
              <a:t>Normative and aesthetic structure is </a:t>
            </a:r>
            <a:r>
              <a:rPr sz="1500" b="1">
                <a:solidFill>
                  <a:srgbClr val="A67500"/>
                </a:solidFill>
                <a:latin typeface="Calibri"/>
              </a:rPr>
              <a:t>geometric</a:t>
            </a:r>
            <a:r>
              <a:rPr sz="1500">
                <a:solidFill>
                  <a:srgbClr val="202020"/>
                </a:solidFill>
                <a:latin typeface="Calibri"/>
              </a:rPr>
              <a:t> — it lives in </a:t>
            </a:r>
            <a:r>
              <a:rPr sz="1500" b="1">
                <a:solidFill>
                  <a:srgbClr val="2B6CB0"/>
                </a:solidFill>
                <a:latin typeface="Calibri"/>
              </a:rPr>
              <a:t>compressibility</a:t>
            </a:r>
            <a:r>
              <a:rPr sz="1500">
                <a:solidFill>
                  <a:srgbClr val="202020"/>
                </a:solidFill>
                <a:latin typeface="Calibri"/>
              </a:rPr>
              <a:t> and </a:t>
            </a:r>
            <a:r>
              <a:rPr sz="1500" b="1">
                <a:solidFill>
                  <a:srgbClr val="2B6CB0"/>
                </a:solidFill>
                <a:latin typeface="Calibri"/>
              </a:rPr>
              <a:t>coarse-graining under an observer</a:t>
            </a:r>
            <a:r>
              <a:rPr sz="1500">
                <a:solidFill>
                  <a:srgbClr val="202020"/>
                </a:solidFill>
                <a:latin typeface="Calibri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202020"/>
                </a:solidFill>
                <a:latin typeface="Calibri"/>
              </a:rPr>
              <a:t>One instrument, many manifolds: </a:t>
            </a:r>
            <a:r>
              <a:rPr sz="1500" b="1">
                <a:solidFill>
                  <a:srgbClr val="2B6CB0"/>
                </a:solidFill>
                <a:latin typeface="Calibri"/>
              </a:rPr>
              <a:t>harm</a:t>
            </a:r>
            <a:r>
              <a:rPr sz="1500">
                <a:solidFill>
                  <a:srgbClr val="202020"/>
                </a:solidFill>
                <a:latin typeface="Calibri"/>
              </a:rPr>
              <a:t> today; </a:t>
            </a:r>
            <a:r>
              <a:rPr sz="1500" b="1">
                <a:solidFill>
                  <a:srgbClr val="2B6CB0"/>
                </a:solidFill>
                <a:latin typeface="Calibri"/>
              </a:rPr>
              <a:t>aesthetics, law, cognition</a:t>
            </a:r>
            <a:r>
              <a:rPr sz="1500">
                <a:solidFill>
                  <a:srgbClr val="202020"/>
                </a:solidFill>
                <a:latin typeface="Calibri"/>
              </a:rPr>
              <a:t> on the same frame.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91072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Calibri"/>
              </a:rPr>
              <a:t>A philosophical claim you can </a:t>
            </a:r>
            <a:r>
              <a:rPr sz="1100" b="1">
                <a:solidFill>
                  <a:srgbClr val="A67500"/>
                </a:solidFill>
                <a:latin typeface="Calibri"/>
              </a:rPr>
              <a:t>ship, measure, and be wrong about</a:t>
            </a:r>
            <a:r>
              <a:rPr sz="1100">
                <a:solidFill>
                  <a:srgbClr val="666666"/>
                </a:solidFill>
                <a:latin typeface="Calibri"/>
              </a:rPr>
              <a:t> outranks one you can only defend.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Reproducibility &amp;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>
                <a:solidFill>
                  <a:srgbClr val="666666"/>
                </a:solidFill>
                <a:latin typeface="Calibri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202020"/>
                </a:solidFill>
                <a:latin typeface="Calibri"/>
              </a:rPr>
              <a:t>•  </a:t>
            </a:r>
            <a:r>
              <a:rPr sz="1600">
                <a:solidFill>
                  <a:srgbClr val="202020"/>
                </a:solidFill>
                <a:latin typeface="Calibri"/>
              </a:rPr>
              <a:t>Five tracks, multi-model, ~8,000 calls — under </a:t>
            </a:r>
            <a:r>
              <a:rPr sz="1600" b="1">
                <a:solidFill>
                  <a:srgbClr val="2B6CB0"/>
                </a:solidFill>
                <a:latin typeface="Calibri"/>
              </a:rPr>
              <a:t>$50/day</a:t>
            </a:r>
            <a:r>
              <a:rPr sz="1600">
                <a:solidFill>
                  <a:srgbClr val="202020"/>
                </a:solidFill>
                <a:latin typeface="Calibri"/>
              </a:rPr>
              <a:t> (Kaggle); validation panel on the open </a:t>
            </a:r>
            <a:r>
              <a:rPr sz="1600" b="1">
                <a:solidFill>
                  <a:srgbClr val="2B6CB0"/>
                </a:solidFill>
                <a:latin typeface="Calibri"/>
              </a:rPr>
              <a:t>NRP managed LLM API</a:t>
            </a:r>
            <a:r>
              <a:rPr sz="1600">
                <a:solidFill>
                  <a:srgbClr val="202020"/>
                </a:solidFill>
                <a:latin typeface="Calibri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  <a:latin typeface="Calibri"/>
              </a:rPr>
              <a:t>•  </a:t>
            </a:r>
            <a:r>
              <a:rPr sz="1600">
                <a:solidFill>
                  <a:srgbClr val="202020"/>
                </a:solidFill>
                <a:latin typeface="Calibri"/>
              </a:rPr>
              <a:t>Code + data: </a:t>
            </a:r>
            <a:r>
              <a:rPr sz="1600">
                <a:solidFill>
                  <a:srgbClr val="202020"/>
                </a:solidFill>
                <a:latin typeface="Consolas"/>
              </a:rPr>
              <a:t>pip install agi-hpc</a:t>
            </a:r>
            <a:r>
              <a:rPr sz="1600">
                <a:solidFill>
                  <a:srgbClr val="202020"/>
                </a:solidFill>
                <a:latin typeface="Calibri"/>
              </a:rPr>
              <a:t>, tag </a:t>
            </a:r>
            <a:r>
              <a:rPr sz="1600">
                <a:solidFill>
                  <a:srgbClr val="202020"/>
                </a:solidFill>
                <a:latin typeface="Consolas"/>
              </a:rPr>
              <a:t>bds2026-v1</a:t>
            </a:r>
            <a:r>
              <a:rPr sz="1600">
                <a:solidFill>
                  <a:srgbClr val="202020"/>
                </a:solidFill>
                <a:latin typeface="Calibri"/>
              </a:rPr>
              <a:t>; decision kernel: </a:t>
            </a:r>
            <a:r>
              <a:rPr sz="1600" b="1">
                <a:solidFill>
                  <a:srgbClr val="2B6CB0"/>
                </a:solidFill>
                <a:latin typeface="Calibri"/>
              </a:rPr>
              <a:t>ErisML / DEME v3</a:t>
            </a:r>
            <a:r>
              <a:rPr sz="1600">
                <a:solidFill>
                  <a:srgbClr val="202020"/>
                </a:solidFill>
                <a:latin typeface="Calibri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43200"/>
            <a:ext cx="11155680" cy="3108960"/>
          </a:xfrm>
          <a:prstGeom prst="roundRect">
            <a:avLst>
              <a:gd name="adj" fmla="val 6000"/>
            </a:avLst>
          </a:prstGeom>
          <a:solidFill>
            <a:srgbClr val="E9F0F9"/>
          </a:solidFill>
          <a:ln w="952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2B6CB0"/>
                </a:solidFill>
                <a:latin typeface="Calibri"/>
              </a:rPr>
              <a:t>Four takeaways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202020"/>
                </a:solidFill>
                <a:latin typeface="Calibri"/>
              </a:rPr>
              <a:t>1.  Vulnerabilities are </a:t>
            </a:r>
            <a:r>
              <a:rPr sz="1600" b="1">
                <a:solidFill>
                  <a:srgbClr val="A67500"/>
                </a:solidFill>
                <a:latin typeface="Calibri"/>
              </a:rPr>
              <a:t>selective</a:t>
            </a:r>
            <a:r>
              <a:rPr sz="1600">
                <a:solidFill>
                  <a:srgbClr val="202020"/>
                </a:solidFill>
                <a:latin typeface="Calibri"/>
              </a:rPr>
              <a:t> — salience manipulation is the surface.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202020"/>
                </a:solidFill>
                <a:latin typeface="Calibri"/>
              </a:rPr>
              <a:t>2.  Robustness profiles are </a:t>
            </a:r>
            <a:r>
              <a:rPr sz="1600" b="1">
                <a:solidFill>
                  <a:srgbClr val="A67500"/>
                </a:solidFill>
                <a:latin typeface="Calibri"/>
              </a:rPr>
              <a:t>dissociable</a:t>
            </a:r>
            <a:r>
              <a:rPr sz="1600">
                <a:solidFill>
                  <a:srgbClr val="202020"/>
                </a:solidFill>
                <a:latin typeface="Calibri"/>
              </a:rPr>
              <a:t> — no single score is safe.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202020"/>
                </a:solidFill>
                <a:latin typeface="Calibri"/>
              </a:rPr>
              <a:t>3.  The exploit is </a:t>
            </a:r>
            <a:r>
              <a:rPr sz="1600" b="1">
                <a:solidFill>
                  <a:srgbClr val="A67500"/>
                </a:solidFill>
                <a:latin typeface="Calibri"/>
              </a:rPr>
              <a:t>end-to-end</a:t>
            </a:r>
            <a:r>
              <a:rPr sz="1600">
                <a:solidFill>
                  <a:srgbClr val="202020"/>
                </a:solidFill>
                <a:latin typeface="Calibri"/>
              </a:rPr>
              <a:t> — it flips scalar scores </a:t>
            </a:r>
            <a:r>
              <a:rPr sz="1600" i="1">
                <a:solidFill>
                  <a:srgbClr val="202020"/>
                </a:solidFill>
                <a:latin typeface="Calibri"/>
              </a:rPr>
              <a:t>and</a:t>
            </a:r>
            <a:r>
              <a:rPr sz="1600">
                <a:solidFill>
                  <a:srgbClr val="202020"/>
                </a:solidFill>
                <a:latin typeface="Calibri"/>
              </a:rPr>
              <a:t> typed verdicts.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202020"/>
                </a:solidFill>
                <a:latin typeface="Calibri"/>
              </a:rPr>
              <a:t>4.  It is </a:t>
            </a:r>
            <a:r>
              <a:rPr sz="1600" b="1">
                <a:solidFill>
                  <a:srgbClr val="A67500"/>
                </a:solidFill>
                <a:latin typeface="Calibri"/>
              </a:rPr>
              <a:t>defensible</a:t>
            </a:r>
            <a:r>
              <a:rPr sz="1600">
                <a:solidFill>
                  <a:srgbClr val="202020"/>
                </a:solidFill>
                <a:latin typeface="Calibri"/>
              </a:rPr>
              <a:t> — averaging over the paraphrase class halves drift (since submission).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tlas_mark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822960"/>
            <a:ext cx="1691640" cy="1691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834640"/>
            <a:ext cx="999439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000" b="1">
                <a:solidFill>
                  <a:srgbClr val="2B6CB0"/>
                </a:solidFill>
                <a:latin typeface="Calibri"/>
              </a:rPr>
              <a:t>Thank you</a:t>
            </a:r>
          </a:p>
          <a:p>
            <a:pPr algn="ctr">
              <a:spcAft>
                <a:spcPts val="600"/>
              </a:spcAft>
            </a:pPr>
            <a:r>
              <a:rPr sz="1600">
                <a:solidFill>
                  <a:srgbClr val="1A2340"/>
                </a:solidFill>
                <a:latin typeface="Calibri"/>
              </a:rPr>
              <a:t>Andrew H. Bond    ·    </a:t>
            </a:r>
            <a:r>
              <a:rPr sz="1600">
                <a:solidFill>
                  <a:srgbClr val="1A2340"/>
                </a:solidFill>
                <a:latin typeface="Consolas"/>
              </a:rPr>
              <a:t>andrew.bond@sjsu.edu</a:t>
            </a:r>
          </a:p>
          <a:p>
            <a:pPr algn="ctr">
              <a:spcAft>
                <a:spcPts val="200"/>
              </a:spcAft>
            </a:pPr>
            <a:r>
              <a:rPr sz="1300">
                <a:solidFill>
                  <a:srgbClr val="666666"/>
                </a:solidFill>
                <a:latin typeface="Calibri"/>
              </a:rPr>
              <a:t>Selective Invariance Violations in LLM Moral Judgment</a:t>
            </a:r>
          </a:p>
          <a:p>
            <a:pPr algn="ctr">
              <a:spcAft>
                <a:spcPts val="1200"/>
              </a:spcAft>
            </a:pPr>
            <a:r>
              <a:rPr sz="1300">
                <a:solidFill>
                  <a:srgbClr val="666666"/>
                </a:solidFill>
                <a:latin typeface="Calibri"/>
              </a:rPr>
              <a:t>IEEE BigDataService 2026 — Secure AI</a:t>
            </a:r>
          </a:p>
          <a:p>
            <a:pPr algn="ctr">
              <a:spcAft>
                <a:spcPts val="600"/>
              </a:spcAft>
            </a:pPr>
            <a:r>
              <a:rPr sz="1300" i="1">
                <a:solidFill>
                  <a:srgbClr val="1A2340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