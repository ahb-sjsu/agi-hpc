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mostly carried by G</c:v>
                </c:pt>
              </c:strCache>
            </c:strRef>
          </c:tx>
          <c:spPr>
            <a:solidFill>
              <a:srgbClr val="2171B5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5">
                  <c:v>0.9396</c:v>
                </c:pt>
                <c:pt idx="6">
                  <c:v>0.9836</c:v>
                </c:pt>
                <c:pt idx="7">
                  <c:v>0.9873</c:v>
                </c:pt>
                <c:pt idx="8">
                  <c:v>0.99</c:v>
                </c:pt>
                <c:pt idx="9">
                  <c:v>0.9986</c:v>
                </c:pt>
                <c:pt idx="10">
                  <c:v>0.9997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mixed</c:v>
                </c:pt>
              </c:strCache>
            </c:strRef>
          </c:tx>
          <c:spPr>
            <a:solidFill>
              <a:srgbClr val="1B9E77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3">
                  <c:v>0.6658</c:v>
                </c:pt>
                <c:pt idx="4">
                  <c:v>0.8197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specific</c:v>
                </c:pt>
              </c:strCache>
            </c:strRef>
          </c:tx>
          <c:spPr>
            <a:solidFill>
              <a:srgbClr val="D95F02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0.4945</c:v>
                </c:pt>
                <c:pt idx="1">
                  <c:v>0.5538</c:v>
                </c:pt>
                <c:pt idx="2">
                  <c:v>0.6421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4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 slides, but the live talk is 14 (two backups after Thanks). Plan ~18 min + Q&amp;A: problem 1:30, approach 1:45, findings 3:30, validation 1:15, exploit 2:00, kernel 1:45, defense 1:45, bifactor 1:30, implications 1:15, philosophy 1:00, takeaways 1:00.</a:t>
            </a:r>
          </a:p>
          <a:p/>
          <a:p>
            <a:r>
              <a:t>This paper was ACCEPTED at IEEE BigDataService 2026, Special Track on Secure AI (both reviews: weak accept).</a:t>
            </a:r>
          </a:p>
          <a:p/>
          <a:p>
            <a:r>
              <a:t>If you are not Andrew: "I'm presenting on behalf of Andrew Bond, San Jose State University."</a:t>
            </a:r>
          </a:p>
          <a:p/>
          <a:p>
            <a:r>
              <a:t>ONE-SENTENCE SUMMARY: LLMs that make moral/safety decisions can be manipulated just by REWORDING the input — we built a framework that measures exactly WHICH rewordings move WHICH models, showed the attack works end-to-end against a real moderation pipeline, and (since submission) built and measured a defense and stress-tested the coordinate system itself.</a:t>
            </a:r>
          </a:p>
          <a:p/>
          <a:p>
            <a:r>
              <a:t>"Geometric" just means: a judgment is a POINT in a multi-dimensional harm space; perturbations MOVE the point (displacement). No deep math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TERM — "behavioral manipulation vulnerability": the attacker never changes the FACTS, only the PRESENTATION (wording, tone, irrelevant detail). A secure evaluator should give the same verdict either way. These models don't.</a:t>
            </a:r>
          </a:p>
          <a:p/>
          <a:p>
            <a:r>
              <a:t>Why it matters: LLMs already gate content moderation, triage, legal-intake style decisions. If wording moves the verdict, wording is an attack surface.</a:t>
            </a:r>
          </a:p>
          <a:p/>
          <a:p>
            <a:r>
              <a:t>BOTTOM BLOCK: prior work tests one bias at a time and reports ONE robustness number. Analogy that lands: a single credit score vs. the full credit report — with n independent failure directions, one scalar discards n−1 of them, unrecoverably.</a:t>
            </a:r>
          </a:p>
          <a:p/>
          <a:p>
            <a:r>
              <a:t>Don't over-dwell; the punchline slides are 7-10.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WORKS (3 steps): (1) every judgment is scored as a 7-dimensional harm vector — physical, emotional, financial, autonomy, trust, social, identity — each 0-10, total 0-70. (2) apply perturbations that should NOT change the moral evaluation. (3) measure how far the vector moved = displacement. Output: a per-model VULNERABILITY PROFILE, not one number.</a:t>
            </a:r>
          </a:p>
          <a:p/>
          <a:p>
            <a:r>
              <a:t>$50/day: the whole 5-model, ~8,000-call evaluation fits a Kaggle budget — say it out loud, reproducibility is a selling point.</a:t>
            </a:r>
          </a:p>
          <a:p/>
          <a:p>
            <a:r>
              <a:t>RIGHT SIDE: the 7-D space is the measurement-reliable projection of the DEME v3 9-axis moral vector (ErisML compiler). Two axes (rights, epistemic) were dropped for reliability, disclosed. Full correspondence table is in BACKUP B1 — offer it in Q&amp;A rather than walking it live.</a:t>
            </a:r>
          </a:p>
          <a:p/>
          <a:p>
            <a:r>
              <a:t>Gloss the word SALIENCE when it first comes up on the next slide: "salience just means what stands out to the model."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FINDING of the accepted paper. Vulnerabilities are SELECTIVE, not uniform:</a:t>
            </a:r>
          </a:p>
          <a:p/>
          <a:p>
            <a:r>
              <a:t>MOVE judgments (all 5 models): linguistic framing (euphemistic vs dramatic rewording), emotional anchoring (paired d_z 0.60-1.06 = medium-to-large), irrelevant sensory detail.</a:t>
            </a:r>
          </a:p>
          <a:p>
            <a:r>
              <a:t>DO NOT move judgments: gender swap, evaluation order.</a:t>
            </a:r>
          </a:p>
          <a:p/>
          <a:p>
            <a:r>
              <a:t>Common thread (right block): the live surfaces all make morally irrelevant features PERCEPTUALLY SALIENT. The attack mechanism is salience manipulation — and the selectivity proves the framework discriminates real vulnerabilities from noise.</a:t>
            </a:r>
          </a:p>
          <a:p/>
          <a:p>
            <a:r>
              <a:t>FOOTNOTE (methods honesty): effect sizes are paired d_z (t/sqrt(n)) — say "paired standardized differences" if a statistician asks; every test is compared against replication control arms — apparent 6-sigma violations in early analyses VANISHED under those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FINDING: robustness profiles are DISSOCIABLE — no model dominates.</a:t>
            </a:r>
          </a:p>
          <a:p/>
          <a:p>
            <a:r>
              <a:t>Concrete contrast: Claude showed ZERO sycophancy in our runs — 0 of 9 fabricated corrections accepted (small n; Wilson CI reaches 30%, corroborated by a confidence-increase signature and 0% control-arm flips) — but the WORST emotional-anchoring recovery (20%) and worst divided attention. Gemini Flash 2.0 recovers from emotional manipulation BEST (73%) — but has the worst working memory.</a:t>
            </a:r>
          </a:p>
          <a:p/>
          <a:p>
            <a:r>
              <a:t>Consequence: averaging partially-independent dimensions gives a number that describes NO model accurately. Single-test certification = FALSE ASSURANCE.</a:t>
            </a:r>
          </a:p>
          <a:p/>
          <a:p>
            <a:r>
              <a:t>Anticipate: "which model should I use?" — depends which attack surfaces matter for YOUR use case; that's why the output is a profile, not a ranking. (Slide 10 sharpens this: the scalar's failure is now measured, not just argued.)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reviewers' #1 concern: "is the 7-D harm space validated or asserted?" This is the camera-ready answer.</a:t>
            </a:r>
          </a:p>
          <a:p/>
          <a:p>
            <a:r>
              <a:t>Design: 6 OPEN models from 5 families (Qwen3 x2, GLM-5, GPT-OSS, MiniMax-M2, Gemma) score the full 7-D vector on 31 scenarios, 3 repetitions, via the NRP managed LLM API — fully open, re-runnable. Panel is DISJOINT from the 5 models under test.</a:t>
            </a:r>
          </a:p>
          <a:p/>
          <a:p>
            <a:r>
              <a:t>TERMS: ICC(2,k) = two-way random, average-measures intraclass correlation; 0.969 is excellent. Krippendorff's alpha = chance-corrected agreement; 0.836 is strong.</a:t>
            </a:r>
          </a:p>
          <a:p/>
          <a:p>
            <a:r>
              <a:t>CAVEATS to volunteer if pressed: (a) ICC(2,k) is panel-consensus reliability — single-rater ICC(2,1) is ~0.84, still good; (b) six models sharing web-scale training data establishes cross-family consistency, NOT human ground truth — human-rater validation is future work; (c) physical/autonomy lowest (~0.57 alpha) is a near-floor artifact. Test-retest r=0.96 sets the stochastic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Reviewer ask: "show an end-to-end exploit." Walk it as a story:</a:t>
            </a:r>
          </a:p>
          <a:p/>
          <a:p>
            <a:r>
              <a:t>You run a moderation filter: flag anything with total harm &gt; T. The attacker controls ONLY wording. Rewrite the same facts euphemistically — corporate-liability language, "involuntary separation from the platform" style. Panel-averaged harm drops 14.0 points on the 0-70 scale. At a median-calibrated threshold, 3 of the 6 audited gold scenarios silently flip FLAG -&gt; PASS. Nothing about the event changed.</a:t>
            </a:r>
          </a:p>
          <a:p/>
          <a:p>
            <a:r>
              <a:t>Say the existence-proof framing OUT LOUD (it's now on the slide): n=6 hand-audited items demonstrate the mechanism end-to-end; the displacement magnitude is established on the 31-scenario panel.</a:t>
            </a:r>
          </a:p>
          <a:p/>
          <a:p>
            <a:r>
              <a:t>THE ASYMMETRY IS THE SCARY PART: euphemism moves scores twice as much as dramatization (-14 vs +7.3). The filter is far easier to EVADE than to trigger falsely — it fails in the dangerous direction.</a:t>
            </a:r>
          </a:p>
          <a:p/>
          <a:p>
            <a:r>
              <a:t>If asked "isn't lower harm from euphemism rational inference?": the gold transforms are hand-audited to preserve the stated facts — same events, differently packaged; slide 8 shows the FACTS get extracted differently, which is perception failure, not updating.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Natural objection: "so don't use a scalar threshold — use a principled rule engine." This slide kills that hope.</a:t>
            </a:r>
          </a:p>
          <a:p/>
          <a:p>
            <a:r>
              <a:t>Setup: route each scenario through the real ErisML DEME v3 kernel: an LLM extracts structured ethical FACTS, then GenevaEMV3 — a fixed, deterministic rule module — maps facts to a typed verdict (forbid / avoid / neutral / prefer / strongly_prefer).</a:t>
            </a:r>
          </a:p>
          <a:p/>
          <a:p>
            <a:r>
              <a:t>Result across 161 scenario-model cases (open panel): euphemistic rewriting flips a restrictive verdict to permissive in 13.7% of cases; forbid verdicts drop 44 -&gt; 27 (-39%).</a:t>
            </a:r>
          </a:p>
          <a:p/>
          <a:p>
            <a:r>
              <a:t>QUOTABLE: "a rule engine INHERITS, rather than cures, the front-end's salience vulnerability." The rules are fine — the FACTS feeding them were corrupted. Hardening must target fact extraction / perception. Sets up the defense.</a:t>
            </a:r>
          </a:p>
          <a:p/>
          <a:p>
            <a:r>
              <a:t>If asked "isn't this garbage-in-garbage-out by construction?": the point is the QUANTIFICATION — 13.7% and -39% rebut the deployment assumption that a symbolic layer confers robustness, and tell you where the hardening budget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— say explicitly: "from here to slide 10, results are post-camera-ready, from the extended version in preparation." ALSO say the instantiation line at the top: these results are measured on a SECOND INSTANTIATION of the same geometry — validated learned encoders (xbse) replacing LLM judges, feeding the same DEME kernel. Do not let the audience think the LLM judges were re-measured.</a:t>
            </a:r>
          </a:p>
          <a:p/>
          <a:p>
            <a:r>
              <a:t>THE IDEA: a single wording is one arbitrary member of an equivalence class of morally identical texts. Judge the CLASS: generate m paraphrases, average per-dimension perception over the class, then decide. (For ML folks: semantic randomized smoothing / SmoothLLM with meaning-preserving paraphrases — but NO formal certificate; the guarantee is empirical.)</a:t>
            </a:r>
          </a:p>
          <a:p/>
          <a:p>
            <a:r>
              <a:t>NUMBERS: theta_d = mean per-dimension decision movement under re-description (defined on the slide). At scale: raw 0.407 -&gt; 0.219 = HALVED. IMPORTANT REFRAME (a sharp listener will catch it): raw natural-paraphrase drift is ALREADY below the 0.5 bar — the bar binds for ADVERSARIAL-register inputs (raw 0.67-0.85), where the defended run is the registered open item. So the claim to make is the HALVING, not "meets the bar."</a:t>
            </a:r>
          </a:p>
          <a:p/>
          <a:p>
            <a:r>
              <a:t>RED-TEAM: LLM paraphrasers refuse 24% of harmful inputs. NLLB back-translation (6 pivots) refuses nothing: theta_d = 0.301 on harmful content. The hole belongs to the GENERATOR, not the mechanism.</a:t>
            </a:r>
          </a:p>
          <a:p/>
          <a:p>
            <a:r>
              <a:t>Deployment rule: refusal -&gt; singleton class -&gt; ESCALATE by default; audit proof records class member hashes.</a:t>
            </a:r>
          </a:p>
          <a:p/>
          <a:p>
            <a:r>
              <a:t>ADAPTIVE ATTACKER — now MEASURED (footer): on the 6 gold adversarial-register rewrites, class averaging reduced displacement only 17% and all 3 flagged items still flipped defended. Paraphrases of euphemism stay euphemistic — the mechanism removes surface variation, not register. Say this proactively if time allows; it is the talk's freshest honest negative and it strengthens the escalate-by-default story. The fix on the roadmap: a class generator that provably crosses registers.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Post-camera-ready. THE SLIDE'S QUESTION: ICC 0.97 showed the dimensions are reliably MEASURABLE — a skeptic asks whether they are DISTINCT. We ran the test against ourselves, pre-registered.</a:t>
            </a:r>
          </a:p>
          <a:p/>
          <a:p>
            <a:r>
              <a:t>SCOPE + THE NEW RESULT (right column, bottom): the bifactor readout is encoder-instantiation; we then factor-analyzed the JUDGE PANEL'S OWN 31x7 score matrix directly. It REPLICATES the general factor: PC1 = 54% of variance (consensus; 53% pooled), and it is the ONLY component surviving Horn's parallel analysis. Per-axis: physical fully specific on the panel too (R^2 ~ 0 — striking agreement with the encoder residual), emotional (0.86) and trust (0.78) most G-laden as predicted; financial and identity DIVERGE across instantiations — recorded, not adjudicated. n=31, so per-axis loadings are coarse; the factor COUNT is the robust claim.</a:t>
            </a:r>
          </a:p>
          <a:p/>
          <a:p>
            <a:r>
              <a:t>ROBUSTNESS (if pressed "is that just aggregation?"): run separately on each judge's own 31x7 matrix, ALL SIX models keep exactly one factor (PC1 51-60%), and each model's PC1 is the SAME factor as the consensus — Tucker congruence 0.989-0.999, above the 0.95 factor-equality convention. The general factor lives inside every judge, not just in the average.</a:t>
            </a:r>
          </a:p>
          <a:p/>
          <a:p>
            <a:r>
              <a:t>RESULTS: a general moral-valence channel G is real and strong (cross-dataset AUROC 0.856, n=51k). Five named axes — purity, legitimacy, loyalty, care, fairness — are &gt;=0.98 predictable from G on independent corpora: their gate-passing transfer is general valence, not their named dimension. The 12x12 specificity gate confirms it independently: specific = environmental, privacy, identity_attack, autonomy, physical(+.08, marginal); demoted = the rest. The pre-registered P1 FAILED (4/11 diagonal-dominant vs required 8) — we publish the failure.</a:t>
            </a:r>
          </a:p>
          <a:p/>
          <a:p>
            <a:r>
              <a:t>CHART: blue = mostly G, teal = mixed, orange = specific; dashed reference at 0.98.</a:t>
            </a:r>
          </a:p>
          <a:p/>
          <a:p>
            <a:r>
              <a:t>CONSEQUENCE: a scalar harm score is now MEASURED, not argued, to be mostly G — and any scalar robustness score inherits that collapse by construction. Takeaway 2 upgraded.</a:t>
            </a:r>
          </a:p>
          <a:p/>
          <a:p>
            <a:r>
              <a:t>If asked "isn't G-dominance guaranteed by construction (valence-signed training pairs)?": yes — G is a maximally strong competitor by design, which is exactly why SURVIVING it is informative; privacy/autonomy/environmental measurably do.</a:t>
            </a:r>
          </a:p>
          <a:p>
            <a:r>
              <a:t>If asked about identity_attack: the gate says specific (+.25), A2 residualization says mixed (G-share 0.67) — the divergence is recorded, not adjudicated; the gate is the registered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 guidance — four points, one line each:</a:t>
            </a:r>
          </a:p>
          <a:p/>
          <a:p>
            <a:r>
              <a:t>1. WHERE TO LOOK: the live attack surface is salience repackaging — especially euphemistic minimization. Watch for measured, liability-flavored language hiding severity.</a:t>
            </a:r>
          </a:p>
          <a:p>
            <a:r>
              <a:t>2. PROMPT DEFENSES ARE BOUNDED: telling the model "you are being manipulated" recovers only ~38% — co-occurring with universal overconfidence (ECE 0.19-0.42). System-prompt guardrails fail two times out of three.</a:t>
            </a:r>
          </a:p>
          <a:p>
            <a:r>
              <a:t>3. ASK THE RIGHT QUESTION: not "what's the robustness score?" but "WHICH vulnerabilities matter for OUR use case?" — profiles, not rankings.</a:t>
            </a:r>
          </a:p>
          <a:p>
            <a:r>
              <a:t>4. HARDENING TARGET: the fact-extraction / perception front-end — downstream kernels inherit its failures (slide 8), and slide 9 showed perception CAN be hardened measurably.</a:t>
            </a:r>
          </a:p>
          <a:p/>
          <a:p>
            <a:r>
              <a:t>ECE = expected calibration error: gap between stated confidence and actual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ONE-MINUTE SLIDE — the zoom-out. Deliver the headline sentence, one beat on each column, move on.</a:t>
            </a:r>
          </a:p>
          <a:p/>
          <a:p>
            <a:r>
              <a:t>LEFT (all measured, grounded in this talk): the method treats constructs usually settled by argument as INSTRUMENTS — a space (points/displacement/invariance), pre-registration, and admission gates that retract. Evidence from this very talk: the bifactor test FAILED its own P1; the rights-channel rescue was REFUTED. Claims that don't transfer get publicly demoted.</a:t>
            </a:r>
          </a:p>
          <a:p/>
          <a:p>
            <a:r>
              <a:t>RIGHT (explicitly labeled a conjecture, NOT tested here): the wager that normative and aesthetic structure is geometric — compressibility and coarse-graining under an observer — one instrument across harm, aesthetics, law, cognition.</a:t>
            </a:r>
          </a:p>
          <a:p/>
          <a:p>
            <a:r>
              <a:t>Q&amp;A DISCIPLINE: if someone pushes on the conjecture ("is this science or manifesto?"), the full answer is: "that's the motivating conjecture of a larger program, not a result — this talk contributes the harm instance and its falsification record." Say exactly that and stop. Do NOT elaborate on aesthetics in a Secure AI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TAKEAWAYS — read slowly; this is the photographed slide:</a:t>
            </a:r>
          </a:p>
          <a:p>
            <a:r>
              <a:t>1. Vulnerabilities are SELECTIVE — salience manipulation is the attack surface.</a:t>
            </a:r>
          </a:p>
          <a:p>
            <a:r>
              <a:t>2. Robustness profiles are DISSOCIABLE — and a single score is now MEASURED to be mostly general valence (bifactor, slide 10).</a:t>
            </a:r>
          </a:p>
          <a:p>
            <a:r>
              <a:t>3. The exploit is END-TO-END — it flips scalar thresholds AND typed rule-engine verdicts.</a:t>
            </a:r>
          </a:p>
          <a:p>
            <a:r>
              <a:t>4. It is DEFENSIBLE — class averaging halves natural-paraphrase drift; adversarial-at-scale is the registered open item.</a:t>
            </a:r>
          </a:p>
          <a:p/>
          <a:p>
            <a:r>
              <a:t>Attack -&gt; measurement -&gt; defense -&gt; instrument audit. That's the arc.</a:t>
            </a:r>
          </a:p>
          <a:p/>
          <a:p>
            <a:r>
              <a:t>Reproducibility (footer, one breath): pip install agi-hpc (tag bds2026-v2), moral-spectrum-analyzer, xbse; kernel ErisML/DEME v3; $50/day on Kaggle; validation panel on the open NRP API.</a:t>
            </a:r>
          </a:p>
          <a:p/>
          <a:p>
            <a:r>
              <a:t>Spoken closer after takeaway 4 (borrowed from slide 12): "One instrument today — many domains tomorrow. Thank you."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PREP — hardest questions, one-line answers:</a:t>
            </a:r>
          </a:p>
          <a:p/>
          <a:p>
            <a:r>
              <a:t>Q: You showed ICC 0.97, then a bifactor result saying most axes are one factor — measured on different encoders. Did you factor-analyze the panel's own scores? A: Yes — the panel's own 31x7 matrix gives PC1 = 54% of variance, the only component surviving parallel analysis, with physical fully specific there too. The general factor replicates across both instantiations; two per-axis assignments (financial, identity) diverge and are recorded as such.</a:t>
            </a:r>
          </a:p>
          <a:p>
            <a:r>
              <a:t>Q: Isn't G-dominance guaranteed by construction? A: G is a maximally strong competitor by design — which is why surviving it is informative; privacy, autonomy, environmental measurably do.</a:t>
            </a:r>
          </a:p>
          <a:p>
            <a:r>
              <a:t>Q: Your drift bar 0.5 is met by the raw pipeline (0.407). What did the defense buy? A: On natural paraphrases the bar doesn't bind — it was set against adversarial transforms (raw 0.67-0.85); the at-scale result is the HALVING, confirmed on harmful content via a non-refusing generator; defended-adversarial is the registered open item.</a:t>
            </a:r>
          </a:p>
          <a:p>
            <a:r>
              <a:t>Q: With averaging on, how many gold items still flip? What does 13.7% become? A: Measured, and it's an honest negative — on the deployed encoder instrument all 3 flagged gold items STILL flip defended (displacement only −17% vs −46% on natural paraphrases). Paraphrases of euphemism stay euphemistic: the class inherits the register, and register is the attack vector. That's why the residual surface is the generator's register diversity and why escalate-by-default is load-bearing. The DEME-instantiation defended-13.7% is the native re-run.</a:t>
            </a:r>
          </a:p>
          <a:p>
            <a:r>
              <a:t>Q: Euphemism deletes information — isn't a lower score rational? A: Gold transforms are hand-audited to preserve stated facts; the DEME leg shows the same facts get EXTRACTED differently — perception failure, not updating.</a:t>
            </a:r>
          </a:p>
          <a:p>
            <a:r>
              <a:t>Q: Six LLMs agreeing isn't validity — where are humans? A: Agreed — the panel establishes reliability and cross-family consistency; single-rater ICC ~0.84; human-rater validation is future work.</a:t>
            </a:r>
          </a:p>
          <a:p>
            <a:r>
              <a:t>Q: Rule-engine result is garbage-in-garbage-out by construction? A: The quantification is the finding — 13.7% flips and -39% forbid rebut the assumption that a symbolic layer confers robustness, and locate the hardening budget.</a:t>
            </a:r>
          </a:p>
          <a:p>
            <a:r>
              <a:t>Q: identity_attack: gate says specific, residualization says 2/3 G, and it dominates your contraction — is the contraction re-measuring valence? A: The divergence is recorded, not adjudicated; the +0.084 out-of-fold lift is against a baseline already containing the G-heavy axes, which bounds how much can be G-duplication.</a:t>
            </a:r>
          </a:p>
          <a:p>
            <a:r>
              <a:t>Q: Isn't this just prompt sensitivity? A: Prompt sensitivity is undirected noise; this is DIRECTED, selective, reproducible displacement under meaning-preserving transforms, with control arms and a decision consequence.</a:t>
            </a:r>
          </a:p>
          <a:p>
            <a:r>
              <a:t>Q: Model coverage small (5 models / 2 families)? A: Acknowledged; the validation panel adds 6 open models / 5 families; trend claims flagged as suggestive.</a:t>
            </a:r>
          </a:p>
          <a:p/>
          <a:p>
            <a:r>
              <a:t>Contact: andrew.bond@sjsu.edu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"where do the 7 dimensions come from?"</a:t>
            </a:r>
          </a:p>
          <a:p/>
          <a:p>
            <a:r>
              <a:t>They are a PROJECTION of the DEME v3 9-axis moral vector: four map directly, three partially, two (rights, epistemic quality) are NOT scored — they produced unreliable judgments in preliminary testing, disclosed rather than hidden. Key phrase: "a reliability-driven projection, not a bijection."</a:t>
            </a:r>
          </a:p>
          <a:p/>
          <a:p>
            <a:r>
              <a:t>If pressed on "identity" mapping weakly to privacy/standing: it is properly fixed by the validated identity_attack channel (backup B2) — now a separately-scored 10th channel in the extended 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"is the dimension set fixed/asserted?" or "what's the discovery loop?"</a:t>
            </a:r>
          </a:p>
          <a:p/>
          <a:p>
            <a:r>
              <a:t>THE LOOP: residual analysis asks "is there moderation signal the current axes don't carry?" -&gt; flags candidates -&gt; each faces a PRE-REGISTERED admission gate (cross-dataset transfer, margin over null, fuzz test).</a:t>
            </a:r>
          </a:p>
          <a:p/>
          <a:p>
            <a:r>
              <a:t>SCORECARD — the rejections are the credibility: 3 flagged. 1 VALIDATED: identity_attack, held-out AUROC 0.80 CI [0.78-0.83], two corpora, n=6400 — live as a 10th channel. 1 RETRACTED: threat (failed balanced resample). 1 DECLINED: sexual content — a PLATFORM POLICY signal, not a moral axis (consensual explicitness isn't a moral violation; the moral weight was harassment, already covered). PLUS: a registered rescue of the rights channel was REFUTED (trained 0.509 vs null 0.512) — it stays a hand-specified hard channel. The gate really rejects, in both directions.</a:t>
            </a:r>
          </a:p>
          <a:p/>
          <a:p>
            <a:r>
              <a:t>Also: cross-lingual invariance at scale 0.72-0.80 across es/ar/zh/hi/sw, harmful ≈ benign.</a:t>
            </a:r>
          </a:p>
          <a:p/>
          <a:p>
            <a:r>
              <a:t>HONESTY LINE: these validations are on the learned-encoder perception layer (xbse); re-running the paper's five tracks natively through this instrument IS the extended version.</a:t>
            </a:r>
          </a:p>
          <a:p>
            <a:r>
              <a:t>If asked "isn't identity_attack just a Perspective API label?": the LABEL exists; the contribution is the INSTRUMENT — discovery from residuals, pre-registered admission, provenance-carrying deployment. Two scope notes we volunteer: the gate leg is cross-dataset structure over a jointly-trained pair (strict train-A/test-B and a third corpus are open), and flag/validation corpora overlap at the family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029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2340"/>
                </a:solidFill>
                <a:latin typeface="Calibri"/>
              </a:rPr>
              <a:t>Selective Invariance Violations in
Large Language Model Moral Judgment</a:t>
            </a:r>
          </a:p>
          <a:p>
            <a:pPr algn="ctr">
              <a:spcAft>
                <a:spcPts val="2200"/>
              </a:spcAft>
            </a:pPr>
            <a:r>
              <a:rPr sz="1900">
                <a:solidFill>
                  <a:srgbClr val="2171B5"/>
                </a:solidFill>
                <a:latin typeface="Calibri"/>
              </a:rPr>
              <a:t>A Geometric Framework for Behavioral Manipulation Detection</a:t>
            </a:r>
          </a:p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A2340"/>
                </a:solidFill>
                <a:latin typeface="Calibri"/>
              </a:rPr>
              <a:t>Andrew H. Bond</a:t>
            </a:r>
          </a:p>
          <a:p>
            <a:pPr algn="ctr">
              <a:spcAft>
                <a:spcPts val="1600"/>
              </a:spcAft>
            </a:pPr>
            <a:r>
              <a:rPr sz="1400">
                <a:solidFill>
                  <a:srgbClr val="636363"/>
                </a:solidFill>
                <a:latin typeface="Calibri"/>
              </a:rPr>
              <a:t>Dept. of Computer Engineering, San Jose State University</a:t>
            </a:r>
          </a:p>
          <a:p>
            <a:pPr algn="ctr">
              <a:spcAft>
                <a:spcPts val="600"/>
              </a:spcAft>
            </a:pPr>
            <a:r>
              <a:rPr sz="1400" i="1">
                <a:solidFill>
                  <a:srgbClr val="1A2340"/>
                </a:solidFill>
                <a:latin typeface="Calibri"/>
              </a:rPr>
              <a:t>IEEE BigDataService 2026 — Special Track on Secure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problem: LLMs as decision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LLMs increasingly gate </a:t>
            </a:r>
            <a:r>
              <a:rPr sz="1700" b="1">
                <a:solidFill>
                  <a:srgbClr val="2171B5"/>
                </a:solidFill>
                <a:latin typeface="Calibri"/>
              </a:rPr>
              <a:t>safety-critical decisions</a:t>
            </a:r>
            <a:r>
              <a:rPr sz="1700">
                <a:solidFill>
                  <a:srgbClr val="202020"/>
                </a:solidFill>
                <a:latin typeface="Calibri"/>
              </a:rPr>
              <a:t> — content moderation, clinical triage, legal analysis.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 secure evaluator should judge the </a:t>
            </a:r>
            <a:r>
              <a:rPr sz="1700" b="1">
                <a:solidFill>
                  <a:srgbClr val="2171B5"/>
                </a:solidFill>
                <a:latin typeface="Calibri"/>
              </a:rPr>
              <a:t>facts</a:t>
            </a:r>
            <a:r>
              <a:rPr sz="1700">
                <a:solidFill>
                  <a:srgbClr val="202020"/>
                </a:solidFill>
                <a:latin typeface="Calibri"/>
              </a:rPr>
              <a:t>, not their </a:t>
            </a:r>
            <a:r>
              <a:rPr sz="1700" b="1">
                <a:solidFill>
                  <a:srgbClr val="2171B5"/>
                </a:solidFill>
                <a:latin typeface="Calibri"/>
              </a:rPr>
              <a:t>presentation</a:t>
            </a:r>
            <a:r>
              <a:rPr sz="17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D95F02"/>
                </a:solidFill>
                <a:latin typeface="Calibri"/>
              </a:rPr>
              <a:t>Behavioral manipulation vulnerability</a:t>
            </a:r>
            <a:r>
              <a:rPr sz="1700">
                <a:solidFill>
                  <a:srgbClr val="202020"/>
                </a:solidFill>
                <a:latin typeface="Calibri"/>
              </a:rPr>
              <a:t>: an attacker shifts the decision by changing morally </a:t>
            </a:r>
            <a:r>
              <a:rPr sz="1700" i="1">
                <a:solidFill>
                  <a:srgbClr val="202020"/>
                </a:solidFill>
                <a:latin typeface="Calibri"/>
              </a:rPr>
              <a:t>irrelevant</a:t>
            </a:r>
            <a:r>
              <a:rPr sz="1700">
                <a:solidFill>
                  <a:srgbClr val="202020"/>
                </a:solidFill>
                <a:latin typeface="Calibri"/>
              </a:rPr>
              <a:t> surface features — framing, tone, sensory detail — without changing the underlying situation.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The measurement gap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Prior work probes one bias at a time and reports a </a:t>
            </a:r>
            <a:r>
              <a:rPr sz="1600" b="1">
                <a:solidFill>
                  <a:srgbClr val="2171B5"/>
                </a:solidFill>
                <a:latin typeface="Calibri"/>
              </a:rPr>
              <a:t>single scalar robustness score</a:t>
            </a:r>
            <a:r>
              <a:rPr sz="1600">
                <a:solidFill>
                  <a:srgbClr val="202020"/>
                </a:solidFill>
                <a:latin typeface="Calibri"/>
              </a:rPr>
              <a:t>. Across n independent failure directions, a scalar discards n−1 of them. </a:t>
            </a:r>
            <a:r>
              <a:rPr sz="1600" b="1">
                <a:solidFill>
                  <a:srgbClr val="D95F02"/>
                </a:solidFill>
                <a:latin typeface="Calibri"/>
              </a:rPr>
              <a:t>No post-hoc procedure recovers the lost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Our approach: a geometric vulnerability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7223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Map each judgment to a point in a </a:t>
            </a:r>
            <a:r>
              <a:rPr sz="1700" b="1">
                <a:solidFill>
                  <a:srgbClr val="2171B5"/>
                </a:solidFill>
                <a:latin typeface="Calibri"/>
              </a:rPr>
              <a:t>7-D harm space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(physical, emotional, financial, autonomy, trust, social, identity; each 0–10).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Apply qualitatively distinct </a:t>
            </a:r>
            <a:r>
              <a:rPr sz="1700" b="1">
                <a:solidFill>
                  <a:srgbClr val="2171B5"/>
                </a:solidFill>
                <a:latin typeface="Calibri"/>
              </a:rPr>
              <a:t>perturbations</a:t>
            </a:r>
            <a:r>
              <a:rPr sz="1700">
                <a:solidFill>
                  <a:srgbClr val="202020"/>
                </a:solidFill>
                <a:latin typeface="Calibri"/>
              </a:rPr>
              <a:t>; measure </a:t>
            </a:r>
            <a:r>
              <a:rPr sz="17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700">
                <a:solidFill>
                  <a:srgbClr val="202020"/>
                </a:solidFill>
                <a:latin typeface="Calibri"/>
              </a:rPr>
              <a:t> of the judgment vector.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Output a </a:t>
            </a:r>
            <a:r>
              <a:rPr sz="1700" b="1">
                <a:solidFill>
                  <a:srgbClr val="2171B5"/>
                </a:solidFill>
                <a:latin typeface="Calibri"/>
              </a:rPr>
              <a:t>per-model vulnerability profile</a:t>
            </a:r>
            <a:r>
              <a:rPr sz="1700">
                <a:solidFill>
                  <a:srgbClr val="202020"/>
                </a:solidFill>
                <a:latin typeface="Calibri"/>
              </a:rPr>
              <a:t>, not one number.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Runs under a realistic </a:t>
            </a:r>
            <a:r>
              <a:rPr sz="1700" b="1">
                <a:solidFill>
                  <a:srgbClr val="2171B5"/>
                </a:solidFill>
                <a:latin typeface="Calibri"/>
              </a:rPr>
              <a:t>$50/day</a:t>
            </a:r>
            <a:r>
              <a:rPr sz="1700">
                <a:solidFill>
                  <a:srgbClr val="202020"/>
                </a:solidFill>
                <a:latin typeface="Calibri"/>
              </a:rPr>
              <a:t> compute budget.</a:t>
            </a:r>
          </a:p>
        </p:txBody>
      </p:sp>
      <p:pic>
        <p:nvPicPr>
          <p:cNvPr id="6" name="Picture 5" descr="erisml_appl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371600"/>
            <a:ext cx="2194560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3749039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The 7-D space is a measurement-reliable projection of the </a:t>
            </a:r>
            <a:r>
              <a:rPr sz="1200" b="1">
                <a:solidFill>
                  <a:srgbClr val="2171B5"/>
                </a:solidFill>
                <a:latin typeface="Calibri"/>
              </a:rPr>
              <a:t>DEME v3</a:t>
            </a:r>
            <a:r>
              <a:rPr sz="1200">
                <a:solidFill>
                  <a:srgbClr val="636363"/>
                </a:solidFill>
                <a:latin typeface="Calibri"/>
              </a:rPr>
              <a:t> 9-D moral vector (correspondence table in backup).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1 — Vulnerabilities are selective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Displace judgments (real attack surface):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Linguistic framing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Emotional anchoring</a:t>
            </a:r>
            <a:r>
              <a:rPr sz="1600">
                <a:solidFill>
                  <a:srgbClr val="202020"/>
                </a:solidFill>
                <a:latin typeface="Calibri"/>
              </a:rPr>
              <a:t>  (dᵧ = 0.60–1.06)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Irrelevant sensory detail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Do </a:t>
            </a:r>
            <a:r>
              <a:rPr sz="1600" i="1">
                <a:solidFill>
                  <a:srgbClr val="202020"/>
                </a:solidFill>
                <a:latin typeface="Calibri"/>
              </a:rPr>
              <a:t>not</a:t>
            </a:r>
            <a:r>
              <a:rPr sz="1600" b="1">
                <a:solidFill>
                  <a:srgbClr val="202020"/>
                </a:solidFill>
                <a:latin typeface="Calibri"/>
              </a:rPr>
              <a:t> displace: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Gender swap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Evaluation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058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The common thread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The three live surfaces all make morally irrelevant features </a:t>
            </a:r>
            <a:r>
              <a:rPr sz="1500" b="1">
                <a:solidFill>
                  <a:srgbClr val="2171B5"/>
                </a:solidFill>
                <a:latin typeface="Calibri"/>
              </a:rPr>
              <a:t>perceptually salient</a:t>
            </a:r>
            <a:r>
              <a:rPr sz="15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⇒ The attack mechanism is </a:t>
            </a:r>
            <a:r>
              <a:rPr sz="1500" b="1">
                <a:solidFill>
                  <a:srgbClr val="D95F02"/>
                </a:solidFill>
                <a:latin typeface="Calibri"/>
              </a:rPr>
              <a:t>salience manipulation</a:t>
            </a:r>
            <a:r>
              <a:rPr sz="1500">
                <a:solidFill>
                  <a:srgbClr val="202020"/>
                </a:solidFill>
                <a:latin typeface="Calibri"/>
              </a:rPr>
              <a:t> — and the framework discriminates it from noise.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We lead with </a:t>
            </a:r>
            <a:r>
              <a:rPr sz="1200" b="1">
                <a:solidFill>
                  <a:srgbClr val="2171B5"/>
                </a:solidFill>
                <a:latin typeface="Calibri"/>
              </a:rPr>
              <a:t>effect sizes</a:t>
            </a:r>
            <a:r>
              <a:rPr sz="1200">
                <a:solidFill>
                  <a:srgbClr val="636363"/>
                </a:solidFill>
                <a:latin typeface="Calibri"/>
              </a:rPr>
              <a:t> (paired dᵧ, displacement in harm-points) over σ; empirical control arms rule out stochastic drift.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2 — Robustness profiles are dissociable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No model dominates</a:t>
            </a:r>
            <a:r>
              <a:rPr sz="1700">
                <a:solidFill>
                  <a:srgbClr val="202020"/>
                </a:solidFill>
                <a:latin typeface="Calibri"/>
              </a:rPr>
              <a:t> all attack surfaces.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Claude: </a:t>
            </a:r>
            <a:r>
              <a:rPr sz="1700" b="1">
                <a:solidFill>
                  <a:srgbClr val="D95F02"/>
                </a:solidFill>
                <a:latin typeface="Calibri"/>
              </a:rPr>
              <a:t>zero observed sycophancy</a:t>
            </a:r>
            <a:r>
              <a:rPr sz="1700">
                <a:solidFill>
                  <a:srgbClr val="202020"/>
                </a:solidFill>
                <a:latin typeface="Calibri"/>
              </a:rPr>
              <a:t> (0/9)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emotional-anchoring recovery (20%) and worst divided attention.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Flash 2.0: </a:t>
            </a:r>
            <a:r>
              <a:rPr sz="1700" b="1">
                <a:solidFill>
                  <a:srgbClr val="D95F02"/>
                </a:solidFill>
                <a:latin typeface="Calibri"/>
              </a:rPr>
              <a:t>best</a:t>
            </a:r>
            <a:r>
              <a:rPr sz="1700">
                <a:solidFill>
                  <a:srgbClr val="202020"/>
                </a:solidFill>
                <a:latin typeface="Calibri"/>
              </a:rPr>
              <a:t> anchoring recovery (73%)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working memory.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11155680" cy="201168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Averaging partially-independent dimensions yields a number that </a:t>
            </a:r>
            <a:r>
              <a:rPr sz="1600" b="1">
                <a:solidFill>
                  <a:srgbClr val="D95F02"/>
                </a:solidFill>
                <a:latin typeface="Calibri"/>
              </a:rPr>
              <a:t>describes no model accurately.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Single-test certification provides false assurance.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Validation (reviewer-driven) — is the harm space measurable?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Calibri"/>
              </a:rPr>
              <a:t>Is the 7-D space reliably measurable, or asserted?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Inter-model agreement over an </a:t>
            </a:r>
            <a:r>
              <a:rPr sz="1500" b="1">
                <a:solidFill>
                  <a:srgbClr val="2171B5"/>
                </a:solidFill>
                <a:latin typeface="Calibri"/>
              </a:rPr>
              <a:t>open, multi-family panel</a:t>
            </a:r>
            <a:r>
              <a:rPr sz="1500">
                <a:solidFill>
                  <a:srgbClr val="202020"/>
                </a:solidFill>
                <a:latin typeface="Calibri"/>
              </a:rPr>
              <a:t> (6 models, 5 families: Qwen3, Qwen3-small, GLM-5, GPT-OSS, MiniMax-M2, Gemma) via the </a:t>
            </a:r>
            <a:r>
              <a:rPr sz="1500" b="1">
                <a:solidFill>
                  <a:srgbClr val="2171B5"/>
                </a:solidFill>
                <a:latin typeface="Calibri"/>
              </a:rPr>
              <a:t>NRP managed LLM API</a:t>
            </a:r>
            <a:r>
              <a:rPr sz="1500">
                <a:solidFill>
                  <a:srgbClr val="202020"/>
                </a:solidFill>
                <a:latin typeface="Calibri"/>
              </a:rPr>
              <a:t>; 31 scenarios, disjoint from systems under test, fully reproducible.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27248" y="2788920"/>
          <a:ext cx="5943600" cy="164591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463040"/>
                <a:gridCol w="1463040"/>
              </a:tblGrid>
              <a:tr h="32918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ICC(2,k)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Krippendorff α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 (highest)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0.902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0.958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/ Autonomy (lowest)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0.893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≈0.57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0.836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920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Test–retest median r = 0.96. Dimensions index a shared structure across model families.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Worked exploit: threshold evasion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202020"/>
                </a:solidFill>
                <a:latin typeface="Calibri"/>
              </a:rPr>
              <a:t>Content-moderation filter: flag if total harm &gt; T.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Euphemistic rewriting (morally invariant) lowers panel-averaged harm by </a:t>
            </a:r>
            <a:r>
              <a:rPr sz="1700" b="1">
                <a:solidFill>
                  <a:srgbClr val="D95F02"/>
                </a:solidFill>
                <a:latin typeface="Calibri"/>
              </a:rPr>
              <a:t>−14.0 points</a:t>
            </a:r>
            <a:r>
              <a:rPr sz="1700">
                <a:solidFill>
                  <a:srgbClr val="202020"/>
                </a:solidFill>
                <a:latin typeface="Calibri"/>
              </a:rPr>
              <a:t> on the 0–70 scale (4/6 gold &gt; 10 pts); dramatic only +7.3.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At a median-calibrated threshold, </a:t>
            </a:r>
            <a:r>
              <a:rPr sz="1700" b="1">
                <a:solidFill>
                  <a:srgbClr val="D95F02"/>
                </a:solidFill>
                <a:latin typeface="Calibri"/>
              </a:rPr>
              <a:t>3 of 6</a:t>
            </a:r>
            <a:r>
              <a:rPr sz="1700">
                <a:solidFill>
                  <a:srgbClr val="202020"/>
                </a:solidFill>
                <a:latin typeface="Calibri"/>
              </a:rPr>
              <a:t> gold items silently reclassify FLAG → PASS </a:t>
            </a:r>
            <a:r>
              <a:rPr sz="1700" i="1">
                <a:solidFill>
                  <a:srgbClr val="202020"/>
                </a:solidFill>
                <a:latin typeface="Calibri"/>
              </a:rPr>
              <a:t>(existence proof: n = 6 hand-audited gold items).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D95F02"/>
                </a:solidFill>
                <a:latin typeface="Calibri"/>
              </a:rPr>
              <a:t>Asymmetry</a:t>
            </a:r>
            <a:r>
              <a:rPr sz="1700">
                <a:solidFill>
                  <a:srgbClr val="202020"/>
                </a:solidFill>
                <a:latin typeface="Calibri"/>
              </a:rPr>
              <a:t>: far easier to </a:t>
            </a:r>
            <a:r>
              <a:rPr sz="1700" i="1">
                <a:solidFill>
                  <a:srgbClr val="202020"/>
                </a:solidFill>
                <a:latin typeface="Calibri"/>
              </a:rPr>
              <a:t>evade</a:t>
            </a:r>
            <a:r>
              <a:rPr sz="1700">
                <a:solidFill>
                  <a:srgbClr val="202020"/>
                </a:solidFill>
                <a:latin typeface="Calibri"/>
              </a:rPr>
              <a:t> (hide harm) than to </a:t>
            </a:r>
            <a:r>
              <a:rPr sz="1700" i="1">
                <a:solidFill>
                  <a:srgbClr val="202020"/>
                </a:solidFill>
                <a:latin typeface="Calibri"/>
              </a:rPr>
              <a:t>trigger</a:t>
            </a:r>
            <a:r>
              <a:rPr sz="1700">
                <a:solidFill>
                  <a:srgbClr val="202020"/>
                </a:solidFill>
                <a:latin typeface="Calibri"/>
              </a:rPr>
              <a:t> a false positive — the dangerous direction.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exploit survives a principled kernel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Route each scenario through the real </a:t>
            </a:r>
            <a:r>
              <a:rPr sz="1600" b="1">
                <a:solidFill>
                  <a:srgbClr val="2171B5"/>
                </a:solidFill>
                <a:latin typeface="Calibri"/>
              </a:rPr>
              <a:t>ErisML DEME v3</a:t>
            </a:r>
            <a:r>
              <a:rPr sz="1600">
                <a:solidFill>
                  <a:srgbClr val="202020"/>
                </a:solidFill>
                <a:latin typeface="Calibri"/>
              </a:rPr>
              <a:t> decision kernel: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text → </a:t>
            </a:r>
            <a:r>
              <a:rPr sz="1400" b="1">
                <a:solidFill>
                  <a:srgbClr val="2171B5"/>
                </a:solidFill>
                <a:latin typeface="Calibri"/>
              </a:rPr>
              <a:t>LLM extracts ethical facts</a:t>
            </a:r>
            <a:r>
              <a:rPr sz="1400">
                <a:solidFill>
                  <a:srgbClr val="202020"/>
                </a:solidFill>
                <a:latin typeface="Calibri"/>
              </a:rPr>
              <a:t> → </a:t>
            </a:r>
            <a:r>
              <a:rPr sz="1400">
                <a:solidFill>
                  <a:srgbClr val="202020"/>
                </a:solidFill>
                <a:latin typeface="Consolas"/>
              </a:rPr>
              <a:t>GenevaEMV3</a:t>
            </a:r>
            <a:r>
              <a:rPr sz="1400">
                <a:solidFill>
                  <a:srgbClr val="202020"/>
                </a:solidFill>
                <a:latin typeface="Calibri"/>
              </a:rPr>
              <a:t> → typed verdict   </a:t>
            </a:r>
            <a:r>
              <a:rPr sz="1400">
                <a:solidFill>
                  <a:srgbClr val="202020"/>
                </a:solidFill>
                <a:latin typeface="Calibri"/>
              </a:rPr>
              <a:t>(forbid → avoid → neutral → prefer → strongly_prefer)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31720"/>
            <a:ext cx="11155680" cy="228600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Across 161 scenario–model cases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Euphemistic rewriting flips forbid/avoid → permissive in </a:t>
            </a:r>
            <a:r>
              <a:rPr sz="1600" b="1">
                <a:solidFill>
                  <a:srgbClr val="D95F02"/>
                </a:solidFill>
                <a:latin typeface="Calibri"/>
              </a:rPr>
              <a:t>13.7%</a:t>
            </a:r>
            <a:r>
              <a:rPr sz="1600">
                <a:solidFill>
                  <a:srgbClr val="202020"/>
                </a:solidFill>
                <a:latin typeface="Calibri"/>
              </a:rPr>
              <a:t> of cases; mean shift </a:t>
            </a:r>
            <a:r>
              <a:rPr sz="1600" b="1">
                <a:solidFill>
                  <a:srgbClr val="D95F02"/>
                </a:solidFill>
                <a:latin typeface="Calibri"/>
              </a:rPr>
              <a:t>+0.65</a:t>
            </a:r>
            <a:r>
              <a:rPr sz="1600">
                <a:solidFill>
                  <a:srgbClr val="202020"/>
                </a:solidFill>
                <a:latin typeface="Calibri"/>
              </a:rPr>
              <a:t> ordinal steps.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forbid verdicts fall </a:t>
            </a:r>
            <a:r>
              <a:rPr sz="1600" b="1">
                <a:solidFill>
                  <a:srgbClr val="D95F02"/>
                </a:solidFill>
                <a:latin typeface="Calibri"/>
              </a:rPr>
              <a:t>44 → 27</a:t>
            </a:r>
            <a:r>
              <a:rPr sz="1600">
                <a:solidFill>
                  <a:srgbClr val="202020"/>
                </a:solidFill>
                <a:latin typeface="Calibri"/>
              </a:rPr>
              <a:t> (−39%); strongly_prefer rises 46 → 78.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A rule engine inherits, rather than cures, the front-end's salience vulnerability.</a:t>
            </a:r>
            <a:r>
              <a:rPr sz="1600">
                <a:solidFill>
                  <a:srgbClr val="202020"/>
                </a:solidFill>
                <a:latin typeface="Calibri"/>
              </a:rPr>
              <a:t>  Harden </a:t>
            </a:r>
            <a:r>
              <a:rPr sz="1600" i="1">
                <a:solidFill>
                  <a:srgbClr val="202020"/>
                </a:solidFill>
                <a:latin typeface="Calibri"/>
              </a:rPr>
              <a:t>fact extraction</a:t>
            </a:r>
            <a:r>
              <a:rPr sz="1600">
                <a:solidFill>
                  <a:srgbClr val="202020"/>
                </a:solidFill>
                <a:latin typeface="Calibri"/>
              </a:rPr>
              <a:t>, not just the rule.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a measured defense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Second instantiation from here on: validated learned encoders (</a:t>
            </a:r>
            <a:r>
              <a:rPr sz="1300">
                <a:solidFill>
                  <a:srgbClr val="636363"/>
                </a:solidFill>
                <a:latin typeface="Consolas"/>
              </a:rPr>
              <a:t>xbse</a:t>
            </a:r>
            <a:r>
              <a:rPr sz="1300">
                <a:solidFill>
                  <a:srgbClr val="636363"/>
                </a:solidFill>
                <a:latin typeface="Calibri"/>
              </a:rPr>
              <a:t>) replace LLM judges; same DEME kernel.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Equivalence-class averaging</a:t>
            </a:r>
            <a:r>
              <a:rPr sz="1600">
                <a:solidFill>
                  <a:srgbClr val="202020"/>
                </a:solidFill>
                <a:latin typeface="Calibri"/>
              </a:rPr>
              <a:t>: generate the input's paraphrase class (m paraphrases), </a:t>
            </a:r>
            <a:r>
              <a:rPr sz="1600" b="1">
                <a:solidFill>
                  <a:srgbClr val="2171B5"/>
                </a:solidFill>
                <a:latin typeface="Calibri"/>
              </a:rPr>
              <a:t>average per-dimension perception over the class</a:t>
            </a:r>
            <a:r>
              <a:rPr sz="1600">
                <a:solidFill>
                  <a:srgbClr val="202020"/>
                </a:solidFill>
                <a:latin typeface="Calibri"/>
              </a:rPr>
              <a:t>, then decide.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At scale (60 held-out items, m = 6): raw drift </a:t>
            </a:r>
            <a:r>
              <a:rPr sz="1600" b="1">
                <a:solidFill>
                  <a:srgbClr val="D95F02"/>
                </a:solidFill>
                <a:latin typeface="Calibri"/>
              </a:rPr>
              <a:t>0.407 → θₔ = 0.219</a:t>
            </a:r>
            <a:r>
              <a:rPr sz="1600">
                <a:solidFill>
                  <a:srgbClr val="202020"/>
                </a:solidFill>
                <a:latin typeface="Calibri"/>
              </a:rPr>
              <a:t> — the mechanism </a:t>
            </a:r>
            <a:r>
              <a:rPr sz="1600" b="1">
                <a:solidFill>
                  <a:srgbClr val="2171B5"/>
                </a:solidFill>
                <a:latin typeface="Calibri"/>
              </a:rPr>
              <a:t>halves</a:t>
            </a:r>
            <a:r>
              <a:rPr sz="1600">
                <a:solidFill>
                  <a:srgbClr val="202020"/>
                </a:solidFill>
                <a:latin typeface="Calibri"/>
              </a:rPr>
              <a:t> salience drift (θₔ: mean per-dimension decision movement). The registered bar θₔ ≤ 0.5 </a:t>
            </a:r>
            <a:r>
              <a:rPr sz="1600" b="1">
                <a:solidFill>
                  <a:srgbClr val="2171B5"/>
                </a:solidFill>
                <a:latin typeface="Calibri"/>
              </a:rPr>
              <a:t>binds for adversarial-register inputs</a:t>
            </a:r>
            <a:r>
              <a:rPr sz="1600">
                <a:solidFill>
                  <a:srgbClr val="202020"/>
                </a:solidFill>
                <a:latin typeface="Calibri"/>
              </a:rPr>
              <a:t> (raw 0.67–0.85); the defended run there is the registered open item.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LLM paraphrasers </a:t>
            </a:r>
            <a:r>
              <a:rPr sz="1600" b="1">
                <a:solidFill>
                  <a:srgbClr val="D95F02"/>
                </a:solidFill>
                <a:latin typeface="Calibri"/>
              </a:rPr>
              <a:t>refuse 24%</a:t>
            </a:r>
            <a:r>
              <a:rPr sz="1600">
                <a:solidFill>
                  <a:srgbClr val="202020"/>
                </a:solidFill>
                <a:latin typeface="Calibri"/>
              </a:rPr>
              <a:t> of harmful inputs. A non-refusing red-team paraphraser (NLLB back-translation, 6 pivots): </a:t>
            </a:r>
            <a:r>
              <a:rPr sz="1600" b="1">
                <a:solidFill>
                  <a:srgbClr val="D95F02"/>
                </a:solidFill>
                <a:latin typeface="Calibri"/>
              </a:rPr>
              <a:t>θₔ = 0.301</a:t>
            </a:r>
            <a:r>
              <a:rPr sz="1600">
                <a:solidFill>
                  <a:srgbClr val="202020"/>
                </a:solidFill>
                <a:latin typeface="Calibri"/>
              </a:rPr>
              <a:t> on harmful content — the weakness is the </a:t>
            </a:r>
            <a:r>
              <a:rPr sz="1600" b="1">
                <a:solidFill>
                  <a:srgbClr val="2171B5"/>
                </a:solidFill>
                <a:latin typeface="Calibri"/>
              </a:rPr>
              <a:t>generator's</a:t>
            </a:r>
            <a:r>
              <a:rPr sz="1600">
                <a:solidFill>
                  <a:srgbClr val="202020"/>
                </a:solidFill>
                <a:latin typeface="Calibri"/>
              </a:rPr>
              <a:t>, not the mechanism's.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Trust boundary: refusal → singleton class → </a:t>
            </a:r>
            <a:r>
              <a:rPr sz="1600" b="1">
                <a:solidFill>
                  <a:srgbClr val="2171B5"/>
                </a:solidFill>
                <a:latin typeface="Calibri"/>
              </a:rPr>
              <a:t>escalate by default</a:t>
            </a:r>
            <a:r>
              <a:rPr sz="1600">
                <a:solidFill>
                  <a:srgbClr val="202020"/>
                </a:solidFill>
                <a:latin typeface="Calibri"/>
              </a:rPr>
              <a:t>; the audit proof records class members.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Natural (not adversarial) paraphrases at scale. Gold-set decision translation (measured negative, n=6): adversarial-register rewrites still flip </a:t>
            </a:r>
            <a:r>
              <a:rPr sz="1000" b="1">
                <a:solidFill>
                  <a:srgbClr val="D95F02"/>
                </a:solidFill>
                <a:latin typeface="Calibri"/>
              </a:rPr>
              <a:t>3/3</a:t>
            </a:r>
            <a:r>
              <a:rPr sz="1000">
                <a:solidFill>
                  <a:srgbClr val="636363"/>
                </a:solidFill>
                <a:latin typeface="Calibri"/>
              </a:rPr>
              <a:t> flagged items defended, displacement −17% — paraphrases of euphemism stay euphemistic; the register gap is the live surface, and escalation carries it. July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reliable ≠ distinct: the geometry is bifactor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ICC 0.969 = reliably measurable. Are the dimensions distinct?</a:t>
            </a:r>
            <a:r>
              <a:rPr sz="1500">
                <a:solidFill>
                  <a:srgbClr val="202020"/>
                </a:solidFill>
                <a:latin typeface="Calibri"/>
              </a:rPr>
              <a:t>  A registered test against our own axes: a </a:t>
            </a:r>
            <a:r>
              <a:rPr sz="1500" b="1">
                <a:solidFill>
                  <a:srgbClr val="2171B5"/>
                </a:solidFill>
                <a:latin typeface="Calibri"/>
              </a:rPr>
              <a:t>general moral-valence channel G</a:t>
            </a:r>
            <a:r>
              <a:rPr sz="1500">
                <a:solidFill>
                  <a:srgbClr val="202020"/>
                </a:solidFill>
                <a:latin typeface="Calibri"/>
              </a:rPr>
              <a:t> gate-passes (AUROC </a:t>
            </a:r>
            <a:r>
              <a:rPr sz="1500" b="1">
                <a:solidFill>
                  <a:srgbClr val="D95F02"/>
                </a:solidFill>
                <a:latin typeface="Calibri"/>
              </a:rPr>
              <a:t>0.856</a:t>
            </a:r>
            <a:r>
              <a:rPr sz="1500">
                <a:solidFill>
                  <a:srgbClr val="202020"/>
                </a:solidFill>
                <a:latin typeface="Calibri"/>
              </a:rPr>
              <a:t>); five named axes are ≥ </a:t>
            </a:r>
            <a:r>
              <a:rPr sz="1500" b="1">
                <a:solidFill>
                  <a:srgbClr val="D95F02"/>
                </a:solidFill>
                <a:latin typeface="Calibri"/>
              </a:rPr>
              <a:t>0.98</a:t>
            </a:r>
            <a:r>
              <a:rPr sz="1500">
                <a:solidFill>
                  <a:srgbClr val="202020"/>
                </a:solidFill>
                <a:latin typeface="Calibri"/>
              </a:rPr>
              <a:t> predictable from G alone.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74519"/>
          <a:ext cx="58521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92240" y="1874519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A scalar </a:t>
            </a:r>
            <a:r>
              <a:rPr sz="1400" i="1">
                <a:solidFill>
                  <a:srgbClr val="202020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score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measured, not argued</a:t>
            </a:r>
            <a:r>
              <a:rPr sz="1400">
                <a:solidFill>
                  <a:srgbClr val="202020"/>
                </a:solidFill>
                <a:latin typeface="Calibri"/>
              </a:rPr>
              <a:t>, to be mostly G — and a scalar robustness score inherits the collapse by construction.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vulnerability structure lives in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surviving specific axes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206240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  <a:latin typeface="Calibri"/>
              </a:rPr>
              <a:t>And the </a:t>
            </a:r>
            <a:r>
              <a:rPr sz="1300" b="1">
                <a:solidFill>
                  <a:srgbClr val="2171B5"/>
                </a:solidFill>
                <a:latin typeface="Calibri"/>
              </a:rPr>
              <a:t>judge panel's own 31×7 score matrix replicates it</a:t>
            </a:r>
            <a:r>
              <a:rPr sz="1300">
                <a:solidFill>
                  <a:srgbClr val="202020"/>
                </a:solidFill>
                <a:latin typeface="Calibri"/>
              </a:rPr>
              <a:t>: PC1 = </a:t>
            </a:r>
            <a:r>
              <a:rPr sz="1300" b="1">
                <a:solidFill>
                  <a:srgbClr val="D95F02"/>
                </a:solidFill>
                <a:latin typeface="Calibri"/>
              </a:rPr>
              <a:t>54%</a:t>
            </a:r>
            <a:r>
              <a:rPr sz="1300">
                <a:solidFill>
                  <a:srgbClr val="202020"/>
                </a:solidFill>
                <a:latin typeface="Calibri"/>
              </a:rPr>
              <a:t> of variance, the only component surviving parallel analysis — </a:t>
            </a:r>
            <a:r>
              <a:rPr sz="1300" b="1">
                <a:solidFill>
                  <a:srgbClr val="2171B5"/>
                </a:solidFill>
                <a:latin typeface="Calibri"/>
              </a:rPr>
              <a:t>physical</a:t>
            </a:r>
            <a:r>
              <a:rPr sz="1300">
                <a:solidFill>
                  <a:srgbClr val="202020"/>
                </a:solidFill>
                <a:latin typeface="Calibri"/>
              </a:rPr>
              <a:t> fully specific there too (R² ≈ 0), </a:t>
            </a:r>
            <a:r>
              <a:rPr sz="1300" b="1">
                <a:solidFill>
                  <a:srgbClr val="2171B5"/>
                </a:solidFill>
                <a:latin typeface="Calibri"/>
              </a:rPr>
              <a:t>emotional/trust</a:t>
            </a:r>
            <a:r>
              <a:rPr sz="1300">
                <a:solidFill>
                  <a:srgbClr val="202020"/>
                </a:solidFill>
                <a:latin typeface="Calibri"/>
              </a:rPr>
              <a:t> most G-laden; financial and identity diverge across instantiations.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Bifactor: learned-encoder instantiation (</a:t>
            </a:r>
            <a:r>
              <a:rPr sz="1000">
                <a:solidFill>
                  <a:srgbClr val="636363"/>
                </a:solidFill>
                <a:latin typeface="Consolas"/>
              </a:rPr>
              <a:t>xbse</a:t>
            </a:r>
            <a:r>
              <a:rPr sz="1000">
                <a:solidFill>
                  <a:srgbClr val="636363"/>
                </a:solidFill>
                <a:latin typeface="Calibri"/>
              </a:rPr>
              <a:t>), 12×12 gate at margin 0.05; identity_attack divergence recorded, not adjudicated. Panel FA: Horn's parallel analysis, n=31; per-judge FAs agree — one factor in all six models (PC1 0.51–0.60), Tucker congruence 0.989–0.999 vs consensus. July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Implications for Secure AI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Where to look</a:t>
            </a:r>
            <a:r>
              <a:rPr sz="1700">
                <a:solidFill>
                  <a:srgbClr val="202020"/>
                </a:solidFill>
                <a:latin typeface="Calibri"/>
              </a:rPr>
              <a:t>: attacks that repackage the same facts with different </a:t>
            </a:r>
            <a:r>
              <a:rPr sz="1700" b="1">
                <a:solidFill>
                  <a:srgbClr val="D95F02"/>
                </a:solidFill>
                <a:latin typeface="Calibri"/>
              </a:rPr>
              <a:t>salience</a:t>
            </a:r>
            <a:r>
              <a:rPr sz="1700">
                <a:solidFill>
                  <a:srgbClr val="202020"/>
                </a:solidFill>
                <a:latin typeface="Calibri"/>
              </a:rPr>
              <a:t> (euphemistic minimization).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Prompt-level defenses are bounded</a:t>
            </a:r>
            <a:r>
              <a:rPr sz="1700">
                <a:solidFill>
                  <a:srgbClr val="202020"/>
                </a:solidFill>
                <a:latin typeface="Calibri"/>
              </a:rPr>
              <a:t>: explicit warnings recover only ~38% — a ceiling co-occurring with universal overconfidence (ECE 0.19–0.42).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Ask the right question</a:t>
            </a:r>
            <a:r>
              <a:rPr sz="1700">
                <a:solidFill>
                  <a:srgbClr val="202020"/>
                </a:solidFill>
                <a:latin typeface="Calibri"/>
              </a:rPr>
              <a:t>: “which vulnerabilities matter for our use case?” — not “what's the robustness score?”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Hardening target</a:t>
            </a:r>
            <a:r>
              <a:rPr sz="1700">
                <a:solidFill>
                  <a:srgbClr val="202020"/>
                </a:solidFill>
                <a:latin typeface="Calibri"/>
              </a:rPr>
              <a:t>: the fact-extraction front-end, since downstream kernels inherit its failures.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larger program: philosophy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This paper is one instance of a method: take a construct usually settled by </a:t>
            </a:r>
            <a:r>
              <a:rPr sz="1600" b="1">
                <a:solidFill>
                  <a:srgbClr val="2171B5"/>
                </a:solidFill>
                <a:latin typeface="Calibri"/>
              </a:rPr>
              <a:t>argument</a:t>
            </a:r>
            <a:r>
              <a:rPr sz="1600">
                <a:solidFill>
                  <a:srgbClr val="202020"/>
                </a:solidFill>
                <a:latin typeface="Calibri"/>
              </a:rPr>
              <a:t> — what is a harm? has this judgment been manipulated? — and build it into an </a:t>
            </a:r>
            <a:r>
              <a:rPr sz="1600" b="1">
                <a:solidFill>
                  <a:srgbClr val="D95F02"/>
                </a:solidFill>
                <a:latin typeface="Calibri"/>
              </a:rPr>
              <a:t>instrument</a:t>
            </a:r>
            <a:r>
              <a:rPr sz="1600">
                <a:solidFill>
                  <a:srgbClr val="202020"/>
                </a:solidFill>
                <a:latin typeface="Calibri"/>
              </a:rPr>
              <a:t> you can measure, falsify, and harden.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6080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What makes it engineering, not rhetoric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>
                <a:solidFill>
                  <a:srgbClr val="202020"/>
                </a:solidFill>
                <a:latin typeface="Calibri"/>
              </a:rPr>
              <a:t>A </a:t>
            </a:r>
            <a:r>
              <a:rPr sz="1400" b="1">
                <a:solidFill>
                  <a:srgbClr val="2171B5"/>
                </a:solidFill>
                <a:latin typeface="Calibri"/>
              </a:rPr>
              <a:t>space</a:t>
            </a:r>
            <a:r>
              <a:rPr sz="1400">
                <a:solidFill>
                  <a:srgbClr val="202020"/>
                </a:solidFill>
                <a:latin typeface="Calibri"/>
              </a:rPr>
              <a:t>, not a slogan: judgments are points, manipulation is </a:t>
            </a:r>
            <a:r>
              <a:rPr sz="14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400">
                <a:solidFill>
                  <a:srgbClr val="202020"/>
                </a:solidFill>
                <a:latin typeface="Calibri"/>
              </a:rPr>
              <a:t>, robustness is </a:t>
            </a:r>
            <a:r>
              <a:rPr sz="1400" b="1">
                <a:solidFill>
                  <a:srgbClr val="2171B5"/>
                </a:solidFill>
                <a:latin typeface="Calibri"/>
              </a:rPr>
              <a:t>invariance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 b="1">
                <a:solidFill>
                  <a:srgbClr val="2171B5"/>
                </a:solidFill>
                <a:latin typeface="Calibri"/>
              </a:rPr>
              <a:t>Pre-registration</a:t>
            </a:r>
            <a:r>
              <a:rPr sz="1400">
                <a:solidFill>
                  <a:srgbClr val="202020"/>
                </a:solidFill>
                <a:latin typeface="Calibri"/>
              </a:rPr>
              <a:t> + </a:t>
            </a:r>
            <a:r>
              <a:rPr sz="1400" b="1">
                <a:solidFill>
                  <a:srgbClr val="2171B5"/>
                </a:solidFill>
                <a:latin typeface="Calibri"/>
              </a:rPr>
              <a:t>admission gates that retract</a:t>
            </a:r>
            <a:r>
              <a:rPr sz="1400">
                <a:solidFill>
                  <a:srgbClr val="202020"/>
                </a:solidFill>
                <a:latin typeface="Calibri"/>
              </a:rPr>
              <a:t>: this talk's own bifactor test </a:t>
            </a:r>
            <a:r>
              <a:rPr sz="1400" i="1">
                <a:solidFill>
                  <a:srgbClr val="202020"/>
                </a:solidFill>
                <a:latin typeface="Calibri"/>
              </a:rPr>
              <a:t>failed</a:t>
            </a:r>
            <a:r>
              <a:rPr sz="1400">
                <a:solidFill>
                  <a:srgbClr val="202020"/>
                </a:solidFill>
                <a:latin typeface="Calibri"/>
              </a:rPr>
              <a:t> its P1; a channel rescue was </a:t>
            </a:r>
            <a:r>
              <a:rPr sz="1400" i="1">
                <a:solidFill>
                  <a:srgbClr val="202020"/>
                </a:solidFill>
                <a:latin typeface="Calibri"/>
              </a:rPr>
              <a:t>refuted</a:t>
            </a:r>
            <a:r>
              <a:rPr sz="1400">
                <a:solidFill>
                  <a:srgbClr val="202020"/>
                </a:solidFill>
                <a:latin typeface="Calibri"/>
              </a:rPr>
              <a:t>. Claims that do not transfer are </a:t>
            </a:r>
            <a:r>
              <a:rPr sz="1400" b="1">
                <a:solidFill>
                  <a:srgbClr val="D95F02"/>
                </a:solidFill>
                <a:latin typeface="Calibri"/>
              </a:rPr>
              <a:t>publicly demoted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2286000"/>
            <a:ext cx="489204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The conjecture behind the program (not tested here)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Normative and aesthetic structure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geometric</a:t>
            </a:r>
            <a:r>
              <a:rPr sz="1400">
                <a:solidFill>
                  <a:srgbClr val="202020"/>
                </a:solidFill>
                <a:latin typeface="Calibri"/>
              </a:rPr>
              <a:t> — it lives in </a:t>
            </a:r>
            <a:r>
              <a:rPr sz="1400" b="1">
                <a:solidFill>
                  <a:srgbClr val="2171B5"/>
                </a:solidFill>
                <a:latin typeface="Calibri"/>
              </a:rPr>
              <a:t>compressibility</a:t>
            </a:r>
            <a:r>
              <a:rPr sz="1400">
                <a:solidFill>
                  <a:srgbClr val="202020"/>
                </a:solidFill>
                <a:latin typeface="Calibri"/>
              </a:rPr>
              <a:t> and </a:t>
            </a:r>
            <a:r>
              <a:rPr sz="1400" b="1">
                <a:solidFill>
                  <a:srgbClr val="2171B5"/>
                </a:solidFill>
                <a:latin typeface="Calibri"/>
              </a:rPr>
              <a:t>coarse-graining under an observer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One instrument, many domains: </a:t>
            </a:r>
            <a:r>
              <a:rPr sz="1400" b="1">
                <a:solidFill>
                  <a:srgbClr val="2171B5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today; </a:t>
            </a:r>
            <a:r>
              <a:rPr sz="1400" b="1">
                <a:solidFill>
                  <a:srgbClr val="2171B5"/>
                </a:solidFill>
                <a:latin typeface="Calibri"/>
              </a:rPr>
              <a:t>aesthetics, law, cognition</a:t>
            </a:r>
            <a:r>
              <a:rPr sz="1400">
                <a:solidFill>
                  <a:srgbClr val="202020"/>
                </a:solidFill>
                <a:latin typeface="Calibri"/>
              </a:rPr>
              <a:t> on the same frame.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A philosophical claim you can </a:t>
            </a:r>
            <a:r>
              <a:rPr sz="1100" b="1">
                <a:solidFill>
                  <a:srgbClr val="D95F02"/>
                </a:solidFill>
                <a:latin typeface="Calibri"/>
              </a:rPr>
              <a:t>build, measure, and be proven wrong about</a:t>
            </a:r>
            <a:r>
              <a:rPr sz="1100">
                <a:solidFill>
                  <a:srgbClr val="636363"/>
                </a:solidFill>
                <a:latin typeface="Calibri"/>
              </a:rPr>
              <a:t> outranks one you can only defend.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356616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2171B5"/>
                </a:solidFill>
                <a:latin typeface="Calibri"/>
              </a:rPr>
              <a:t>Four takeaways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1.  Vulnerabilities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selective</a:t>
            </a:r>
            <a:r>
              <a:rPr sz="1700">
                <a:solidFill>
                  <a:srgbClr val="202020"/>
                </a:solidFill>
                <a:latin typeface="Calibri"/>
              </a:rPr>
              <a:t> — salience manipulation is the surface.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2.  Robustness profiles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dissociable</a:t>
            </a:r>
            <a:r>
              <a:rPr sz="1700">
                <a:solidFill>
                  <a:srgbClr val="202020"/>
                </a:solidFill>
                <a:latin typeface="Calibri"/>
              </a:rPr>
              <a:t> — and a single score is now </a:t>
            </a:r>
            <a:r>
              <a:rPr sz="1700" i="1">
                <a:solidFill>
                  <a:srgbClr val="202020"/>
                </a:solidFill>
                <a:latin typeface="Calibri"/>
              </a:rPr>
              <a:t>measured</a:t>
            </a:r>
            <a:r>
              <a:rPr sz="1700">
                <a:solidFill>
                  <a:srgbClr val="202020"/>
                </a:solidFill>
                <a:latin typeface="Calibri"/>
              </a:rPr>
              <a:t> to be mostly general valence.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3.  The exploit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end-to-end</a:t>
            </a:r>
            <a:r>
              <a:rPr sz="1700">
                <a:solidFill>
                  <a:srgbClr val="202020"/>
                </a:solidFill>
                <a:latin typeface="Calibri"/>
              </a:rPr>
              <a:t> — it flips scalar scores </a:t>
            </a:r>
            <a:r>
              <a:rPr sz="1700" i="1">
                <a:solidFill>
                  <a:srgbClr val="202020"/>
                </a:solidFill>
                <a:latin typeface="Calibri"/>
              </a:rPr>
              <a:t>and</a:t>
            </a:r>
            <a:r>
              <a:rPr sz="1700">
                <a:solidFill>
                  <a:srgbClr val="202020"/>
                </a:solidFill>
                <a:latin typeface="Calibri"/>
              </a:rPr>
              <a:t> typed verdicts.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4.  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defensible</a:t>
            </a:r>
            <a:r>
              <a:rPr sz="1700">
                <a:solidFill>
                  <a:srgbClr val="202020"/>
                </a:solidFill>
                <a:latin typeface="Calibri"/>
              </a:rPr>
              <a:t> — class averaging halves natural-paraphrase drift; adversarial-at-scale is the registered open item.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Reproducible: </a:t>
            </a:r>
            <a:r>
              <a:rPr sz="1100">
                <a:solidFill>
                  <a:srgbClr val="636363"/>
                </a:solidFill>
                <a:latin typeface="Consolas"/>
              </a:rPr>
              <a:t>pip install agi-hpc</a:t>
            </a:r>
            <a:r>
              <a:rPr sz="1100">
                <a:solidFill>
                  <a:srgbClr val="636363"/>
                </a:solidFill>
                <a:latin typeface="Calibri"/>
              </a:rPr>
              <a:t> (tag </a:t>
            </a:r>
            <a:r>
              <a:rPr sz="1100">
                <a:solidFill>
                  <a:srgbClr val="636363"/>
                </a:solidFill>
                <a:latin typeface="Consolas"/>
              </a:rPr>
              <a:t>bds2026-v2</a:t>
            </a:r>
            <a:r>
              <a:rPr sz="1100">
                <a:solidFill>
                  <a:srgbClr val="636363"/>
                </a:solidFill>
                <a:latin typeface="Calibri"/>
              </a:rPr>
              <a:t>) · </a:t>
            </a:r>
            <a:r>
              <a:rPr sz="1100">
                <a:solidFill>
                  <a:srgbClr val="636363"/>
                </a:solidFill>
                <a:latin typeface="Consolas"/>
              </a:rPr>
              <a:t>moral-spectrum-analyzer</a:t>
            </a:r>
            <a:r>
              <a:rPr sz="1100">
                <a:solidFill>
                  <a:srgbClr val="636363"/>
                </a:solidFill>
                <a:latin typeface="Calibri"/>
              </a:rPr>
              <a:t> · 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 · kernel: ErisML / DEME v3 · five tracks, ~8,000 calls under $50/day (Kaggle); validation panel on the open NRP managed LLM API.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22960"/>
            <a:ext cx="1691640" cy="1691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834640"/>
            <a:ext cx="999439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2171B5"/>
                </a:solidFill>
                <a:latin typeface="Calibri"/>
              </a:rPr>
              <a:t>Thank you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1A2340"/>
                </a:solidFill>
                <a:latin typeface="Calibri"/>
              </a:rPr>
              <a:t>Andrew H. Bond    ·    </a:t>
            </a:r>
            <a:r>
              <a:rPr sz="1600">
                <a:solidFill>
                  <a:srgbClr val="1A2340"/>
                </a:solidFill>
                <a:latin typeface="Consolas"/>
              </a:rPr>
              <a:t>andrew.bond@sjsu.edu</a:t>
            </a:r>
          </a:p>
          <a:p>
            <a:pPr algn="ctr">
              <a:spcAft>
                <a:spcPts val="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Selective Invariance Violations in LLM Moral Judgment</a:t>
            </a:r>
          </a:p>
          <a:p>
            <a:pPr algn="ctr">
              <a:spcAft>
                <a:spcPts val="1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IEEE BigDataService 2026 — Secure AI</a:t>
            </a:r>
          </a:p>
          <a:p>
            <a:pPr algn="ctr">
              <a:spcAft>
                <a:spcPts val="600"/>
              </a:spcAft>
            </a:pPr>
            <a:r>
              <a:rPr sz="1300" i="1">
                <a:solidFill>
                  <a:srgbClr val="1A2340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Grounding: 7-D harm space → DEME v3 9-D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24328" y="960120"/>
          <a:ext cx="6949440" cy="27980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108960"/>
                <a:gridCol w="146304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Harm dim.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DEME v3 axis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Mapping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harm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 / consent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legitimacy / 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societal / environmental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fairness / equity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virtue / care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privacy / standing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rights, epistemic quality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not scored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evaluation pipeline is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measurement front-end</a:t>
            </a:r>
            <a:r>
              <a:rPr sz="1400">
                <a:solidFill>
                  <a:srgbClr val="202020"/>
                </a:solidFill>
                <a:latin typeface="Calibri"/>
              </a:rPr>
              <a:t>; the ErisML compiler's </a:t>
            </a:r>
            <a:r>
              <a:rPr sz="1400" b="1">
                <a:solidFill>
                  <a:srgbClr val="2171B5"/>
                </a:solidFill>
                <a:latin typeface="Calibri"/>
              </a:rPr>
              <a:t>DEME bridge</a:t>
            </a:r>
            <a:r>
              <a:rPr sz="1400">
                <a:solidFill>
                  <a:srgbClr val="202020"/>
                </a:solidFill>
                <a:latin typeface="Calibri"/>
              </a:rPr>
              <a:t> is the downstream decision kernel (</a:t>
            </a:r>
            <a:r>
              <a:rPr sz="1400">
                <a:solidFill>
                  <a:srgbClr val="202020"/>
                </a:solidFill>
                <a:latin typeface="Consolas"/>
              </a:rPr>
              <a:t>DEMEVerdict</a:t>
            </a:r>
            <a:r>
              <a:rPr sz="1400">
                <a:solidFill>
                  <a:srgbClr val="202020"/>
                </a:solidFill>
                <a:latin typeface="Calibri"/>
              </a:rPr>
              <a:t>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the harm space is extensible and falsifiable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Discovery loop</a:t>
            </a:r>
            <a:r>
              <a:rPr sz="1600">
                <a:solidFill>
                  <a:srgbClr val="202020"/>
                </a:solidFill>
                <a:latin typeface="Calibri"/>
              </a:rPr>
              <a:t>: residual analysis flags candidate missing dimensions → pre-registered admission gate.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Scorecard: 3 flagged → </a:t>
            </a:r>
            <a:r>
              <a:rPr sz="1600" b="1">
                <a:solidFill>
                  <a:srgbClr val="D95F02"/>
                </a:solidFill>
                <a:latin typeface="Calibri"/>
              </a:rPr>
              <a:t>1 validated</a:t>
            </a:r>
            <a:r>
              <a:rPr sz="1600">
                <a:solidFill>
                  <a:srgbClr val="202020"/>
                </a:solidFill>
                <a:latin typeface="Calibri"/>
              </a:rPr>
              <a:t> (identity_attack),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retracted</a:t>
            </a:r>
            <a:r>
              <a:rPr sz="1600">
                <a:solidFill>
                  <a:srgbClr val="202020"/>
                </a:solidFill>
                <a:latin typeface="Calibri"/>
              </a:rPr>
              <a:t> (threat),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declined</a:t>
            </a:r>
            <a:r>
              <a:rPr sz="1600">
                <a:solidFill>
                  <a:srgbClr val="202020"/>
                </a:solidFill>
                <a:latin typeface="Calibri"/>
              </a:rPr>
              <a:t> (sexual content → policy channel); a registered rescue of the rights channel </a:t>
            </a:r>
            <a:r>
              <a:rPr sz="1600" b="1">
                <a:solidFill>
                  <a:srgbClr val="D95F02"/>
                </a:solidFill>
                <a:latin typeface="Calibri"/>
              </a:rPr>
              <a:t>refuted</a:t>
            </a:r>
            <a:r>
              <a:rPr sz="1600">
                <a:solidFill>
                  <a:srgbClr val="202020"/>
                </a:solidFill>
                <a:latin typeface="Calibri"/>
              </a:rPr>
              <a:t> (trained 0.509 vs null 0.512). </a:t>
            </a:r>
            <a:r>
              <a:rPr sz="1600" b="1">
                <a:solidFill>
                  <a:srgbClr val="2171B5"/>
                </a:solidFill>
                <a:latin typeface="Calibri"/>
              </a:rPr>
              <a:t>The gate really rejects — in both directions.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onsolas"/>
              </a:rPr>
              <a:t>identity_attack</a:t>
            </a:r>
            <a:r>
              <a:rPr sz="1600">
                <a:solidFill>
                  <a:srgbClr val="202020"/>
                </a:solidFill>
                <a:latin typeface="Calibri"/>
              </a:rPr>
              <a:t>: cross-dataset held-out AUROC </a:t>
            </a:r>
            <a:r>
              <a:rPr sz="1600" b="1">
                <a:solidFill>
                  <a:srgbClr val="D95F02"/>
                </a:solidFill>
                <a:latin typeface="Calibri"/>
              </a:rPr>
              <a:t>0.80</a:t>
            </a:r>
            <a:r>
              <a:rPr sz="1600">
                <a:solidFill>
                  <a:srgbClr val="202020"/>
                </a:solidFill>
                <a:latin typeface="Calibri"/>
              </a:rPr>
              <a:t> CI [0.78, 0.83] (+0.25 over null, 2 corpora, n = 6400) — wired live as a </a:t>
            </a:r>
            <a:r>
              <a:rPr sz="1600" b="1">
                <a:solidFill>
                  <a:srgbClr val="2171B5"/>
                </a:solidFill>
                <a:latin typeface="Calibri"/>
              </a:rPr>
              <a:t>10th channel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Cross-lingual at scale: invariance index </a:t>
            </a:r>
            <a:r>
              <a:rPr sz="1600" b="1">
                <a:solidFill>
                  <a:srgbClr val="D95F02"/>
                </a:solidFill>
                <a:latin typeface="Calibri"/>
              </a:rPr>
              <a:t>0.72–0.80</a:t>
            </a:r>
            <a:r>
              <a:rPr sz="1600">
                <a:solidFill>
                  <a:srgbClr val="202020"/>
                </a:solidFill>
                <a:latin typeface="Calibri"/>
              </a:rPr>
              <a:t> across es/ar/zh/hi/sw, </a:t>
            </a:r>
            <a:r>
              <a:rPr sz="1600" b="1">
                <a:solidFill>
                  <a:srgbClr val="2171B5"/>
                </a:solidFill>
                <a:latin typeface="Calibri"/>
              </a:rPr>
              <a:t>harmful ≈ benign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Validated on the learned-encoder perception layer (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); native DEME re-run of the five tracks is the extended version. Post-camera-ready results,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