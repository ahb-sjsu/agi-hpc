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HAS FOUR IDEAS — walk them in order, slowly. The audience gets lost here if the instrument switch and the "halves drift BUT items still flip" tension are not resolved out loud.</a:t>
            </a:r>
          </a:p>
          <a:p/>
          <a:p>
            <a:r>
              <a:t>STEP 0 — THE TRANSITION (say this first, near-verbatim): "Everything you've seen so far measured LLM judges. From this slide on we switch to a second instrument: small validated encoders — the xbse library — measuring the same harm geometry and feeding the same decision kernel. Same coordinates, different sensor." Pause here. If they miss this switch, nothing after it makes sense. These are post-camera-ready results.</a:t>
            </a:r>
          </a:p>
          <a:p/>
          <a:p>
            <a:r>
              <a:t>STEP 1 — THE IDEA, plain words: "Any single wording is just one way of describing a situation. So don't judge the wording — judge the situation: generate six rewordings, score them all, average, THEN decide." If faces are blank: it's like asking a question six different ways and averaging the answers. (For the ML crowd: semantic randomized smoothing / SmoothLLM with paraphrases — but say plainly there is NO formal certificate; the guarantee is empirical.)</a:t>
            </a:r>
          </a:p>
          <a:p/>
          <a:p>
            <a:r>
              <a:t>STEP 2 — WHAT IT BUYS, one number: on natural rewordings of 60 held-out items, decision movement drops 0.407 -&gt; 0.219 — HALVED. Define theta_d in one breath: "theta_d just measures how far the final decision moves when the input is reworded; zero = perfectly invariant." Don't dwell on the bar clause; if asked why "meets the 0.5 bar" isn't the headline: natural rewording was already under the bar, so the honest claim is the halving — the bar only matters for adversarial rewrites.</a:t>
            </a:r>
          </a:p>
          <a:p/>
          <a:p>
            <a:r>
              <a:t>STEP 3 — WHERE IT FAILS. Both failures belong to the paraphrase GENERATOR, not to the averaging:</a:t>
            </a:r>
          </a:p>
          <a:p>
            <a:r>
              <a:t>(a) Refusal: LLM paraphrasers refuse 24% of harmful inputs — exactly the content that matters. A back-translation red-team that refuses nothing gets theta_d = 0.301 on harmful content, so refusal is a generator property. Deployment rule: refusal -&gt; single-member class -&gt; ESCALATE to a human, always.</a:t>
            </a:r>
          </a:p>
          <a:p>
            <a:r>
              <a:t>(b) Register — the footer, and THE tension to resolve out loud: "You may notice the footer seems to contradict what I just said: on the six hand-crafted euphemistic attacks, averaging trimmed movement only 17%, and every flagged item still slipped past the threshold. No contradiction — different input classes. The halving is on NATURAL rewordings. Against a deliberate euphemism, the paraphraser produces paraphrases OF the euphemism — polite versions of a polite lie. The average stays polite. The attack survives." That line — "polite versions of a polite lie" — is the one they'll remember; use it.</a:t>
            </a:r>
          </a:p>
          <a:p/>
          <a:p>
            <a:r>
              <a:t>STEP 4 — THE LESSON (closes the slide, hands off to implications): "So the mechanism works exactly as far as the generator's diversity reaches — which puts the generator inside the trust boundary. The roadmap fix is a generator that provably crosses registers; until it exists, escalation carries the load, and the audit trail records every class member." Measuring the failure this precisely IS the contribution.</a:t>
            </a:r>
          </a:p>
          <a:p/>
          <a:p>
            <a:r>
              <a:t>(Adaptive-attacker and bar-circularity questions are pre-answered in the slide-14 Q&amp;A note.)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SCOPE + THE NEW RESULT (right column, bottom): the bifactor readout is encoder-instantiation; we then factor-analyzed the JUDGE PANEL'S OWN 31x7 score matrix directly. It REPLICATES the general factor: PC1 = 54% of variance (consensus; 53% pooled), and it is the ONLY component surviving Horn's parallel analysis. Per-axis: physical fully specific on the panel too (R^2 ~ 0 — striking agreement with the encoder residual), emotional (0.86) and trust (0.78) most G-laden as predicted; financial and identity DIVERGE across instantiations — recorded, not adjudicated. n=31, so per-axis loadings are coarse; the factor COUNT is the robust claim.</a:t>
            </a:r>
          </a:p>
          <a:p/>
          <a:p>
            <a:r>
              <a:t>ROBUSTNESS (if pressed "is that just aggregation?"): run separately on each judge's own 31x7 matrix, ALL SIX models keep exactly one factor (PC1 51-60%), and each model's PC1 is the SAME factor as the consensus — Tucker congruence 0.989-0.999, above the 0.95 factor-equality convention. The general factor lives inside every judge, not just in the average.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Yes — the panel's own 31x7 matrix gives PC1 = 54% of variance, the only component surviving parallel analysis, with physical fully specific there too. The general factor replicates across both instantiations; two per-axis assignments (financial, identity) diverge and are recorded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Measured, and it's an honest negative — on the deployed encoder instrument all 3 flagged gold items STILL flip defended (displacement only −17% vs −46% on natural paraphrases). Paraphrases of euphemism stay euphemistic: the class inherits the register, and register is the attack vector. That's why the residual surface is the generator's register diversity and why escalate-by-default is load-bearing. The DEME-instantiation defended-13.7% is the native re-run.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7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7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700" b="1">
                <a:solidFill>
                  <a:srgbClr val="2171B5"/>
                </a:solidFill>
                <a:latin typeface="Calibri"/>
              </a:rPr>
              <a:t>facts</a:t>
            </a:r>
            <a:r>
              <a:rPr sz="17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7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7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700">
                <a:solidFill>
                  <a:srgbClr val="202020"/>
                </a:solidFill>
                <a:latin typeface="Calibri"/>
              </a:rPr>
              <a:t>: an attacker shifts the decision by changing morally </a:t>
            </a:r>
            <a:r>
              <a:rPr sz="17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700">
                <a:solidFill>
                  <a:srgbClr val="202020"/>
                </a:solidFill>
                <a:latin typeface="Calibri"/>
              </a:rPr>
              <a:t> surface features — framing, tone, sensory detail — without changing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7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7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7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7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7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7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700" i="1">
                <a:solidFill>
                  <a:srgbClr val="202020"/>
                </a:solidFill>
                <a:latin typeface="Calibri"/>
              </a:rPr>
              <a:t>evade</a:t>
            </a:r>
            <a:r>
              <a:rPr sz="17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7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7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6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600">
                <a:solidFill>
                  <a:srgbClr val="202020"/>
                </a:solidFill>
                <a:latin typeface="Calibri"/>
              </a:rPr>
              <a:t> decision kernel: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text → </a:t>
            </a:r>
            <a:r>
              <a:rPr sz="1400" b="1">
                <a:solidFill>
                  <a:srgbClr val="2171B5"/>
                </a:solidFill>
                <a:latin typeface="Calibri"/>
              </a:rPr>
              <a:t>LLM extracts ethical facts</a:t>
            </a:r>
            <a:r>
              <a:rPr sz="1400">
                <a:solidFill>
                  <a:srgbClr val="202020"/>
                </a:solidFill>
                <a:latin typeface="Calibri"/>
              </a:rPr>
              <a:t> → </a:t>
            </a:r>
            <a:r>
              <a:rPr sz="1400">
                <a:solidFill>
                  <a:srgbClr val="202020"/>
                </a:solidFill>
                <a:latin typeface="Consolas"/>
              </a:rPr>
              <a:t>GenevaEMV3</a:t>
            </a:r>
            <a:r>
              <a:rPr sz="1400">
                <a:solidFill>
                  <a:srgbClr val="202020"/>
                </a:solidFill>
                <a:latin typeface="Calibri"/>
              </a:rPr>
              <a:t> → typed verdict   </a:t>
            </a:r>
            <a:r>
              <a:rPr sz="1400">
                <a:solidFill>
                  <a:srgbClr val="202020"/>
                </a:solidFill>
                <a:latin typeface="Calibri"/>
              </a:rPr>
              <a:t>(forbid → avoid → neutral → prefer → strongly_prefer)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Second instantiation from here on: validated learned encoders (</a:t>
            </a:r>
            <a:r>
              <a:rPr sz="1300">
                <a:solidFill>
                  <a:srgbClr val="636363"/>
                </a:solidFill>
                <a:latin typeface="Consolas"/>
              </a:rPr>
              <a:t>xbse</a:t>
            </a:r>
            <a:r>
              <a:rPr sz="1300">
                <a:solidFill>
                  <a:srgbClr val="636363"/>
                </a:solidFill>
                <a:latin typeface="Calibri"/>
              </a:rPr>
              <a:t>) replace LLM judges; same DEME kernel.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Equivalence-class averaging</a:t>
            </a:r>
            <a:r>
              <a:rPr sz="1600">
                <a:solidFill>
                  <a:srgbClr val="202020"/>
                </a:solidFill>
                <a:latin typeface="Calibri"/>
              </a:rPr>
              <a:t>: generate the input's paraphrase class (m paraphrases), </a:t>
            </a:r>
            <a:r>
              <a:rPr sz="1600" b="1">
                <a:solidFill>
                  <a:srgbClr val="2171B5"/>
                </a:solidFill>
                <a:latin typeface="Calibri"/>
              </a:rPr>
              <a:t>average per-dimension perception over the class</a:t>
            </a:r>
            <a:r>
              <a:rPr sz="1600">
                <a:solidFill>
                  <a:srgbClr val="202020"/>
                </a:solidFill>
                <a:latin typeface="Calibri"/>
              </a:rPr>
              <a:t>, then decide.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6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6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6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6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6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6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6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6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6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6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600">
                <a:solidFill>
                  <a:srgbClr val="202020"/>
                </a:solidFill>
                <a:latin typeface="Calibri"/>
              </a:rPr>
              <a:t>, not the mechanism's.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Trust boundary: refusal → singleton class → </a:t>
            </a:r>
            <a:r>
              <a:rPr sz="1600" b="1">
                <a:solidFill>
                  <a:srgbClr val="2171B5"/>
                </a:solidFill>
                <a:latin typeface="Calibri"/>
              </a:rPr>
              <a:t>escalate by default</a:t>
            </a:r>
            <a:r>
              <a:rPr sz="1600">
                <a:solidFill>
                  <a:srgbClr val="202020"/>
                </a:solidFill>
                <a:latin typeface="Calibri"/>
              </a:rPr>
              <a:t>; the audit proof records class members.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Natural (not adversarial) paraphrases at scale. Gold-set decision translation (measured negative, n=6): adversarial-register rewrites still flip </a:t>
            </a:r>
            <a:r>
              <a:rPr sz="1000" b="1">
                <a:solidFill>
                  <a:srgbClr val="D95F02"/>
                </a:solidFill>
                <a:latin typeface="Calibri"/>
              </a:rPr>
              <a:t>3/3</a:t>
            </a:r>
            <a:r>
              <a:rPr sz="1000">
                <a:solidFill>
                  <a:srgbClr val="636363"/>
                </a:solidFill>
                <a:latin typeface="Calibri"/>
              </a:rPr>
              <a:t> flagged items defended, displacement −17% — paraphrases of euphemism stay euphemistic; the register gap is the live surface, and escalation carries it. July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500">
                <a:solidFill>
                  <a:srgbClr val="202020"/>
                </a:solidFill>
                <a:latin typeface="Calibri"/>
              </a:rPr>
              <a:t>  A registered test against our own axes: a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5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500" b="1">
                <a:solidFill>
                  <a:srgbClr val="D95F02"/>
                </a:solidFill>
                <a:latin typeface="Calibri"/>
              </a:rPr>
              <a:t>0.856</a:t>
            </a:r>
            <a:r>
              <a:rPr sz="15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500" b="1">
                <a:solidFill>
                  <a:srgbClr val="D95F02"/>
                </a:solidFill>
                <a:latin typeface="Calibri"/>
              </a:rPr>
              <a:t>0.98</a:t>
            </a:r>
            <a:r>
              <a:rPr sz="15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A scalar </a:t>
            </a:r>
            <a:r>
              <a:rPr sz="1400" i="1">
                <a:solidFill>
                  <a:srgbClr val="202020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score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measured, not argued</a:t>
            </a:r>
            <a:r>
              <a:rPr sz="1400">
                <a:solidFill>
                  <a:srgbClr val="202020"/>
                </a:solidFill>
                <a:latin typeface="Calibri"/>
              </a:rPr>
              <a:t>, to be mostly G — and a scalar robustness score inherits the collapse by construction.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vulnerability structure lives in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surviving specific axes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20624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  <a:latin typeface="Calibri"/>
              </a:rPr>
              <a:t>And the </a:t>
            </a:r>
            <a:r>
              <a:rPr sz="1300" b="1">
                <a:solidFill>
                  <a:srgbClr val="2171B5"/>
                </a:solidFill>
                <a:latin typeface="Calibri"/>
              </a:rPr>
              <a:t>judge panel's own 31×7 score matrix replicates it</a:t>
            </a:r>
            <a:r>
              <a:rPr sz="1300">
                <a:solidFill>
                  <a:srgbClr val="202020"/>
                </a:solidFill>
                <a:latin typeface="Calibri"/>
              </a:rPr>
              <a:t>: PC1 = </a:t>
            </a:r>
            <a:r>
              <a:rPr sz="1300" b="1">
                <a:solidFill>
                  <a:srgbClr val="D95F02"/>
                </a:solidFill>
                <a:latin typeface="Calibri"/>
              </a:rPr>
              <a:t>54%</a:t>
            </a:r>
            <a:r>
              <a:rPr sz="1300">
                <a:solidFill>
                  <a:srgbClr val="202020"/>
                </a:solidFill>
                <a:latin typeface="Calibri"/>
              </a:rPr>
              <a:t> of variance, the only component surviving parallel analysis — </a:t>
            </a:r>
            <a:r>
              <a:rPr sz="1300" b="1">
                <a:solidFill>
                  <a:srgbClr val="2171B5"/>
                </a:solidFill>
                <a:latin typeface="Calibri"/>
              </a:rPr>
              <a:t>physical</a:t>
            </a:r>
            <a:r>
              <a:rPr sz="1300">
                <a:solidFill>
                  <a:srgbClr val="202020"/>
                </a:solidFill>
                <a:latin typeface="Calibri"/>
              </a:rPr>
              <a:t> fully specific there too (R² ≈ 0), </a:t>
            </a:r>
            <a:r>
              <a:rPr sz="1300" b="1">
                <a:solidFill>
                  <a:srgbClr val="2171B5"/>
                </a:solidFill>
                <a:latin typeface="Calibri"/>
              </a:rPr>
              <a:t>emotional/trust</a:t>
            </a:r>
            <a:r>
              <a:rPr sz="1300">
                <a:solidFill>
                  <a:srgbClr val="202020"/>
                </a:solidFill>
                <a:latin typeface="Calibri"/>
              </a:rPr>
              <a:t> most G-laden; financial and identity diverge across instantiations.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Bifactor: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), 12×12 gate at margin 0.05; identity_attack divergence recorded, not adjudicated. Panel FA: Horn's parallel analysis, n=31; per-judge FAs agree — one factor in all six models (PC1 0.51–0.60), Tucker congruence 0.989–0.999 vs consensus.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