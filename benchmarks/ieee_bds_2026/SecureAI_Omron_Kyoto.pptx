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frame, roughly 60 seconds. Thank them for the time and say plainly what</a:t>
            </a:r>
          </a:p>
          <a:p>
            <a:r>
              <a:t>this is: a piece of accepted academic work, brought because the failure mode it</a:t>
            </a:r>
          </a:p>
          <a:p>
            <a:r>
              <a:t>found is a safety-engineering problem rather than an academic curiosity.</a:t>
            </a:r>
          </a:p>
          <a:p/>
          <a:p>
            <a:r>
              <a:t>Say early that the talk includes what did NOT work. That is deliberate and it is</a:t>
            </a:r>
          </a:p>
          <a:p>
            <a:r>
              <a:t>the part most useful to an engineering organisation.</a:t>
            </a:r>
          </a:p>
          <a:p/>
          <a:p>
            <a:r>
              <a:t>If asked why Omron: because you build instruments that make physical properties</a:t>
            </a:r>
          </a:p>
          <a:p>
            <a:r>
              <a:t>measurable and controllable, and this is the same move applied to a behavioural</a:t>
            </a:r>
          </a:p>
          <a:p>
            <a:r>
              <a:t>property of AI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leave on screen if the meeting is cut short. Everything</a:t>
            </a:r>
          </a:p>
          <a:p>
            <a:r>
              <a:t>else expands one of these four points.</a:t>
            </a:r>
          </a:p>
          <a:p/>
          <a:p>
            <a:r>
              <a:t>Executives usually stop at point 1 and point 4. Engineers go to point 3.</a:t>
            </a:r>
          </a:p>
          <a:p/>
          <a:p>
            <a:r>
              <a:t>If someone asks "is 14 points a lot?" the answer is that it is the distance that</a:t>
            </a:r>
          </a:p>
          <a:p>
            <a:r>
              <a:t>moved three of six hand-audited items across a median-calibrated decision</a:t>
            </a:r>
          </a:p>
          <a:p>
            <a:r>
              <a:t>threshold. The unit is arbitrary; crossing the threshold is not.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for executives; it is setup, not content.</a:t>
            </a:r>
          </a:p>
          <a:p/>
          <a:p>
            <a:r>
              <a:t>The point that lands with a components company: once a model gates a decision it</a:t>
            </a:r>
          </a:p>
          <a:p>
            <a:r>
              <a:t>is a component, and components get characterised, rated, and given failure</a:t>
            </a:r>
          </a:p>
          <a:p>
            <a:r>
              <a:t>modes. Nobody ships a safety relay with one number called "reliability".</a:t>
            </a:r>
          </a:p>
          <a:p/>
          <a:p>
            <a:r>
              <a:t>If they mention their own deployments here, let them talk. That is more valuable</a:t>
            </a:r>
          </a:p>
          <a:p>
            <a:r>
              <a:t>than the rest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slide for the executive half. Spend time here.</a:t>
            </a:r>
          </a:p>
          <a:p/>
          <a:p>
            <a:r>
              <a:t>Two numbers to say out loud: minus 14 points, and three of six crossing the</a:t>
            </a:r>
          </a:p>
          <a:p>
            <a:r>
              <a:t>threshold. The second is the one that matters, because it is a decision changing,</a:t>
            </a:r>
          </a:p>
          <a:p>
            <a:r>
              <a:t>not a score moving.</a:t>
            </a:r>
          </a:p>
          <a:p/>
          <a:p>
            <a:r>
              <a:t>The asymmetry line is worth pausing on. It is the reason this is a security</a:t>
            </a:r>
          </a:p>
          <a:p>
            <a:r>
              <a:t>finding and not a quality finding.</a:t>
            </a:r>
          </a:p>
          <a:p/>
          <a:p>
            <a:r>
              <a:t>Anticipated question: "why only six items?" Answer honestly: those are hand-</a:t>
            </a:r>
          </a:p>
          <a:p>
            <a:r>
              <a:t>audited gold items where we verified the rewrite preserved the facts. Scaling</a:t>
            </a:r>
          </a:p>
          <a:p>
            <a:r>
              <a:t>that audit is exactly the work we would want to do with a partner.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aimed squarely at safety engineers, and it is the one that earns</a:t>
            </a:r>
          </a:p>
          <a:p>
            <a:r>
              <a:t>technical credibility.</a:t>
            </a:r>
          </a:p>
          <a:p/>
          <a:p>
            <a:r>
              <a:t>The vocabulary to use: systematic versus random. A random fault is diluted by</a:t>
            </a:r>
          </a:p>
          <a:p>
            <a:r>
              <a:t>volume and caught by statistics. A systematic fault is reproducible, so volume</a:t>
            </a:r>
          </a:p>
          <a:p>
            <a:r>
              <a:t>does not help and a monitoring approach tuned for random error has almost no</a:t>
            </a:r>
          </a:p>
          <a:p>
            <a:r>
              <a:t>diagnostic coverage for it.</a:t>
            </a:r>
          </a:p>
          <a:p/>
          <a:p>
            <a:r>
              <a:t>The control arms are the methodological point. Without them, someone can always</a:t>
            </a:r>
          </a:p>
          <a:p>
            <a:r>
              <a:t>say the effect is stochastic drift in the model. Gender swap and evaluation</a:t>
            </a:r>
          </a:p>
          <a:p>
            <a:r>
              <a:t>order are the arms that rule that 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distinguishes this work from a vendor pitch, and it is</a:t>
            </a:r>
          </a:p>
          <a:p>
            <a:r>
              <a:t>the one to be proud of. Present it as a negative result you went looking for.</a:t>
            </a:r>
          </a:p>
          <a:p/>
          <a:p>
            <a:r>
              <a:t>The line to deliver slowly: a paraphrase of a euphemism is still a euphemism.</a:t>
            </a:r>
          </a:p>
          <a:p>
            <a:r>
              <a:t>Engineers recognise that immediately as a coverage argument about the generator,</a:t>
            </a:r>
          </a:p>
          <a:p>
            <a:r>
              <a:t>not a tuning problem.</a:t>
            </a:r>
          </a:p>
          <a:p/>
          <a:p>
            <a:r>
              <a:t>If they ask whether the defence is therefore useless: no. It halves natural</a:t>
            </a:r>
          </a:p>
          <a:p>
            <a:r>
              <a:t>drift, which is real. It just cannot be relied on for the adversarial case, so</a:t>
            </a:r>
          </a:p>
          <a:p>
            <a:r>
              <a:t>it must not be the last line.</a:t>
            </a:r>
          </a:p>
          <a:p/>
          <a:p>
            <a:r>
              <a:t>The at-scale adversarial run is registered and not yet run. Say so if pressed.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Executives want this slide. It is the "so what do we do" slide.</a:t>
            </a:r>
          </a:p>
          <a:p/>
          <a:p>
            <a:r>
              <a:t>Order matters: escalate-by-default is available today and costs only human</a:t>
            </a:r>
          </a:p>
          <a:p>
            <a:r>
              <a:t>review capacity. Front-end hardening is the real fix but it is engineering work.</a:t>
            </a:r>
          </a:p>
          <a:p/>
          <a:p>
            <a:r>
              <a:t>The calibration number is worth one sentence: the model is confidently wrong</a:t>
            </a:r>
          </a:p>
          <a:p>
            <a:r>
              <a:t>after being manipulated, which is why you cannot use its own confidence as the</a:t>
            </a:r>
          </a:p>
          <a:p>
            <a:r>
              <a:t>trigger for escalation.</a:t>
            </a:r>
          </a:p>
          <a:p/>
          <a:p>
            <a:r>
              <a:t>If they ask for a recommendation in one line: do not let a text-only check be</a:t>
            </a:r>
          </a:p>
          <a:p>
            <a:r>
              <a:t>the last gate on a consequential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executives this is the procurement slide, and it is the most commercially</a:t>
            </a:r>
          </a:p>
          <a:p>
            <a:r>
              <a:t>useful one in the deck.</a:t>
            </a:r>
          </a:p>
          <a:p/>
          <a:p>
            <a:r>
              <a:t>The Claude and Flash rows are the memorable illustration: the model with the</a:t>
            </a:r>
          </a:p>
          <a:p>
            <a:r>
              <a:t>cleanest record on one axis is the worst on another. A single ranking hides</a:t>
            </a:r>
          </a:p>
          <a:p>
            <a:r>
              <a:t>exactly the information you need.</a:t>
            </a:r>
          </a:p>
          <a:p/>
          <a:p>
            <a:r>
              <a:t>Caveat honestly: zero sycophancy is 0 of 9, so it is directional, not a rate.</a:t>
            </a:r>
          </a:p>
          <a:p>
            <a:r>
              <a:t>Say that before anyone asks.</a:t>
            </a:r>
          </a:p>
          <a:p/>
          <a:p>
            <a:r>
              <a:t>The bifactor result is on the appendix slide if they want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the Omron parallel is explicit, and it is worth stating</a:t>
            </a:r>
          </a:p>
          <a:p>
            <a:r>
              <a:t>directly rather than leaving implied: their business is making physical</a:t>
            </a:r>
          </a:p>
          <a:p>
            <a:r>
              <a:t>properties measurable and then controllable. This is that move applied to a</a:t>
            </a:r>
          </a:p>
          <a:p>
            <a:r>
              <a:t>behavioural property of an AI system.</a:t>
            </a:r>
          </a:p>
          <a:p/>
          <a:p>
            <a:r>
              <a:t>If the room is receptive, this is the natural place to ask where in their</a:t>
            </a:r>
          </a:p>
          <a:p>
            <a:r>
              <a:t>products a text-based judgment currently gates something.</a:t>
            </a:r>
          </a:p>
          <a:p/>
          <a:p>
            <a:r>
              <a:t>The seven axes are worth reading aloud once. They are recognisable categories,</a:t>
            </a:r>
          </a:p>
          <a:p>
            <a:r>
              <a:t>not jargon, which is part of why the reliability numbers came out as high as</a:t>
            </a:r>
          </a:p>
          <a:p>
            <a:r>
              <a:t>they did.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The ask is deliberately soft because the goal of this meeting is</a:t>
            </a:r>
          </a:p>
          <a:p>
            <a:r>
              <a:t>credibility and relationship, not a signed engagement.</a:t>
            </a:r>
          </a:p>
          <a:p/>
          <a:p>
            <a:r>
              <a:t>The middle column is the important one. Asking them three concrete questions</a:t>
            </a:r>
          </a:p>
          <a:p>
            <a:r>
              <a:t>turns the end of the talk into a discussion rather than a pitch, and their</a:t>
            </a:r>
          </a:p>
          <a:p>
            <a:r>
              <a:t>answers tell you whether there is real work here.</a:t>
            </a:r>
          </a:p>
          <a:p/>
          <a:p>
            <a:r>
              <a:t>Note the third column explicitly: nothing confidential is needed to start. That</a:t>
            </a:r>
          </a:p>
          <a:p>
            <a:r>
              <a:t>lowers the barrier to a follow-up meeting considerably, and it is true.</a:t>
            </a:r>
          </a:p>
          <a:p/>
          <a:p>
            <a:r>
              <a:t>Leave the last block on screen during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Skip straight past this in a 30-minute slot.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ask this first, so have it ready. ICC and Krippendorff alpha are</a:t>
            </a:r>
          </a:p>
          <a:p>
            <a:r>
              <a:t>inter-rater reliability statistics: they ask whether independent judges agree</a:t>
            </a:r>
          </a:p>
          <a:p>
            <a:r>
              <a:t>beyond chance.</a:t>
            </a:r>
          </a:p>
          <a:p/>
          <a:p>
            <a:r>
              <a:t>The honest detail to volunteer: physical and autonomy are the weakest axes. If</a:t>
            </a:r>
          </a:p>
          <a:p>
            <a:r>
              <a:t>someone is going to use one axis for a decision, that matters, and hiding it</a:t>
            </a:r>
          </a:p>
          <a:p>
            <a:r>
              <a:t>would be the wrong call.</a:t>
            </a:r>
          </a:p>
          <a:p/>
          <a:p>
            <a:r>
              <a:t>Reproducibility point: the panel runs on an open managed API rather than a</a:t>
            </a:r>
          </a:p>
          <a:p>
            <a:r>
              <a:t>private vendor account, so the validation can be repeated by a third party.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"surely a proper rule engine fixes this". No: the rule</a:t>
            </a:r>
          </a:p>
          <a:p>
            <a:r>
              <a:t>engine is fine and still gets the wrong answer, because it is fed a moved</a:t>
            </a:r>
          </a:p>
          <a:p>
            <a:r>
              <a:t>representation.</a:t>
            </a:r>
          </a:p>
          <a:p/>
          <a:p>
            <a:r>
              <a:t>The transferable engineering lesson is about interface contracts. If a</a:t>
            </a:r>
          </a:p>
          <a:p>
            <a:r>
              <a:t>downstream component assumes its input is presentation-invariant and the</a:t>
            </a:r>
          </a:p>
          <a:p>
            <a:r>
              <a:t>upstream one does not guarantee that, the assumption is unenforced.</a:t>
            </a:r>
          </a:p>
          <a:p/>
          <a:p>
            <a:r>
              <a:t>Worth saying: this is the same failure pattern as a sound controller acting on a</a:t>
            </a:r>
          </a:p>
          <a:p>
            <a:r>
              <a:t>miscalibrated sensor.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a result that went against you and was published anyway. In a</a:t>
            </a:r>
          </a:p>
          <a:p>
            <a:r>
              <a:t>Japanese engineering culture that values not overselling, this slide does more</a:t>
            </a:r>
          </a:p>
          <a:p>
            <a:r>
              <a:t>for credibility than any positive number in the deck.</a:t>
            </a:r>
          </a:p>
          <a:p/>
          <a:p>
            <a:r>
              <a:t>The technical content: a bifactor structure means one general factor plus</a:t>
            </a:r>
          </a:p>
          <a:p>
            <a:r>
              <a:t>axis-specific residuals. Here the general factor dominates and most residuals</a:t>
            </a:r>
          </a:p>
          <a:p>
            <a:r>
              <a:t>are near zero, so the axes are reliable but largely redundant.</a:t>
            </a:r>
          </a:p>
          <a:p/>
          <a:p>
            <a:r>
              <a:t>Note that this strengthens rather than weakens the procurement argument on slide</a:t>
            </a:r>
          </a:p>
          <a:p>
            <a:r>
              <a:t>8, and say so.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slide and do not apologise for it. Offering the limits before</a:t>
            </a:r>
          </a:p>
          <a:p>
            <a:r>
              <a:t>being asked is the single most effective credibility move available.</a:t>
            </a:r>
          </a:p>
          <a:p/>
          <a:p>
            <a:r>
              <a:t>The fourth point is the one to emphasise in Kyoto: the corpora are largely</a:t>
            </a:r>
          </a:p>
          <a:p>
            <a:r>
              <a:t>English and Western-normed. Cross-cultural transfer is untested. If Omron cares</a:t>
            </a:r>
          </a:p>
          <a:p>
            <a:r>
              <a:t>about Japanese-language deployment, that gap is precisely a place where a</a:t>
            </a:r>
          </a:p>
          <a:p>
            <a:r>
              <a:t>collaboration would produce something neither side has.</a:t>
            </a:r>
          </a:p>
          <a:p/>
          <a:p>
            <a:r>
              <a:t>If asked which limitation worries you most, answer the first one honestly.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engineers and for anyone assessing whether this is real. Be precise about</a:t>
            </a:r>
          </a:p>
          <a:p>
            <a:r>
              <a:t>what is production-quality versus research code; overstating here would</a:t>
            </a:r>
          </a:p>
          <a:p>
            <a:r>
              <a:t>undermine the honesty established earlier.</a:t>
            </a:r>
          </a:p>
          <a:p/>
          <a:p>
            <a:r>
              <a:t>The cost line has an executive implication worth stating: at this price the</a:t>
            </a:r>
          </a:p>
          <a:p>
            <a:r>
              <a:t>testing belongs in continuous integration, not in an annual audit.</a:t>
            </a:r>
          </a:p>
          <a:p/>
          <a:p>
            <a:r>
              <a:t>The last two rows are the open problems. If a collaboration comes out of this</a:t>
            </a:r>
          </a:p>
          <a:p>
            <a:r>
              <a:t>meeting, it is most likely one of those two.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this out or leave it as a reference slide rather than presenting it.</a:t>
            </a:r>
          </a:p>
          <a:p/>
          <a:p>
            <a:r>
              <a:t>The safety terms in the middle rows are the standardised Japanese forms used in</a:t>
            </a:r>
          </a:p>
          <a:p>
            <a:r>
              <a:t>functional-safety standards work, which is why they are the right bridge for an</a:t>
            </a:r>
          </a:p>
          <a:p>
            <a:r>
              <a:t>Omron audience. Even so, have a native speaker check the whole column before the</a:t>
            </a:r>
          </a:p>
          <a:p>
            <a:r>
              <a:t>meeting; the linguistic terms in particular have several acceptable renderings</a:t>
            </a:r>
          </a:p>
          <a:p>
            <a:r>
              <a:t>and I have chosen the ones closest to the sense used here.</a:t>
            </a:r>
          </a:p>
          <a:p/>
          <a:p>
            <a:r>
              <a:t>If an Omron engineer corrects one of these, that is a good sign and worth</a:t>
            </a:r>
          </a:p>
          <a:p>
            <a:r>
              <a:t>thanking them for.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84831"/>
            <a:ext cx="12191695" cy="3810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51560"/>
            <a:ext cx="10515600" cy="1005840"/>
          </a:xfrm>
          <a:prstGeom prst="rect">
            <a:avLst/>
          </a:prstGeom>
          <a:noFill/>
        </p:spPr>
        <p:txBody>
          <a:bodyPr wrap="square" lIns="0" rIns="0" tIns="0" bIns="0">
            <a:spAutoFit/>
          </a:bodyPr>
          <a:lstStyle/>
          <a:p>
            <a:r>
              <a:rPr sz="3800" b="1">
                <a:solidFill>
                  <a:srgbClr val="1A2340"/>
                </a:solidFill>
                <a:latin typeface="Calibri"/>
              </a:rPr>
              <a:t>When AI judges the wording, not the facts</a:t>
            </a:r>
          </a:p>
        </p:txBody>
      </p:sp>
      <p:sp>
        <p:nvSpPr>
          <p:cNvPr id="4" name="TextBox 3"/>
          <p:cNvSpPr txBox="1"/>
          <p:nvPr/>
        </p:nvSpPr>
        <p:spPr>
          <a:xfrm>
            <a:off x="822960" y="2395728"/>
            <a:ext cx="10515600" cy="822960"/>
          </a:xfrm>
          <a:prstGeom prst="rect">
            <a:avLst/>
          </a:prstGeom>
          <a:noFill/>
        </p:spPr>
        <p:txBody>
          <a:bodyPr wrap="square" lIns="0" rIns="0" tIns="0" bIns="0">
            <a:spAutoFit/>
          </a:bodyPr>
          <a:lstStyle/>
          <a:p>
            <a:pPr>
              <a:spcAft>
                <a:spcPts val="800"/>
              </a:spcAft>
            </a:pPr>
            <a:r>
              <a:rPr sz="1900" b="0">
                <a:solidFill>
                  <a:srgbClr val="636363"/>
                </a:solidFill>
                <a:latin typeface="Calibri"/>
              </a:rPr>
              <a:t>A measurement instrument for AI judgment consistency, and a failure mode that survives the obvious fix</a:t>
            </a:r>
          </a:p>
        </p:txBody>
      </p:sp>
      <p:sp>
        <p:nvSpPr>
          <p:cNvPr id="5" name="TextBox 4"/>
          <p:cNvSpPr txBox="1"/>
          <p:nvPr/>
        </p:nvSpPr>
        <p:spPr>
          <a:xfrm>
            <a:off x="822960" y="3703320"/>
            <a:ext cx="10515600" cy="1554480"/>
          </a:xfrm>
          <a:prstGeom prst="rect">
            <a:avLst/>
          </a:prstGeom>
          <a:noFill/>
        </p:spPr>
        <p:txBody>
          <a:bodyPr wrap="square" lIns="0" rIns="0" tIns="0" bIns="0">
            <a:spAutoFit/>
          </a:bodyPr>
          <a:lstStyle/>
          <a:p>
            <a:pPr>
              <a:spcAft>
                <a:spcPts val="800"/>
              </a:spcAft>
            </a:pPr>
            <a:r>
              <a:rPr sz="1700" b="1">
                <a:solidFill>
                  <a:srgbClr val="1A2340"/>
                </a:solidFill>
                <a:latin typeface="Calibri"/>
              </a:rPr>
              <a:t>Prepared for OMRON Corporation</a:t>
            </a:r>
          </a:p>
          <a:p>
            <a:pPr>
              <a:spcAft>
                <a:spcPts val="800"/>
              </a:spcAft>
            </a:pPr>
            <a:r>
              <a:rPr sz="1500" b="0">
                <a:solidFill>
                  <a:srgbClr val="636363"/>
                </a:solidFill>
                <a:latin typeface="Calibri"/>
              </a:rPr>
              <a:t>Kyoto</a:t>
            </a:r>
          </a:p>
          <a:p>
            <a:pPr>
              <a:spcAft>
                <a:spcPts val="300"/>
              </a:spcAft>
            </a:pPr>
            <a:r>
              <a:rPr sz="1500" b="0">
                <a:solidFill>
                  <a:srgbClr val="1A2340"/>
                </a:solidFill>
                <a:latin typeface="Calibri"/>
              </a:rPr>
              <a:t>Andrew H. Bond</a:t>
            </a:r>
          </a:p>
          <a:p>
            <a:pPr>
              <a:spcAft>
                <a:spcPts val="800"/>
              </a:spcAft>
            </a:pPr>
            <a:r>
              <a:rPr sz="1300" b="0">
                <a:solidFill>
                  <a:srgbClr val="636363"/>
                </a:solidFill>
                <a:latin typeface="Calibri"/>
              </a:rPr>
              <a:t>San Jose State University · IEEE Senior Member</a:t>
            </a:r>
          </a:p>
        </p:txBody>
      </p:sp>
      <p:sp>
        <p:nvSpPr>
          <p:cNvPr id="6" name="TextBox 5"/>
          <p:cNvSpPr txBox="1"/>
          <p:nvPr/>
        </p:nvSpPr>
        <p:spPr>
          <a:xfrm>
            <a:off x="822960" y="5806440"/>
            <a:ext cx="10515600" cy="548640"/>
          </a:xfrm>
          <a:prstGeom prst="rect">
            <a:avLst/>
          </a:prstGeom>
          <a:noFill/>
        </p:spPr>
        <p:txBody>
          <a:bodyPr wrap="square" lIns="0" rIns="0" tIns="0" bIns="0">
            <a:spAutoFit/>
          </a:bodyPr>
          <a:lstStyle/>
          <a:p>
            <a:pPr>
              <a:spcAft>
                <a:spcPts val="800"/>
              </a:spcAft>
            </a:pPr>
            <a:r>
              <a:rPr sz="1200" b="0">
                <a:solidFill>
                  <a:srgbClr val="636363"/>
                </a:solidFill>
                <a:latin typeface="Calibri"/>
              </a:rPr>
              <a:t>Based on </a:t>
            </a:r>
            <a:r>
              <a:rPr sz="1200" b="1">
                <a:solidFill>
                  <a:srgbClr val="1A2340"/>
                </a:solidFill>
                <a:latin typeface="Calibri"/>
              </a:rPr>
              <a:t>IEEE BigDataService 2026</a:t>
            </a:r>
            <a:r>
              <a:rPr sz="1200" b="0">
                <a:solidFill>
                  <a:srgbClr val="636363"/>
                </a:solidFill>
                <a:latin typeface="Calibri"/>
              </a:rPr>
              <a:t>, Special Track on Secure AI, paper 0204 (accepted). All figures measured; sample sizes stated throughout.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The finding, in one page</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2</a:t>
            </a:r>
          </a:p>
        </p:txBody>
      </p:sp>
      <p:sp>
        <p:nvSpPr>
          <p:cNvPr id="5" name="TextBox 4"/>
          <p:cNvSpPr txBox="1"/>
          <p:nvPr/>
        </p:nvSpPr>
        <p:spPr>
          <a:xfrm>
            <a:off x="566928" y="1298448"/>
            <a:ext cx="5806440" cy="4754880"/>
          </a:xfrm>
          <a:prstGeom prst="rect">
            <a:avLst/>
          </a:prstGeom>
          <a:noFill/>
        </p:spPr>
        <p:txBody>
          <a:bodyPr wrap="square" lIns="0" rIns="0" tIns="0" bIns="0">
            <a:spAutoFit/>
          </a:bodyPr>
          <a:lstStyle/>
          <a:p>
            <a:pPr>
              <a:spcAft>
                <a:spcPts val="400"/>
              </a:spcAft>
            </a:pPr>
            <a:r>
              <a:rPr sz="1700" b="1">
                <a:solidFill>
                  <a:srgbClr val="1A2340"/>
                </a:solidFill>
                <a:latin typeface="Calibri"/>
              </a:rPr>
              <a:t>1.  A reworded input changes the verdict.</a:t>
            </a:r>
          </a:p>
          <a:p>
            <a:pPr>
              <a:spcAft>
                <a:spcPts val="1200"/>
              </a:spcAft>
            </a:pPr>
            <a:r>
              <a:rPr sz="1400" b="0">
                <a:solidFill>
                  <a:srgbClr val="636363"/>
                </a:solidFill>
                <a:latin typeface="Calibri"/>
              </a:rPr>
              <a:t>Rewriting a situation in softer language, with the facts unchanged, lowers the measured harm score by </a:t>
            </a:r>
            <a:r>
              <a:rPr sz="1400" b="1">
                <a:solidFill>
                  <a:srgbClr val="D95F02"/>
                </a:solidFill>
                <a:latin typeface="Calibri"/>
              </a:rPr>
              <a:t>14.0 points on a 0–70 scale</a:t>
            </a:r>
            <a:r>
              <a:rPr sz="1400" b="0">
                <a:solidFill>
                  <a:srgbClr val="636363"/>
                </a:solidFill>
                <a:latin typeface="Calibri"/>
              </a:rPr>
              <a:t>. Three of six audited items silently move from FLAG to PASS.</a:t>
            </a:r>
          </a:p>
          <a:p>
            <a:pPr>
              <a:spcAft>
                <a:spcPts val="400"/>
              </a:spcAft>
            </a:pPr>
            <a:r>
              <a:rPr sz="1700" b="1">
                <a:solidFill>
                  <a:srgbClr val="1A2340"/>
                </a:solidFill>
                <a:latin typeface="Calibri"/>
              </a:rPr>
              <a:t>2.  It is a systematic fault, not noise.</a:t>
            </a:r>
          </a:p>
          <a:p>
            <a:pPr>
              <a:spcAft>
                <a:spcPts val="1200"/>
              </a:spcAft>
            </a:pPr>
            <a:r>
              <a:rPr sz="1400" b="0">
                <a:solidFill>
                  <a:srgbClr val="636363"/>
                </a:solidFill>
                <a:latin typeface="Calibri"/>
              </a:rPr>
              <a:t>Control perturbations that should not matter, and do not, confirm it: swapping gender or reordering cases moves nothing. Only changes that make irrelevant detail </a:t>
            </a:r>
            <a:r>
              <a:rPr sz="1400" b="1">
                <a:solidFill>
                  <a:srgbClr val="1A2340"/>
                </a:solidFill>
                <a:latin typeface="Calibri"/>
              </a:rPr>
              <a:t>more salient</a:t>
            </a:r>
            <a:r>
              <a:rPr sz="1400" b="0">
                <a:solidFill>
                  <a:srgbClr val="636363"/>
                </a:solidFill>
                <a:latin typeface="Calibri"/>
              </a:rPr>
              <a:t> move the verdict.</a:t>
            </a:r>
          </a:p>
          <a:p>
            <a:pPr>
              <a:spcAft>
                <a:spcPts val="400"/>
              </a:spcAft>
            </a:pPr>
            <a:r>
              <a:rPr sz="1700" b="1">
                <a:solidFill>
                  <a:srgbClr val="1A2340"/>
                </a:solidFill>
                <a:latin typeface="Calibri"/>
              </a:rPr>
              <a:t>3.  The obvious fix does not close it.</a:t>
            </a:r>
          </a:p>
          <a:p>
            <a:pPr>
              <a:spcAft>
                <a:spcPts val="1200"/>
              </a:spcAft>
            </a:pPr>
            <a:r>
              <a:rPr sz="1400" b="0">
                <a:solidFill>
                  <a:srgbClr val="636363"/>
                </a:solidFill>
                <a:latin typeface="Calibri"/>
              </a:rPr>
              <a:t>Paraphrase-and-average halves the drift on natural rewordings (0.407 → 0.219). Against deliberately softened register it fails: </a:t>
            </a:r>
            <a:r>
              <a:rPr sz="1400" b="1">
                <a:solidFill>
                  <a:srgbClr val="D95F02"/>
                </a:solidFill>
                <a:latin typeface="Calibri"/>
              </a:rPr>
              <a:t>3 of 3</a:t>
            </a:r>
            <a:r>
              <a:rPr sz="1400" b="0">
                <a:solidFill>
                  <a:srgbClr val="636363"/>
                </a:solidFill>
                <a:latin typeface="Calibri"/>
              </a:rPr>
              <a:t> flagged items still flip. Paraphrases of a euphemism stay euphemistic.</a:t>
            </a:r>
          </a:p>
          <a:p>
            <a:pPr>
              <a:spcAft>
                <a:spcPts val="400"/>
              </a:spcAft>
            </a:pPr>
            <a:r>
              <a:rPr sz="1700" b="1">
                <a:solidFill>
                  <a:srgbClr val="1A2340"/>
                </a:solidFill>
                <a:latin typeface="Calibri"/>
              </a:rPr>
              <a:t>4.  So the safe default has to carry it.</a:t>
            </a:r>
          </a:p>
          <a:p>
            <a:pPr>
              <a:spcAft>
                <a:spcPts val="800"/>
              </a:spcAft>
            </a:pPr>
            <a:r>
              <a:rPr sz="1400" b="0">
                <a:solidFill>
                  <a:srgbClr val="636363"/>
                </a:solidFill>
                <a:latin typeface="Calibri"/>
              </a:rPr>
              <a:t>Escalate to a human when the check cannot be trusted, rather than passing. In safety terms, a defined safe state rather than fail-operational.</a:t>
            </a:r>
          </a:p>
        </p:txBody>
      </p:sp>
      <p:sp>
        <p:nvSpPr>
          <p:cNvPr id="6" name="Rounded Rectangle 5"/>
          <p:cNvSpPr/>
          <p:nvPr/>
        </p:nvSpPr>
        <p:spPr>
          <a:xfrm>
            <a:off x="6629400" y="1298448"/>
            <a:ext cx="4983480" cy="228600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Why this matters for a components business</a:t>
            </a:r>
          </a:p>
          <a:p>
            <a:pPr>
              <a:spcAft>
                <a:spcPts val="500"/>
              </a:spcAft>
            </a:pPr>
            <a:r>
              <a:rPr sz="1400" b="0">
                <a:solidFill>
                  <a:srgbClr val="636363"/>
                </a:solidFill>
                <a:latin typeface="Calibri"/>
              </a:rPr>
              <a:t>A text classifier that can be reliably evaded by rewording is a </a:t>
            </a:r>
            <a:r>
              <a:rPr sz="1400" b="1">
                <a:solidFill>
                  <a:srgbClr val="1A2340"/>
                </a:solidFill>
                <a:latin typeface="Calibri"/>
              </a:rPr>
              <a:t>systematic</a:t>
            </a:r>
            <a:r>
              <a:rPr sz="1400" b="0">
                <a:solidFill>
                  <a:srgbClr val="636363"/>
                </a:solidFill>
                <a:latin typeface="Calibri"/>
              </a:rPr>
              <a:t> fault with low diagnostic coverage.</a:t>
            </a:r>
          </a:p>
          <a:p>
            <a:pPr>
              <a:spcAft>
                <a:spcPts val="500"/>
              </a:spcAft>
            </a:pPr>
            <a:r>
              <a:rPr sz="1400" b="0">
                <a:solidFill>
                  <a:srgbClr val="636363"/>
                </a:solidFill>
                <a:latin typeface="Calibri"/>
              </a:rPr>
              <a:t>A single robustness score does not detect it, and we measure why that score is mostly one general dimension.</a:t>
            </a:r>
          </a:p>
        </p:txBody>
      </p:sp>
      <p:sp>
        <p:nvSpPr>
          <p:cNvPr id="7" name="Rounded Rectangle 6"/>
          <p:cNvSpPr/>
          <p:nvPr/>
        </p:nvSpPr>
        <p:spPr>
          <a:xfrm>
            <a:off x="6629400" y="3767328"/>
            <a:ext cx="4983480" cy="228600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What we brought</a:t>
            </a:r>
          </a:p>
          <a:p>
            <a:pPr>
              <a:spcAft>
                <a:spcPts val="500"/>
              </a:spcAft>
            </a:pPr>
            <a:r>
              <a:rPr sz="1400" b="0">
                <a:solidFill>
                  <a:srgbClr val="636363"/>
                </a:solidFill>
                <a:latin typeface="Calibri"/>
              </a:rPr>
              <a:t>An instrument that profiles </a:t>
            </a:r>
            <a:r>
              <a:rPr sz="1400" b="1">
                <a:solidFill>
                  <a:srgbClr val="1A2340"/>
                </a:solidFill>
                <a:latin typeface="Calibri"/>
              </a:rPr>
              <a:t>where</a:t>
            </a:r>
            <a:r>
              <a:rPr sz="1400" b="0">
                <a:solidFill>
                  <a:srgbClr val="636363"/>
                </a:solidFill>
                <a:latin typeface="Calibri"/>
              </a:rPr>
              <a:t> a given model is vulnerable, across seven harm axes, validated for reliability across six models and five families.</a:t>
            </a:r>
          </a:p>
          <a:p>
            <a:pPr>
              <a:spcAft>
                <a:spcPts val="500"/>
              </a:spcAft>
            </a:pPr>
            <a:r>
              <a:rPr sz="1400" b="1">
                <a:solidFill>
                  <a:srgbClr val="1A2340"/>
                </a:solidFill>
                <a:latin typeface="Calibri"/>
              </a:rPr>
              <a:t>Not a score. A profile you can act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Where AI now sits in the decision path</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3</a:t>
            </a:r>
          </a:p>
        </p:txBody>
      </p:sp>
      <p:sp>
        <p:nvSpPr>
          <p:cNvPr id="5" name="TextBox 4"/>
          <p:cNvSpPr txBox="1"/>
          <p:nvPr/>
        </p:nvSpPr>
        <p:spPr>
          <a:xfrm>
            <a:off x="566928" y="1298448"/>
            <a:ext cx="5852160" cy="2194560"/>
          </a:xfrm>
          <a:prstGeom prst="rect">
            <a:avLst/>
          </a:prstGeom>
          <a:noFill/>
        </p:spPr>
        <p:txBody>
          <a:bodyPr wrap="square" lIns="0" rIns="0" tIns="0" bIns="0">
            <a:spAutoFit/>
          </a:bodyPr>
          <a:lstStyle/>
          <a:p>
            <a:pPr>
              <a:spcAft>
                <a:spcPts val="800"/>
              </a:spcAft>
            </a:pPr>
            <a:r>
              <a:rPr sz="1600" b="0">
                <a:solidFill>
                  <a:srgbClr val="636363"/>
                </a:solidFill>
                <a:latin typeface="Calibri"/>
              </a:rPr>
              <a:t>Language models increasingly sit </a:t>
            </a:r>
            <a:r>
              <a:rPr sz="1600" b="1">
                <a:solidFill>
                  <a:srgbClr val="1A2340"/>
                </a:solidFill>
                <a:latin typeface="Calibri"/>
              </a:rPr>
              <a:t>inside</a:t>
            </a:r>
            <a:r>
              <a:rPr sz="1600" b="0">
                <a:solidFill>
                  <a:srgbClr val="636363"/>
                </a:solidFill>
                <a:latin typeface="Calibri"/>
              </a:rPr>
              <a:t> decisions rather than beside them. They screen content, triage cases, summarise incidents, and classify reports.</a:t>
            </a:r>
          </a:p>
          <a:p>
            <a:pPr>
              <a:spcAft>
                <a:spcPts val="800"/>
              </a:spcAft>
            </a:pPr>
            <a:r>
              <a:rPr sz="1600" b="0">
                <a:solidFill>
                  <a:srgbClr val="636363"/>
                </a:solidFill>
                <a:latin typeface="Calibri"/>
              </a:rPr>
              <a:t>When a model gates a decision, it becomes a component with a failure mode, and it inherits the obligations of one.</a:t>
            </a:r>
          </a:p>
          <a:p>
            <a:pPr>
              <a:spcAft>
                <a:spcPts val="800"/>
              </a:spcAft>
            </a:pPr>
            <a:r>
              <a:rPr sz="1600" b="0">
                <a:solidFill>
                  <a:srgbClr val="636363"/>
                </a:solidFill>
                <a:latin typeface="Calibri"/>
              </a:rPr>
              <a:t>A sound evaluator should judge the </a:t>
            </a:r>
            <a:r>
              <a:rPr sz="1600" b="1">
                <a:solidFill>
                  <a:srgbClr val="1A2340"/>
                </a:solidFill>
                <a:latin typeface="Calibri"/>
              </a:rPr>
              <a:t>facts</a:t>
            </a:r>
            <a:r>
              <a:rPr sz="1600" b="0">
                <a:solidFill>
                  <a:srgbClr val="636363"/>
                </a:solidFill>
                <a:latin typeface="Calibri"/>
              </a:rPr>
              <a:t>, not their </a:t>
            </a:r>
            <a:r>
              <a:rPr sz="1600" b="1">
                <a:solidFill>
                  <a:srgbClr val="D95F02"/>
                </a:solidFill>
                <a:latin typeface="Calibri"/>
              </a:rPr>
              <a:t>presentation</a:t>
            </a:r>
            <a:r>
              <a:rPr sz="1600" b="0">
                <a:solidFill>
                  <a:srgbClr val="636363"/>
                </a:solidFill>
                <a:latin typeface="Calibri"/>
              </a:rPr>
              <a:t>.</a:t>
            </a:r>
          </a:p>
        </p:txBody>
      </p:sp>
      <p:sp>
        <p:nvSpPr>
          <p:cNvPr id="6" name="Rounded Rectangle 5"/>
          <p:cNvSpPr/>
          <p:nvPr/>
        </p:nvSpPr>
        <p:spPr>
          <a:xfrm>
            <a:off x="7772400" y="1481328"/>
            <a:ext cx="2286000" cy="475488"/>
          </a:xfrm>
          <a:prstGeom prst="roundRect">
            <a:avLst>
              <a:gd name="adj" fmla="val 10000"/>
            </a:avLst>
          </a:prstGeom>
          <a:solidFill>
            <a:srgbClr val="F4F4F4"/>
          </a:solidFill>
          <a:ln w="13970">
            <a:solidFill>
              <a:srgbClr val="1A23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a:solidFill>
                  <a:srgbClr val="1A2340"/>
                </a:solidFill>
                <a:latin typeface="Calibri"/>
              </a:rPr>
              <a:t>the same situation</a:t>
            </a:r>
          </a:p>
        </p:txBody>
      </p:sp>
      <p:sp>
        <p:nvSpPr>
          <p:cNvPr id="7" name="Rounded Rectangle 6"/>
          <p:cNvSpPr/>
          <p:nvPr/>
        </p:nvSpPr>
        <p:spPr>
          <a:xfrm>
            <a:off x="6537960" y="2487168"/>
            <a:ext cx="2148840" cy="475488"/>
          </a:xfrm>
          <a:prstGeom prst="roundRect">
            <a:avLst>
              <a:gd name="adj" fmla="val 10000"/>
            </a:avLst>
          </a:prstGeom>
          <a:solidFill>
            <a:srgbClr val="FFFFFF"/>
          </a:solidFill>
          <a:ln w="13970">
            <a:solidFill>
              <a:srgbClr val="63636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stated plainly</a:t>
            </a:r>
          </a:p>
        </p:txBody>
      </p:sp>
      <p:sp>
        <p:nvSpPr>
          <p:cNvPr id="8" name="Rounded Rectangle 7"/>
          <p:cNvSpPr/>
          <p:nvPr/>
        </p:nvSpPr>
        <p:spPr>
          <a:xfrm>
            <a:off x="9052560" y="2487168"/>
            <a:ext cx="2148840" cy="475488"/>
          </a:xfrm>
          <a:prstGeom prst="roundRect">
            <a:avLst>
              <a:gd name="adj" fmla="val 10000"/>
            </a:avLst>
          </a:prstGeom>
          <a:solidFill>
            <a:srgbClr val="FFFFFF"/>
          </a:solidFill>
          <a:ln w="13970">
            <a:solidFill>
              <a:srgbClr val="63636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softened wording</a:t>
            </a:r>
          </a:p>
        </p:txBody>
      </p:sp>
      <p:sp>
        <p:nvSpPr>
          <p:cNvPr id="9" name="Rounded Rectangle 8"/>
          <p:cNvSpPr/>
          <p:nvPr/>
        </p:nvSpPr>
        <p:spPr>
          <a:xfrm>
            <a:off x="6995160" y="3429000"/>
            <a:ext cx="1234440" cy="457200"/>
          </a:xfrm>
          <a:prstGeom prst="roundRect">
            <a:avLst>
              <a:gd name="adj" fmla="val 10000"/>
            </a:avLst>
          </a:prstGeom>
          <a:solidFill>
            <a:srgbClr val="FFFFFF"/>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a:solidFill>
                  <a:srgbClr val="2171B5"/>
                </a:solidFill>
                <a:latin typeface="Calibri"/>
              </a:rPr>
              <a:t>FLAG</a:t>
            </a:r>
          </a:p>
        </p:txBody>
      </p:sp>
      <p:sp>
        <p:nvSpPr>
          <p:cNvPr id="10" name="Rounded Rectangle 9"/>
          <p:cNvSpPr/>
          <p:nvPr/>
        </p:nvSpPr>
        <p:spPr>
          <a:xfrm>
            <a:off x="9509760" y="3429000"/>
            <a:ext cx="1234440" cy="457200"/>
          </a:xfrm>
          <a:prstGeom prst="roundRect">
            <a:avLst>
              <a:gd name="adj" fmla="val 10000"/>
            </a:avLst>
          </a:prstGeom>
          <a:solidFill>
            <a:srgbClr val="FFFFFF"/>
          </a:solidFill>
          <a:ln w="13970">
            <a:solidFill>
              <a:srgbClr val="D95F0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300" b="1">
                <a:solidFill>
                  <a:srgbClr val="D95F02"/>
                </a:solidFill>
                <a:latin typeface="Calibri"/>
              </a:rPr>
              <a:t>PASS</a:t>
            </a:r>
          </a:p>
        </p:txBody>
      </p:sp>
      <p:sp>
        <p:nvSpPr>
          <p:cNvPr id="11" name="TextBox 10"/>
          <p:cNvSpPr txBox="1"/>
          <p:nvPr/>
        </p:nvSpPr>
        <p:spPr>
          <a:xfrm>
            <a:off x="6537960" y="4041648"/>
            <a:ext cx="4663440" cy="731520"/>
          </a:xfrm>
          <a:prstGeom prst="rect">
            <a:avLst/>
          </a:prstGeom>
          <a:noFill/>
        </p:spPr>
        <p:txBody>
          <a:bodyPr wrap="square" lIns="0" rIns="0" tIns="0" bIns="0">
            <a:spAutoFit/>
          </a:bodyPr>
          <a:lstStyle/>
          <a:p>
            <a:pPr algn="ctr"/>
            <a:r>
              <a:rPr sz="1200" b="0">
                <a:solidFill>
                  <a:srgbClr val="636363"/>
                </a:solidFill>
                <a:latin typeface="Calibri"/>
              </a:rPr>
              <a:t>same facts, different verdict:
the wording is the attack surface</a:t>
            </a:r>
          </a:p>
        </p:txBody>
      </p:sp>
      <p:sp>
        <p:nvSpPr>
          <p:cNvPr id="12" name="Rounded Rectangle 11"/>
          <p:cNvSpPr/>
          <p:nvPr/>
        </p:nvSpPr>
        <p:spPr>
          <a:xfrm>
            <a:off x="566928" y="3977639"/>
            <a:ext cx="5852160" cy="196596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The measurement gap we set out to close</a:t>
            </a:r>
          </a:p>
          <a:p>
            <a:pPr>
              <a:spcAft>
                <a:spcPts val="500"/>
              </a:spcAft>
            </a:pPr>
            <a:r>
              <a:rPr sz="1400" b="0">
                <a:solidFill>
                  <a:srgbClr val="636363"/>
                </a:solidFill>
                <a:latin typeface="Calibri"/>
              </a:rPr>
              <a:t>Existing work probes one bias at a time and reports a </a:t>
            </a:r>
            <a:r>
              <a:rPr sz="1400" b="1">
                <a:solidFill>
                  <a:srgbClr val="1A2340"/>
                </a:solidFill>
                <a:latin typeface="Calibri"/>
              </a:rPr>
              <a:t>single robustness number</a:t>
            </a:r>
            <a:r>
              <a:rPr sz="1400" b="0">
                <a:solidFill>
                  <a:srgbClr val="636363"/>
                </a:solidFill>
                <a:latin typeface="Calibri"/>
              </a:rPr>
              <a:t>.</a:t>
            </a:r>
          </a:p>
          <a:p>
            <a:pPr>
              <a:spcAft>
                <a:spcPts val="500"/>
              </a:spcAft>
            </a:pPr>
            <a:r>
              <a:rPr sz="1400" b="0">
                <a:solidFill>
                  <a:srgbClr val="636363"/>
                </a:solidFill>
                <a:latin typeface="Calibri"/>
              </a:rPr>
              <a:t>Across several independent failure directions, one number keeps one and discards the rest. No later step recovers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The failure, measured</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4</a:t>
            </a:r>
          </a:p>
        </p:txBody>
      </p:sp>
      <p:sp>
        <p:nvSpPr>
          <p:cNvPr id="5" name="TextBox 4"/>
          <p:cNvSpPr txBox="1"/>
          <p:nvPr/>
        </p:nvSpPr>
        <p:spPr>
          <a:xfrm>
            <a:off x="566928" y="1298448"/>
            <a:ext cx="11064240" cy="731520"/>
          </a:xfrm>
          <a:prstGeom prst="rect">
            <a:avLst/>
          </a:prstGeom>
          <a:noFill/>
        </p:spPr>
        <p:txBody>
          <a:bodyPr wrap="square" lIns="0" rIns="0" tIns="0" bIns="0">
            <a:spAutoFit/>
          </a:bodyPr>
          <a:lstStyle/>
          <a:p>
            <a:pPr>
              <a:spcAft>
                <a:spcPts val="800"/>
              </a:spcAft>
            </a:pPr>
            <a:r>
              <a:rPr sz="1500" b="0">
                <a:solidFill>
                  <a:srgbClr val="636363"/>
                </a:solidFill>
                <a:latin typeface="Calibri"/>
              </a:rPr>
              <a:t>Setup: a content check that flags a case when total measured harm exceeds a threshold. We rewrite each case in softer language while holding the facts fixed, then re-measure.</a:t>
            </a:r>
          </a:p>
        </p:txBody>
      </p:sp>
      <p:graphicFrame>
        <p:nvGraphicFramePr>
          <p:cNvPr id="6" name="Table 5"/>
          <p:cNvGraphicFramePr>
            <a:graphicFrameLocks noGrp="1"/>
          </p:cNvGraphicFramePr>
          <p:nvPr/>
        </p:nvGraphicFramePr>
        <p:xfrm>
          <a:off x="566928" y="2212848"/>
          <a:ext cx="11064239" cy="1243584"/>
        </p:xfrm>
        <a:graphic>
          <a:graphicData uri="http://schemas.openxmlformats.org/drawingml/2006/table">
            <a:tbl>
              <a:tblPr firstRow="1" bandRow="1">
                <a:tableStyleId>{5C22544A-7EE6-4342-B048-85BDC9FD1C3A}</a:tableStyleId>
              </a:tblPr>
              <a:tblGrid>
                <a:gridCol w="2377440"/>
                <a:gridCol w="3749039"/>
                <a:gridCol w="4937760"/>
              </a:tblGrid>
              <a:tr h="310896">
                <a:tc>
                  <a:txBody>
                    <a:bodyPr wrap="square"/>
                    <a:lstStyle/>
                    <a:p>
                      <a:pPr algn="l"/>
                      <a:r>
                        <a:rPr sz="1300" b="1">
                          <a:solidFill>
                            <a:srgbClr val="1A2340"/>
                          </a:solidFill>
                          <a:latin typeface="Calibri"/>
                        </a:rPr>
                        <a:t/>
                      </a:r>
                    </a:p>
                  </a:txBody>
                  <a:tcPr marL="73152" marR="73152" marT="18288" marB="18288">
                    <a:solidFill>
                      <a:srgbClr val="E4EDF7"/>
                    </a:solidFill>
                  </a:tcPr>
                </a:tc>
                <a:tc>
                  <a:txBody>
                    <a:bodyPr wrap="square"/>
                    <a:lstStyle/>
                    <a:p>
                      <a:pPr algn="ctr"/>
                      <a:r>
                        <a:rPr sz="1300" b="1">
                          <a:solidFill>
                            <a:srgbClr val="1A2340"/>
                          </a:solidFill>
                          <a:latin typeface="Calibri"/>
                        </a:rPr>
                        <a:t>Effect on the measured harm score</a:t>
                      </a:r>
                    </a:p>
                  </a:txBody>
                  <a:tcPr marL="73152" marR="73152" marT="18288" marB="18288">
                    <a:solidFill>
                      <a:srgbClr val="E4EDF7"/>
                    </a:solidFill>
                  </a:tcPr>
                </a:tc>
                <a:tc>
                  <a:txBody>
                    <a:bodyPr wrap="square"/>
                    <a:lstStyle/>
                    <a:p>
                      <a:pPr algn="ctr"/>
                      <a:r>
                        <a:rPr sz="1300" b="1">
                          <a:solidFill>
                            <a:srgbClr val="1A2340"/>
                          </a:solidFill>
                          <a:latin typeface="Calibri"/>
                        </a:rPr>
                        <a:t>Interpretation</a:t>
                      </a:r>
                    </a:p>
                  </a:txBody>
                  <a:tcPr marL="73152" marR="73152" marT="18288" marB="18288">
                    <a:solidFill>
                      <a:srgbClr val="E4EDF7"/>
                    </a:solidFill>
                  </a:tcPr>
                </a:tc>
              </a:tr>
              <a:tr h="310896">
                <a:tc>
                  <a:txBody>
                    <a:bodyPr wrap="square"/>
                    <a:lstStyle/>
                    <a:p>
                      <a:pPr algn="l"/>
                      <a:r>
                        <a:rPr sz="1300" b="0">
                          <a:solidFill>
                            <a:srgbClr val="1A2340"/>
                          </a:solidFill>
                          <a:latin typeface="Calibri"/>
                        </a:rPr>
                        <a:t>Softened wording</a:t>
                      </a:r>
                    </a:p>
                  </a:txBody>
                  <a:tcPr marL="73152" marR="73152" marT="18288" marB="18288">
                    <a:solidFill>
                      <a:srgbClr val="FFFFFF"/>
                    </a:solidFill>
                  </a:tcPr>
                </a:tc>
                <a:tc>
                  <a:txBody>
                    <a:bodyPr wrap="square"/>
                    <a:lstStyle/>
                    <a:p>
                      <a:pPr algn="ctr"/>
                      <a:r>
                        <a:rPr sz="1300" b="1">
                          <a:solidFill>
                            <a:srgbClr val="D95F02"/>
                          </a:solidFill>
                          <a:latin typeface="Calibri"/>
                        </a:rPr>
                        <a:t>−14.0 points (0–70 scale)</a:t>
                      </a:r>
                    </a:p>
                  </a:txBody>
                  <a:tcPr marL="73152" marR="73152" marT="18288" marB="18288">
                    <a:solidFill>
                      <a:srgbClr val="FFFFFF"/>
                    </a:solidFill>
                  </a:tcPr>
                </a:tc>
                <a:tc>
                  <a:txBody>
                    <a:bodyPr wrap="square"/>
                    <a:lstStyle/>
                    <a:p>
                      <a:pPr algn="ctr"/>
                      <a:r>
                        <a:rPr sz="1300" b="0">
                          <a:solidFill>
                            <a:srgbClr val="1A2340"/>
                          </a:solidFill>
                          <a:latin typeface="Calibri"/>
                        </a:rPr>
                        <a:t>4 of 6 audited items move more than 10 points</a:t>
                      </a:r>
                    </a:p>
                  </a:txBody>
                  <a:tcPr marL="73152" marR="73152" marT="18288" marB="18288">
                    <a:solidFill>
                      <a:srgbClr val="FFFFFF"/>
                    </a:solidFill>
                  </a:tcPr>
                </a:tc>
              </a:tr>
              <a:tr h="310896">
                <a:tc>
                  <a:txBody>
                    <a:bodyPr wrap="square"/>
                    <a:lstStyle/>
                    <a:p>
                      <a:pPr algn="l"/>
                      <a:r>
                        <a:rPr sz="1300" b="0">
                          <a:solidFill>
                            <a:srgbClr val="1A2340"/>
                          </a:solidFill>
                          <a:latin typeface="Calibri"/>
                        </a:rPr>
                        <a:t>Dramatised wording</a:t>
                      </a:r>
                    </a:p>
                  </a:txBody>
                  <a:tcPr marL="73152" marR="73152" marT="18288" marB="18288">
                    <a:solidFill>
                      <a:srgbClr val="FFFFFF"/>
                    </a:solidFill>
                  </a:tcPr>
                </a:tc>
                <a:tc>
                  <a:txBody>
                    <a:bodyPr wrap="square"/>
                    <a:lstStyle/>
                    <a:p>
                      <a:pPr algn="ctr"/>
                      <a:r>
                        <a:rPr sz="1300" b="0">
                          <a:solidFill>
                            <a:srgbClr val="1A2340"/>
                          </a:solidFill>
                          <a:latin typeface="Calibri"/>
                        </a:rPr>
                        <a:t>+7.3 points</a:t>
                      </a:r>
                    </a:p>
                  </a:txBody>
                  <a:tcPr marL="73152" marR="73152" marT="18288" marB="18288">
                    <a:solidFill>
                      <a:srgbClr val="FFFFFF"/>
                    </a:solidFill>
                  </a:tcPr>
                </a:tc>
                <a:tc>
                  <a:txBody>
                    <a:bodyPr wrap="square"/>
                    <a:lstStyle/>
                    <a:p>
                      <a:pPr algn="ctr"/>
                      <a:r>
                        <a:rPr sz="1300" b="0">
                          <a:solidFill>
                            <a:srgbClr val="1A2340"/>
                          </a:solidFill>
                          <a:latin typeface="Calibri"/>
                        </a:rPr>
                        <a:t>Raising alarm is much harder than lowering it</a:t>
                      </a:r>
                    </a:p>
                  </a:txBody>
                  <a:tcPr marL="73152" marR="73152" marT="18288" marB="18288">
                    <a:solidFill>
                      <a:srgbClr val="FFFFFF"/>
                    </a:solidFill>
                  </a:tcPr>
                </a:tc>
              </a:tr>
              <a:tr h="310896">
                <a:tc>
                  <a:txBody>
                    <a:bodyPr wrap="square"/>
                    <a:lstStyle/>
                    <a:p>
                      <a:pPr algn="l"/>
                      <a:r>
                        <a:rPr sz="1300" b="0">
                          <a:solidFill>
                            <a:srgbClr val="1A2340"/>
                          </a:solidFill>
                          <a:latin typeface="Calibri"/>
                        </a:rPr>
                        <a:t>At a calibrated threshold</a:t>
                      </a:r>
                    </a:p>
                  </a:txBody>
                  <a:tcPr marL="73152" marR="73152" marT="18288" marB="18288">
                    <a:solidFill>
                      <a:srgbClr val="FFFFFF"/>
                    </a:solidFill>
                  </a:tcPr>
                </a:tc>
                <a:tc>
                  <a:txBody>
                    <a:bodyPr wrap="square"/>
                    <a:lstStyle/>
                    <a:p>
                      <a:pPr algn="ctr"/>
                      <a:r>
                        <a:rPr sz="1300" b="1">
                          <a:solidFill>
                            <a:srgbClr val="D95F02"/>
                          </a:solidFill>
                          <a:latin typeface="Calibri"/>
                        </a:rPr>
                        <a:t>3 of 6 flip FLAG → PASS</a:t>
                      </a:r>
                    </a:p>
                  </a:txBody>
                  <a:tcPr marL="73152" marR="73152" marT="18288" marB="18288">
                    <a:solidFill>
                      <a:srgbClr val="FFFFFF"/>
                    </a:solidFill>
                  </a:tcPr>
                </a:tc>
                <a:tc>
                  <a:txBody>
                    <a:bodyPr wrap="square"/>
                    <a:lstStyle/>
                    <a:p>
                      <a:pPr algn="ctr"/>
                      <a:r>
                        <a:rPr sz="1300" b="0">
                          <a:solidFill>
                            <a:srgbClr val="1A2340"/>
                          </a:solidFill>
                          <a:latin typeface="Calibri"/>
                        </a:rPr>
                        <a:t>Hand-audited gold items; an existence proof, not a rate</a:t>
                      </a:r>
                    </a:p>
                  </a:txBody>
                  <a:tcPr marL="73152" marR="73152" marT="18288" marB="18288">
                    <a:solidFill>
                      <a:srgbClr val="FFFFFF"/>
                    </a:solidFill>
                  </a:tcPr>
                </a:tc>
              </a:tr>
            </a:tbl>
          </a:graphicData>
        </a:graphic>
      </p:graphicFrame>
      <p:sp>
        <p:nvSpPr>
          <p:cNvPr id="7" name="Rounded Rectangle 6"/>
          <p:cNvSpPr/>
          <p:nvPr/>
        </p:nvSpPr>
        <p:spPr>
          <a:xfrm>
            <a:off x="566928" y="3794760"/>
            <a:ext cx="5394960" cy="214884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The asymmetry is the dangerous part</a:t>
            </a:r>
          </a:p>
          <a:p>
            <a:pPr>
              <a:spcAft>
                <a:spcPts val="500"/>
              </a:spcAft>
            </a:pPr>
            <a:r>
              <a:rPr sz="1400" b="1">
                <a:solidFill>
                  <a:srgbClr val="1A2340"/>
                </a:solidFill>
                <a:latin typeface="Calibri"/>
              </a:rPr>
              <a:t>Hiding harm is far easier than manufacturing it.</a:t>
            </a:r>
          </a:p>
          <a:p>
            <a:pPr>
              <a:spcAft>
                <a:spcPts val="500"/>
              </a:spcAft>
            </a:pPr>
            <a:r>
              <a:rPr sz="1400" b="0">
                <a:solidFill>
                  <a:srgbClr val="636363"/>
                </a:solidFill>
                <a:latin typeface="Calibri"/>
              </a:rPr>
              <a:t>An attacker wants exactly the easy direction, and a reviewer checking for false alarms will not see it.</a:t>
            </a:r>
          </a:p>
        </p:txBody>
      </p:sp>
      <p:sp>
        <p:nvSpPr>
          <p:cNvPr id="8" name="Rounded Rectangle 7"/>
          <p:cNvSpPr/>
          <p:nvPr/>
        </p:nvSpPr>
        <p:spPr>
          <a:xfrm>
            <a:off x="6236208" y="3794760"/>
            <a:ext cx="5394960" cy="214884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Effect sizes, not just significance</a:t>
            </a:r>
          </a:p>
          <a:p>
            <a:pPr>
              <a:spcAft>
                <a:spcPts val="500"/>
              </a:spcAft>
            </a:pPr>
            <a:r>
              <a:rPr sz="1400" b="0">
                <a:solidFill>
                  <a:srgbClr val="636363"/>
                </a:solidFill>
                <a:latin typeface="Calibri"/>
              </a:rPr>
              <a:t>Emotional anchoring: paired effect size </a:t>
            </a:r>
            <a:r>
              <a:rPr sz="1400" b="1">
                <a:solidFill>
                  <a:srgbClr val="1A2340"/>
                </a:solidFill>
                <a:latin typeface="Calibri"/>
              </a:rPr>
              <a:t>d₂ = 0.60 to 1.06</a:t>
            </a:r>
            <a:r>
              <a:rPr sz="1400" b="0">
                <a:solidFill>
                  <a:srgbClr val="636363"/>
                </a:solidFill>
                <a:latin typeface="Calibri"/>
              </a:rPr>
              <a:t>.</a:t>
            </a:r>
          </a:p>
          <a:p>
            <a:pPr>
              <a:spcAft>
                <a:spcPts val="500"/>
              </a:spcAft>
            </a:pPr>
            <a:r>
              <a:rPr sz="1400" b="0">
                <a:solidFill>
                  <a:srgbClr val="636363"/>
                </a:solidFill>
                <a:latin typeface="Calibri"/>
              </a:rPr>
              <a:t>Reported as displacement in harm points and effect size, so the magnitude is legible rather than only the p-value.</a:t>
            </a:r>
          </a:p>
        </p:txBody>
      </p:sp>
      <p:sp>
        <p:nvSpPr>
          <p:cNvPr id="9" name="TextBox 8"/>
          <p:cNvSpPr txBox="1"/>
          <p:nvPr/>
        </p:nvSpPr>
        <p:spPr>
          <a:xfrm>
            <a:off x="566928" y="6236208"/>
            <a:ext cx="10607040" cy="457200"/>
          </a:xfrm>
          <a:prstGeom prst="rect">
            <a:avLst/>
          </a:prstGeom>
          <a:noFill/>
        </p:spPr>
        <p:txBody>
          <a:bodyPr wrap="square" lIns="0" rIns="0" tIns="0" bIns="0">
            <a:spAutoFit/>
          </a:bodyPr>
          <a:lstStyle/>
          <a:p>
            <a:r>
              <a:rPr sz="1100" b="0">
                <a:solidFill>
                  <a:srgbClr val="636363"/>
                </a:solidFill>
                <a:latin typeface="Calibri"/>
              </a:rPr>
              <a:t>n = 6 hand-audited gold items for the threshold result. We report it as an existence proof and say so on the limits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This is a systematic fault, not noise</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5</a:t>
            </a:r>
          </a:p>
        </p:txBody>
      </p:sp>
      <p:sp>
        <p:nvSpPr>
          <p:cNvPr id="5" name="TextBox 4"/>
          <p:cNvSpPr txBox="1"/>
          <p:nvPr/>
        </p:nvSpPr>
        <p:spPr>
          <a:xfrm>
            <a:off x="566928" y="1298448"/>
            <a:ext cx="11064240" cy="548640"/>
          </a:xfrm>
          <a:prstGeom prst="rect">
            <a:avLst/>
          </a:prstGeom>
          <a:noFill/>
        </p:spPr>
        <p:txBody>
          <a:bodyPr wrap="square" lIns="0" rIns="0" tIns="0" bIns="0">
            <a:spAutoFit/>
          </a:bodyPr>
          <a:lstStyle/>
          <a:p>
            <a:pPr>
              <a:spcAft>
                <a:spcPts val="800"/>
              </a:spcAft>
            </a:pPr>
            <a:r>
              <a:rPr sz="1500" b="0">
                <a:solidFill>
                  <a:srgbClr val="636363"/>
                </a:solidFill>
                <a:latin typeface="Calibri"/>
              </a:rPr>
              <a:t>The distinction matters because the two call for different treatment. We tested it directly by including perturbations that ought to change nothing.</a:t>
            </a:r>
          </a:p>
        </p:txBody>
      </p:sp>
      <p:sp>
        <p:nvSpPr>
          <p:cNvPr id="6" name="Rounded Rectangle 5"/>
          <p:cNvSpPr/>
          <p:nvPr/>
        </p:nvSpPr>
        <p:spPr>
          <a:xfrm>
            <a:off x="566928" y="2029968"/>
            <a:ext cx="5394960" cy="1874519"/>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600" b="1">
                <a:solidFill>
                  <a:srgbClr val="1A2340"/>
                </a:solidFill>
                <a:latin typeface="Calibri"/>
              </a:rPr>
              <a:t>Moves the verdict</a:t>
            </a:r>
          </a:p>
          <a:p>
            <a:pPr>
              <a:spcAft>
                <a:spcPts val="500"/>
              </a:spcAft>
            </a:pPr>
            <a:r>
              <a:rPr sz="1500" b="1">
                <a:solidFill>
                  <a:srgbClr val="D95F02"/>
                </a:solidFill>
                <a:latin typeface="Calibri"/>
              </a:rPr>
              <a:t>Linguistic framing</a:t>
            </a:r>
          </a:p>
          <a:p>
            <a:pPr>
              <a:spcAft>
                <a:spcPts val="500"/>
              </a:spcAft>
            </a:pPr>
            <a:r>
              <a:rPr sz="1500" b="1">
                <a:solidFill>
                  <a:srgbClr val="D95F02"/>
                </a:solidFill>
                <a:latin typeface="Calibri"/>
              </a:rPr>
              <a:t>Emotional anchoring</a:t>
            </a:r>
          </a:p>
          <a:p>
            <a:pPr>
              <a:spcAft>
                <a:spcPts val="500"/>
              </a:spcAft>
            </a:pPr>
            <a:r>
              <a:rPr sz="1500" b="1">
                <a:solidFill>
                  <a:srgbClr val="D95F02"/>
                </a:solidFill>
                <a:latin typeface="Calibri"/>
              </a:rPr>
              <a:t>Irrelevant sensory detail</a:t>
            </a:r>
          </a:p>
        </p:txBody>
      </p:sp>
      <p:sp>
        <p:nvSpPr>
          <p:cNvPr id="7" name="Rounded Rectangle 6"/>
          <p:cNvSpPr/>
          <p:nvPr/>
        </p:nvSpPr>
        <p:spPr>
          <a:xfrm>
            <a:off x="6236208" y="2029968"/>
            <a:ext cx="5394960" cy="1874519"/>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600" b="1">
                <a:solidFill>
                  <a:srgbClr val="1A2340"/>
                </a:solidFill>
                <a:latin typeface="Calibri"/>
              </a:rPr>
              <a:t>Does not move the verdict</a:t>
            </a:r>
          </a:p>
          <a:p>
            <a:pPr>
              <a:spcAft>
                <a:spcPts val="500"/>
              </a:spcAft>
            </a:pPr>
            <a:r>
              <a:rPr sz="1500" b="0">
                <a:solidFill>
                  <a:srgbClr val="636363"/>
                </a:solidFill>
                <a:latin typeface="Calibri"/>
              </a:rPr>
              <a:t>Swapping the gender of the people involved</a:t>
            </a:r>
          </a:p>
          <a:p>
            <a:pPr>
              <a:spcAft>
                <a:spcPts val="500"/>
              </a:spcAft>
            </a:pPr>
            <a:r>
              <a:rPr sz="1500" b="0">
                <a:solidFill>
                  <a:srgbClr val="636363"/>
                </a:solidFill>
                <a:latin typeface="Calibri"/>
              </a:rPr>
              <a:t>Changing the order cases are evaluated in</a:t>
            </a:r>
          </a:p>
        </p:txBody>
      </p:sp>
      <p:sp>
        <p:nvSpPr>
          <p:cNvPr id="8" name="Rounded Rectangle 7"/>
          <p:cNvSpPr/>
          <p:nvPr/>
        </p:nvSpPr>
        <p:spPr>
          <a:xfrm>
            <a:off x="566928" y="4114800"/>
            <a:ext cx="11064240" cy="182880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600" b="1">
                <a:solidFill>
                  <a:srgbClr val="1A2340"/>
                </a:solidFill>
                <a:latin typeface="Calibri"/>
              </a:rPr>
              <a:t>What the contrast tells us</a:t>
            </a:r>
          </a:p>
          <a:p>
            <a:pPr>
              <a:spcAft>
                <a:spcPts val="500"/>
              </a:spcAft>
            </a:pPr>
            <a:r>
              <a:rPr sz="1500" b="0">
                <a:solidFill>
                  <a:srgbClr val="636363"/>
                </a:solidFill>
                <a:latin typeface="Calibri"/>
              </a:rPr>
              <a:t>The three live surfaces share one mechanism: they make morally irrelevant features </a:t>
            </a:r>
            <a:r>
              <a:rPr sz="1500" b="1">
                <a:solidFill>
                  <a:srgbClr val="1A2340"/>
                </a:solidFill>
                <a:latin typeface="Calibri"/>
              </a:rPr>
              <a:t>more noticeable</a:t>
            </a:r>
            <a:r>
              <a:rPr sz="1500" b="0">
                <a:solidFill>
                  <a:srgbClr val="636363"/>
                </a:solidFill>
                <a:latin typeface="Calibri"/>
              </a:rPr>
              <a:t>. The two inert ones do not.</a:t>
            </a:r>
          </a:p>
          <a:p>
            <a:pPr>
              <a:spcAft>
                <a:spcPts val="500"/>
              </a:spcAft>
            </a:pPr>
            <a:r>
              <a:rPr sz="1500" b="0">
                <a:solidFill>
                  <a:srgbClr val="636363"/>
                </a:solidFill>
                <a:latin typeface="Calibri"/>
              </a:rPr>
              <a:t>So the effect is directional and reproducible, which makes it a systematic fault. It will not average out across many cases, and it will not be caught by testing more of the same inputs.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What does not fix it, measured honestly</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6</a:t>
            </a:r>
          </a:p>
        </p:txBody>
      </p:sp>
      <p:sp>
        <p:nvSpPr>
          <p:cNvPr id="5" name="TextBox 4"/>
          <p:cNvSpPr txBox="1"/>
          <p:nvPr/>
        </p:nvSpPr>
        <p:spPr>
          <a:xfrm>
            <a:off x="566928" y="1298448"/>
            <a:ext cx="11064240" cy="502920"/>
          </a:xfrm>
          <a:prstGeom prst="rect">
            <a:avLst/>
          </a:prstGeom>
          <a:noFill/>
        </p:spPr>
        <p:txBody>
          <a:bodyPr wrap="square" lIns="0" rIns="0" tIns="0" bIns="0">
            <a:spAutoFit/>
          </a:bodyPr>
          <a:lstStyle/>
          <a:p>
            <a:pPr>
              <a:spcAft>
                <a:spcPts val="800"/>
              </a:spcAft>
            </a:pPr>
            <a:r>
              <a:rPr sz="1500" b="0">
                <a:solidFill>
                  <a:srgbClr val="636363"/>
                </a:solidFill>
                <a:latin typeface="Calibri"/>
              </a:rPr>
              <a:t>The natural defence: generate several paraphrases of the input, score them all, and average. If wording is the attack surface, averaging over wordings should blunt it.</a:t>
            </a:r>
          </a:p>
        </p:txBody>
      </p:sp>
      <p:sp>
        <p:nvSpPr>
          <p:cNvPr id="6" name="Rounded Rectangle 5"/>
          <p:cNvSpPr/>
          <p:nvPr/>
        </p:nvSpPr>
        <p:spPr>
          <a:xfrm>
            <a:off x="566928" y="2011680"/>
            <a:ext cx="1371600" cy="566928"/>
          </a:xfrm>
          <a:prstGeom prst="roundRect">
            <a:avLst>
              <a:gd name="adj" fmla="val 10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input</a:t>
            </a:r>
          </a:p>
        </p:txBody>
      </p:sp>
      <p:sp>
        <p:nvSpPr>
          <p:cNvPr id="7" name="Right Arrow 6"/>
          <p:cNvSpPr/>
          <p:nvPr/>
        </p:nvSpPr>
        <p:spPr>
          <a:xfrm>
            <a:off x="2029968" y="2231136"/>
            <a:ext cx="457200" cy="118872"/>
          </a:xfrm>
          <a:prstGeom prst="rightArrow">
            <a:avLst/>
          </a:prstGeom>
          <a:solidFill>
            <a:srgbClr val="636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78608" y="2011680"/>
            <a:ext cx="2103120" cy="566928"/>
          </a:xfrm>
          <a:prstGeom prst="roundRect">
            <a:avLst>
              <a:gd name="adj" fmla="val 10000"/>
            </a:avLst>
          </a:prstGeom>
          <a:solidFill>
            <a:srgbClr val="FFFFFF"/>
          </a:solidFill>
          <a:ln w="13970">
            <a:solidFill>
              <a:srgbClr val="D95F0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paraphrase set</a:t>
            </a:r>
          </a:p>
        </p:txBody>
      </p:sp>
      <p:sp>
        <p:nvSpPr>
          <p:cNvPr id="9" name="Right Arrow 8"/>
          <p:cNvSpPr/>
          <p:nvPr/>
        </p:nvSpPr>
        <p:spPr>
          <a:xfrm>
            <a:off x="4773168" y="2231136"/>
            <a:ext cx="457200" cy="118872"/>
          </a:xfrm>
          <a:prstGeom prst="rightArrow">
            <a:avLst/>
          </a:prstGeom>
          <a:solidFill>
            <a:srgbClr val="636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21808" y="2011680"/>
            <a:ext cx="1737360" cy="566928"/>
          </a:xfrm>
          <a:prstGeom prst="roundRect">
            <a:avLst>
              <a:gd name="adj" fmla="val 10000"/>
            </a:avLst>
          </a:prstGeom>
          <a:solidFill>
            <a:srgbClr val="FFFFFF"/>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score each</a:t>
            </a:r>
          </a:p>
        </p:txBody>
      </p:sp>
      <p:sp>
        <p:nvSpPr>
          <p:cNvPr id="11" name="Right Arrow 10"/>
          <p:cNvSpPr/>
          <p:nvPr/>
        </p:nvSpPr>
        <p:spPr>
          <a:xfrm>
            <a:off x="7150608" y="2231136"/>
            <a:ext cx="457200" cy="118872"/>
          </a:xfrm>
          <a:prstGeom prst="rightArrow">
            <a:avLst/>
          </a:prstGeom>
          <a:solidFill>
            <a:srgbClr val="636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699248" y="2011680"/>
            <a:ext cx="1554480" cy="566928"/>
          </a:xfrm>
          <a:prstGeom prst="roundRect">
            <a:avLst>
              <a:gd name="adj" fmla="val 10000"/>
            </a:avLst>
          </a:prstGeom>
          <a:solidFill>
            <a:srgbClr val="E8F6F1"/>
          </a:solidFill>
          <a:ln w="13970">
            <a:solidFill>
              <a:srgbClr val="1B9E7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average</a:t>
            </a:r>
          </a:p>
        </p:txBody>
      </p:sp>
      <p:sp>
        <p:nvSpPr>
          <p:cNvPr id="13" name="Right Arrow 12"/>
          <p:cNvSpPr/>
          <p:nvPr/>
        </p:nvSpPr>
        <p:spPr>
          <a:xfrm>
            <a:off x="9345168" y="2231136"/>
            <a:ext cx="457200" cy="118872"/>
          </a:xfrm>
          <a:prstGeom prst="rightArrow">
            <a:avLst/>
          </a:prstGeom>
          <a:solidFill>
            <a:srgbClr val="636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893808" y="2011680"/>
            <a:ext cx="1737360" cy="566928"/>
          </a:xfrm>
          <a:prstGeom prst="roundRect">
            <a:avLst>
              <a:gd name="adj" fmla="val 10000"/>
            </a:avLst>
          </a:prstGeom>
          <a:solidFill>
            <a:srgbClr val="FFFFFF"/>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decide</a:t>
            </a:r>
          </a:p>
        </p:txBody>
      </p:sp>
      <p:sp>
        <p:nvSpPr>
          <p:cNvPr id="15" name="TextBox 14"/>
          <p:cNvSpPr txBox="1"/>
          <p:nvPr/>
        </p:nvSpPr>
        <p:spPr>
          <a:xfrm>
            <a:off x="2578608" y="2651760"/>
            <a:ext cx="2103120" cy="457200"/>
          </a:xfrm>
          <a:prstGeom prst="rect">
            <a:avLst/>
          </a:prstGeom>
          <a:noFill/>
        </p:spPr>
        <p:txBody>
          <a:bodyPr wrap="square" lIns="0" rIns="0" tIns="0" bIns="0">
            <a:spAutoFit/>
          </a:bodyPr>
          <a:lstStyle/>
          <a:p>
            <a:pPr algn="ctr"/>
            <a:r>
              <a:rPr sz="1100" b="1">
                <a:solidFill>
                  <a:srgbClr val="D95F02"/>
                </a:solidFill>
                <a:latin typeface="Calibri"/>
              </a:rPr>
              <a:t>the hole is here</a:t>
            </a:r>
          </a:p>
        </p:txBody>
      </p:sp>
      <p:sp>
        <p:nvSpPr>
          <p:cNvPr id="16" name="Rounded Rectangle 15"/>
          <p:cNvSpPr/>
          <p:nvPr/>
        </p:nvSpPr>
        <p:spPr>
          <a:xfrm>
            <a:off x="566928" y="3310128"/>
            <a:ext cx="5394960" cy="137160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On natural rewordings, it works</a:t>
            </a:r>
          </a:p>
          <a:p>
            <a:pPr>
              <a:spcAft>
                <a:spcPts val="500"/>
              </a:spcAft>
            </a:pPr>
            <a:r>
              <a:rPr sz="1400" b="0">
                <a:solidFill>
                  <a:srgbClr val="636363"/>
                </a:solidFill>
                <a:latin typeface="Calibri"/>
              </a:rPr>
              <a:t>Drift halves: </a:t>
            </a:r>
            <a:r>
              <a:rPr sz="1400" b="1">
                <a:solidFill>
                  <a:srgbClr val="1B9E77"/>
                </a:solidFill>
                <a:latin typeface="Calibri"/>
              </a:rPr>
              <a:t>0.407 → 0.219</a:t>
            </a:r>
            <a:r>
              <a:rPr sz="1400" b="0">
                <a:solidFill>
                  <a:srgbClr val="636363"/>
                </a:solidFill>
                <a:latin typeface="Calibri"/>
              </a:rPr>
              <a:t>, over 60 held-out items with six paraphrases each.</a:t>
            </a:r>
          </a:p>
        </p:txBody>
      </p:sp>
      <p:sp>
        <p:nvSpPr>
          <p:cNvPr id="17" name="Rounded Rectangle 16"/>
          <p:cNvSpPr/>
          <p:nvPr/>
        </p:nvSpPr>
        <p:spPr>
          <a:xfrm>
            <a:off x="6236208" y="3310128"/>
            <a:ext cx="5394960" cy="137160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On deliberately softened register, it does not</a:t>
            </a:r>
          </a:p>
          <a:p>
            <a:pPr>
              <a:spcAft>
                <a:spcPts val="500"/>
              </a:spcAft>
            </a:pPr>
            <a:r>
              <a:rPr sz="1400" b="1">
                <a:solidFill>
                  <a:srgbClr val="D95F02"/>
                </a:solidFill>
                <a:latin typeface="Calibri"/>
              </a:rPr>
              <a:t>3 of 3</a:t>
            </a:r>
            <a:r>
              <a:rPr sz="1400" b="0">
                <a:solidFill>
                  <a:srgbClr val="636363"/>
                </a:solidFill>
                <a:latin typeface="Calibri"/>
              </a:rPr>
              <a:t> flagged items still flip with the defence active. Displacement falls only 17 percent, against 46 percent for natural rewording.</a:t>
            </a:r>
          </a:p>
        </p:txBody>
      </p:sp>
      <p:sp>
        <p:nvSpPr>
          <p:cNvPr id="18" name="Rounded Rectangle 17"/>
          <p:cNvSpPr/>
          <p:nvPr/>
        </p:nvSpPr>
        <p:spPr>
          <a:xfrm>
            <a:off x="566928" y="4892040"/>
            <a:ext cx="11064240" cy="105156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Why, and this is the transferable lesson</a:t>
            </a:r>
          </a:p>
          <a:p>
            <a:pPr>
              <a:spcAft>
                <a:spcPts val="500"/>
              </a:spcAft>
            </a:pPr>
            <a:r>
              <a:rPr sz="1400" b="0">
                <a:solidFill>
                  <a:srgbClr val="636363"/>
                </a:solidFill>
                <a:latin typeface="Calibri"/>
              </a:rPr>
              <a:t>A paraphrase of a euphemism is still a euphemism. The generator stays inside the register it was given, so averaging over it averages over the wrong set. </a:t>
            </a:r>
            <a:r>
              <a:rPr sz="1400" b="1">
                <a:solidFill>
                  <a:srgbClr val="1A2340"/>
                </a:solidFill>
                <a:latin typeface="Calibri"/>
              </a:rPr>
              <a:t>Register is the attack vector, and the defence has to cross it deliberately.</a:t>
            </a:r>
          </a:p>
        </p:txBody>
      </p:sp>
      <p:sp>
        <p:nvSpPr>
          <p:cNvPr id="19" name="TextBox 18"/>
          <p:cNvSpPr txBox="1"/>
          <p:nvPr/>
        </p:nvSpPr>
        <p:spPr>
          <a:xfrm>
            <a:off x="566928" y="6236208"/>
            <a:ext cx="10607040" cy="457200"/>
          </a:xfrm>
          <a:prstGeom prst="rect">
            <a:avLst/>
          </a:prstGeom>
          <a:noFill/>
        </p:spPr>
        <p:txBody>
          <a:bodyPr wrap="square" lIns="0" rIns="0" tIns="0" bIns="0">
            <a:spAutoFit/>
          </a:bodyPr>
          <a:lstStyle/>
          <a:p>
            <a:r>
              <a:rPr sz="1100" b="0">
                <a:solidFill>
                  <a:srgbClr val="636363"/>
                </a:solidFill>
                <a:latin typeface="Calibri"/>
              </a:rPr>
              <a:t>Related measurement: the paraphrase generators refuse 24 percent of harmful inputs outright. A non-refusing back-translation generator reaches drift 0.301, so that weakness is the generator's rather than the mechanism's.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What helps today</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7</a:t>
            </a:r>
          </a:p>
        </p:txBody>
      </p:sp>
      <p:graphicFrame>
        <p:nvGraphicFramePr>
          <p:cNvPr id="5" name="Table 4"/>
          <p:cNvGraphicFramePr>
            <a:graphicFrameLocks noGrp="1"/>
          </p:cNvGraphicFramePr>
          <p:nvPr/>
        </p:nvGraphicFramePr>
        <p:xfrm>
          <a:off x="566928" y="1371600"/>
          <a:ext cx="11064240" cy="1554480"/>
        </p:xfrm>
        <a:graphic>
          <a:graphicData uri="http://schemas.openxmlformats.org/drawingml/2006/table">
            <a:tbl>
              <a:tblPr firstRow="1" bandRow="1">
                <a:tableStyleId>{5C22544A-7EE6-4342-B048-85BDC9FD1C3A}</a:tableStyleId>
              </a:tblPr>
              <a:tblGrid>
                <a:gridCol w="4206240"/>
                <a:gridCol w="4023360"/>
                <a:gridCol w="2834640"/>
              </a:tblGrid>
              <a:tr h="310896">
                <a:tc>
                  <a:txBody>
                    <a:bodyPr wrap="square"/>
                    <a:lstStyle/>
                    <a:p>
                      <a:pPr algn="l"/>
                      <a:r>
                        <a:rPr sz="1300" b="1">
                          <a:solidFill>
                            <a:srgbClr val="1A2340"/>
                          </a:solidFill>
                          <a:latin typeface="Calibri"/>
                        </a:rPr>
                        <a:t>Measure</a:t>
                      </a:r>
                    </a:p>
                  </a:txBody>
                  <a:tcPr marL="73152" marR="73152" marT="18288" marB="18288">
                    <a:solidFill>
                      <a:srgbClr val="E4EDF7"/>
                    </a:solidFill>
                  </a:tcPr>
                </a:tc>
                <a:tc>
                  <a:txBody>
                    <a:bodyPr wrap="square"/>
                    <a:lstStyle/>
                    <a:p>
                      <a:pPr algn="ctr"/>
                      <a:r>
                        <a:rPr sz="1300" b="1">
                          <a:solidFill>
                            <a:srgbClr val="1A2340"/>
                          </a:solidFill>
                          <a:latin typeface="Calibri"/>
                        </a:rPr>
                        <a:t>Effect</a:t>
                      </a:r>
                    </a:p>
                  </a:txBody>
                  <a:tcPr marL="73152" marR="73152" marT="18288" marB="18288">
                    <a:solidFill>
                      <a:srgbClr val="E4EDF7"/>
                    </a:solidFill>
                  </a:tcPr>
                </a:tc>
                <a:tc>
                  <a:txBody>
                    <a:bodyPr wrap="square"/>
                    <a:lstStyle/>
                    <a:p>
                      <a:pPr algn="ctr"/>
                      <a:r>
                        <a:rPr sz="1300" b="1">
                          <a:solidFill>
                            <a:srgbClr val="1A2340"/>
                          </a:solidFill>
                          <a:latin typeface="Calibri"/>
                        </a:rPr>
                        <a:t>Status</a:t>
                      </a:r>
                    </a:p>
                  </a:txBody>
                  <a:tcPr marL="73152" marR="73152" marT="18288" marB="18288">
                    <a:solidFill>
                      <a:srgbClr val="E4EDF7"/>
                    </a:solidFill>
                  </a:tcPr>
                </a:tc>
              </a:tr>
              <a:tr h="310896">
                <a:tc>
                  <a:txBody>
                    <a:bodyPr wrap="square"/>
                    <a:lstStyle/>
                    <a:p>
                      <a:pPr algn="l"/>
                      <a:r>
                        <a:rPr sz="1300" b="0">
                          <a:solidFill>
                            <a:srgbClr val="1A2340"/>
                          </a:solidFill>
                          <a:latin typeface="Calibri"/>
                        </a:rPr>
                        <a:t>Escalate to a human when the check is untrustworthy</a:t>
                      </a:r>
                    </a:p>
                  </a:txBody>
                  <a:tcPr marL="73152" marR="73152" marT="18288" marB="18288">
                    <a:solidFill>
                      <a:srgbClr val="FFFFFF"/>
                    </a:solidFill>
                  </a:tcPr>
                </a:tc>
                <a:tc>
                  <a:txBody>
                    <a:bodyPr wrap="square"/>
                    <a:lstStyle/>
                    <a:p>
                      <a:pPr algn="ctr"/>
                      <a:r>
                        <a:rPr sz="1300" b="1">
                          <a:solidFill>
                            <a:srgbClr val="1B9E77"/>
                          </a:solidFill>
                          <a:latin typeface="Calibri"/>
                        </a:rPr>
                        <a:t>carries the cases the defence misses</a:t>
                      </a:r>
                    </a:p>
                  </a:txBody>
                  <a:tcPr marL="73152" marR="73152" marT="18288" marB="18288">
                    <a:solidFill>
                      <a:srgbClr val="FFFFFF"/>
                    </a:solidFill>
                  </a:tcPr>
                </a:tc>
                <a:tc>
                  <a:txBody>
                    <a:bodyPr wrap="square"/>
                    <a:lstStyle/>
                    <a:p>
                      <a:pPr algn="ctr"/>
                      <a:r>
                        <a:rPr sz="1300" b="0">
                          <a:solidFill>
                            <a:srgbClr val="1A2340"/>
                          </a:solidFill>
                          <a:latin typeface="Calibri"/>
                        </a:rPr>
                        <a:t>recommended today</a:t>
                      </a:r>
                    </a:p>
                  </a:txBody>
                  <a:tcPr marL="73152" marR="73152" marT="18288" marB="18288">
                    <a:solidFill>
                      <a:srgbClr val="FFFFFF"/>
                    </a:solidFill>
                  </a:tcPr>
                </a:tc>
              </a:tr>
              <a:tr h="310896">
                <a:tc>
                  <a:txBody>
                    <a:bodyPr wrap="square"/>
                    <a:lstStyle/>
                    <a:p>
                      <a:pPr algn="l"/>
                      <a:r>
                        <a:rPr sz="1300" b="0">
                          <a:solidFill>
                            <a:srgbClr val="1A2340"/>
                          </a:solidFill>
                          <a:latin typeface="Calibri"/>
                        </a:rPr>
                        <a:t>Average over a paraphrase set</a:t>
                      </a:r>
                    </a:p>
                  </a:txBody>
                  <a:tcPr marL="73152" marR="73152" marT="18288" marB="18288">
                    <a:solidFill>
                      <a:srgbClr val="FFFFFF"/>
                    </a:solidFill>
                  </a:tcPr>
                </a:tc>
                <a:tc>
                  <a:txBody>
                    <a:bodyPr wrap="square"/>
                    <a:lstStyle/>
                    <a:p>
                      <a:pPr algn="ctr"/>
                      <a:r>
                        <a:rPr sz="1300" b="0">
                          <a:solidFill>
                            <a:srgbClr val="1B9E77"/>
                          </a:solidFill>
                          <a:latin typeface="Calibri"/>
                        </a:rPr>
                        <a:t>halves drift on natural rewording</a:t>
                      </a:r>
                    </a:p>
                  </a:txBody>
                  <a:tcPr marL="73152" marR="73152" marT="18288" marB="18288">
                    <a:solidFill>
                      <a:srgbClr val="FFFFFF"/>
                    </a:solidFill>
                  </a:tcPr>
                </a:tc>
                <a:tc>
                  <a:txBody>
                    <a:bodyPr wrap="square"/>
                    <a:lstStyle/>
                    <a:p>
                      <a:pPr algn="ctr"/>
                      <a:r>
                        <a:rPr sz="1300" b="0">
                          <a:solidFill>
                            <a:srgbClr val="1A2340"/>
                          </a:solidFill>
                          <a:latin typeface="Calibri"/>
                        </a:rPr>
                        <a:t>useful, not sufficient</a:t>
                      </a:r>
                    </a:p>
                  </a:txBody>
                  <a:tcPr marL="73152" marR="73152" marT="18288" marB="18288">
                    <a:solidFill>
                      <a:srgbClr val="FFFFFF"/>
                    </a:solidFill>
                  </a:tcPr>
                </a:tc>
              </a:tr>
              <a:tr h="310896">
                <a:tc>
                  <a:txBody>
                    <a:bodyPr wrap="square"/>
                    <a:lstStyle/>
                    <a:p>
                      <a:pPr algn="l"/>
                      <a:r>
                        <a:rPr sz="1300" b="0">
                          <a:solidFill>
                            <a:srgbClr val="1A2340"/>
                          </a:solidFill>
                          <a:latin typeface="Calibri"/>
                        </a:rPr>
                        <a:t>Warn the model in the prompt</a:t>
                      </a:r>
                    </a:p>
                  </a:txBody>
                  <a:tcPr marL="73152" marR="73152" marT="18288" marB="18288">
                    <a:solidFill>
                      <a:srgbClr val="FFFFFF"/>
                    </a:solidFill>
                  </a:tcPr>
                </a:tc>
                <a:tc>
                  <a:txBody>
                    <a:bodyPr wrap="square"/>
                    <a:lstStyle/>
                    <a:p>
                      <a:pPr algn="ctr"/>
                      <a:r>
                        <a:rPr sz="1300" b="0">
                          <a:solidFill>
                            <a:srgbClr val="D95F02"/>
                          </a:solidFill>
                          <a:latin typeface="Calibri"/>
                        </a:rPr>
                        <a:t>recovers about 38 percent only</a:t>
                      </a:r>
                    </a:p>
                  </a:txBody>
                  <a:tcPr marL="73152" marR="73152" marT="18288" marB="18288">
                    <a:solidFill>
                      <a:srgbClr val="FFFFFF"/>
                    </a:solidFill>
                  </a:tcPr>
                </a:tc>
                <a:tc>
                  <a:txBody>
                    <a:bodyPr wrap="square"/>
                    <a:lstStyle/>
                    <a:p>
                      <a:pPr algn="ctr"/>
                      <a:r>
                        <a:rPr sz="1300" b="0">
                          <a:solidFill>
                            <a:srgbClr val="1A2340"/>
                          </a:solidFill>
                          <a:latin typeface="Calibri"/>
                        </a:rPr>
                        <a:t>bounded</a:t>
                      </a:r>
                    </a:p>
                  </a:txBody>
                  <a:tcPr marL="73152" marR="73152" marT="18288" marB="18288">
                    <a:solidFill>
                      <a:srgbClr val="FFFFFF"/>
                    </a:solidFill>
                  </a:tcPr>
                </a:tc>
              </a:tr>
              <a:tr h="310896">
                <a:tc>
                  <a:txBody>
                    <a:bodyPr wrap="square"/>
                    <a:lstStyle/>
                    <a:p>
                      <a:pPr algn="l"/>
                      <a:r>
                        <a:rPr sz="1300" b="0">
                          <a:solidFill>
                            <a:srgbClr val="1A2340"/>
                          </a:solidFill>
                          <a:latin typeface="Calibri"/>
                        </a:rPr>
                        <a:t>Harden the fact-extraction front end</a:t>
                      </a:r>
                    </a:p>
                  </a:txBody>
                  <a:tcPr marL="73152" marR="73152" marT="18288" marB="18288">
                    <a:solidFill>
                      <a:srgbClr val="FFFFFF"/>
                    </a:solidFill>
                  </a:tcPr>
                </a:tc>
                <a:tc>
                  <a:txBody>
                    <a:bodyPr wrap="square"/>
                    <a:lstStyle/>
                    <a:p>
                      <a:pPr algn="ctr"/>
                      <a:r>
                        <a:rPr sz="1300" b="0">
                          <a:solidFill>
                            <a:srgbClr val="1A2340"/>
                          </a:solidFill>
                          <a:latin typeface="Calibri"/>
                        </a:rPr>
                        <a:t>removes the cause rather than the symptom</a:t>
                      </a:r>
                    </a:p>
                  </a:txBody>
                  <a:tcPr marL="73152" marR="73152" marT="18288" marB="18288">
                    <a:solidFill>
                      <a:srgbClr val="FFFFFF"/>
                    </a:solidFill>
                  </a:tcPr>
                </a:tc>
                <a:tc>
                  <a:txBody>
                    <a:bodyPr wrap="square"/>
                    <a:lstStyle/>
                    <a:p>
                      <a:pPr algn="ctr"/>
                      <a:r>
                        <a:rPr sz="1300" b="0">
                          <a:solidFill>
                            <a:srgbClr val="1A2340"/>
                          </a:solidFill>
                          <a:latin typeface="Calibri"/>
                        </a:rPr>
                        <a:t>the real target</a:t>
                      </a:r>
                    </a:p>
                  </a:txBody>
                  <a:tcPr marL="73152" marR="73152" marT="18288" marB="18288">
                    <a:solidFill>
                      <a:srgbClr val="FFFFFF"/>
                    </a:solidFill>
                  </a:tcPr>
                </a:tc>
              </a:tr>
            </a:tbl>
          </a:graphicData>
        </a:graphic>
      </p:graphicFrame>
      <p:sp>
        <p:nvSpPr>
          <p:cNvPr id="6" name="Rounded Rectangle 5"/>
          <p:cNvSpPr/>
          <p:nvPr/>
        </p:nvSpPr>
        <p:spPr>
          <a:xfrm>
            <a:off x="566928" y="3246120"/>
            <a:ext cx="5394960" cy="141732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The safety-engineering read</a:t>
            </a:r>
          </a:p>
          <a:p>
            <a:pPr>
              <a:spcAft>
                <a:spcPts val="500"/>
              </a:spcAft>
            </a:pPr>
            <a:r>
              <a:rPr sz="1400" b="0">
                <a:solidFill>
                  <a:srgbClr val="636363"/>
                </a:solidFill>
                <a:latin typeface="Calibri"/>
              </a:rPr>
              <a:t>Since the fault is systematic and the mitigation is partial, the system needs a </a:t>
            </a:r>
            <a:r>
              <a:rPr sz="1400" b="1">
                <a:solidFill>
                  <a:srgbClr val="1A2340"/>
                </a:solidFill>
                <a:latin typeface="Calibri"/>
              </a:rPr>
              <a:t>defined safe state</a:t>
            </a:r>
            <a:r>
              <a:rPr sz="1400" b="0">
                <a:solidFill>
                  <a:srgbClr val="636363"/>
                </a:solidFill>
                <a:latin typeface="Calibri"/>
              </a:rPr>
              <a:t> rather than a best-effort pass.</a:t>
            </a:r>
          </a:p>
        </p:txBody>
      </p:sp>
      <p:sp>
        <p:nvSpPr>
          <p:cNvPr id="7" name="Rounded Rectangle 6"/>
          <p:cNvSpPr/>
          <p:nvPr/>
        </p:nvSpPr>
        <p:spPr>
          <a:xfrm>
            <a:off x="6236208" y="3246120"/>
            <a:ext cx="5394960" cy="141732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Prompt-level warnings hit a ceiling</a:t>
            </a:r>
          </a:p>
          <a:p>
            <a:pPr>
              <a:spcAft>
                <a:spcPts val="500"/>
              </a:spcAft>
            </a:pPr>
            <a:r>
              <a:rPr sz="1400" b="0">
                <a:solidFill>
                  <a:srgbClr val="636363"/>
                </a:solidFill>
                <a:latin typeface="Calibri"/>
              </a:rPr>
              <a:t>They co-occur with overconfidence: calibration error runs 0.19 to 0.42 across models. The model does not know it has been moved.</a:t>
            </a:r>
          </a:p>
        </p:txBody>
      </p:sp>
      <p:sp>
        <p:nvSpPr>
          <p:cNvPr id="8" name="Rounded Rectangle 7"/>
          <p:cNvSpPr/>
          <p:nvPr/>
        </p:nvSpPr>
        <p:spPr>
          <a:xfrm>
            <a:off x="566928" y="4864608"/>
            <a:ext cx="11064240" cy="1078992"/>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Where the cause actually lives</a:t>
            </a:r>
          </a:p>
          <a:p>
            <a:pPr>
              <a:spcAft>
                <a:spcPts val="500"/>
              </a:spcAft>
            </a:pPr>
            <a:r>
              <a:rPr sz="1400" b="0">
                <a:solidFill>
                  <a:srgbClr val="636363"/>
                </a:solidFill>
                <a:latin typeface="Calibri"/>
              </a:rPr>
              <a:t>Downstream decision logic inherits whatever the front end got wrong. If the extraction of facts from text is movable by wording, every rule built on top of it is movable too. That is where we would put engineering effort.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Why a single robustness score is unsafe</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8</a:t>
            </a:r>
          </a:p>
        </p:txBody>
      </p:sp>
      <p:sp>
        <p:nvSpPr>
          <p:cNvPr id="5" name="TextBox 4"/>
          <p:cNvSpPr txBox="1"/>
          <p:nvPr/>
        </p:nvSpPr>
        <p:spPr>
          <a:xfrm>
            <a:off x="566928" y="1298448"/>
            <a:ext cx="11064240" cy="502920"/>
          </a:xfrm>
          <a:prstGeom prst="rect">
            <a:avLst/>
          </a:prstGeom>
          <a:noFill/>
        </p:spPr>
        <p:txBody>
          <a:bodyPr wrap="square" lIns="0" rIns="0" tIns="0" bIns="0">
            <a:spAutoFit/>
          </a:bodyPr>
          <a:lstStyle/>
          <a:p>
            <a:pPr>
              <a:spcAft>
                <a:spcPts val="800"/>
              </a:spcAft>
            </a:pPr>
            <a:r>
              <a:rPr sz="1500" b="0">
                <a:solidFill>
                  <a:srgbClr val="636363"/>
                </a:solidFill>
                <a:latin typeface="Calibri"/>
              </a:rPr>
              <a:t>We compared models across attack surfaces. No model wins everywhere, and the trade-offs are not visible in any single number.</a:t>
            </a:r>
          </a:p>
        </p:txBody>
      </p:sp>
      <p:graphicFrame>
        <p:nvGraphicFramePr>
          <p:cNvPr id="6" name="Table 5"/>
          <p:cNvGraphicFramePr>
            <a:graphicFrameLocks noGrp="1"/>
          </p:cNvGraphicFramePr>
          <p:nvPr/>
        </p:nvGraphicFramePr>
        <p:xfrm>
          <a:off x="566928" y="1965960"/>
          <a:ext cx="11064240" cy="932688"/>
        </p:xfrm>
        <a:graphic>
          <a:graphicData uri="http://schemas.openxmlformats.org/drawingml/2006/table">
            <a:tbl>
              <a:tblPr firstRow="1" bandRow="1">
                <a:tableStyleId>{5C22544A-7EE6-4342-B048-85BDC9FD1C3A}</a:tableStyleId>
              </a:tblPr>
              <a:tblGrid>
                <a:gridCol w="1828800"/>
                <a:gridCol w="4617720"/>
                <a:gridCol w="4617720"/>
              </a:tblGrid>
              <a:tr h="310896">
                <a:tc>
                  <a:txBody>
                    <a:bodyPr wrap="square"/>
                    <a:lstStyle/>
                    <a:p>
                      <a:pPr algn="l"/>
                      <a:r>
                        <a:rPr sz="1300" b="1">
                          <a:solidFill>
                            <a:srgbClr val="1A2340"/>
                          </a:solidFill>
                          <a:latin typeface="Calibri"/>
                        </a:rPr>
                        <a:t>Model</a:t>
                      </a:r>
                    </a:p>
                  </a:txBody>
                  <a:tcPr marL="73152" marR="73152" marT="18288" marB="18288">
                    <a:solidFill>
                      <a:srgbClr val="E4EDF7"/>
                    </a:solidFill>
                  </a:tcPr>
                </a:tc>
                <a:tc>
                  <a:txBody>
                    <a:bodyPr wrap="square"/>
                    <a:lstStyle/>
                    <a:p>
                      <a:pPr algn="ctr"/>
                      <a:r>
                        <a:rPr sz="1300" b="1">
                          <a:solidFill>
                            <a:srgbClr val="1A2340"/>
                          </a:solidFill>
                          <a:latin typeface="Calibri"/>
                        </a:rPr>
                        <a:t>Strong</a:t>
                      </a:r>
                    </a:p>
                  </a:txBody>
                  <a:tcPr marL="73152" marR="73152" marT="18288" marB="18288">
                    <a:solidFill>
                      <a:srgbClr val="E4EDF7"/>
                    </a:solidFill>
                  </a:tcPr>
                </a:tc>
                <a:tc>
                  <a:txBody>
                    <a:bodyPr wrap="square"/>
                    <a:lstStyle/>
                    <a:p>
                      <a:pPr algn="ctr"/>
                      <a:r>
                        <a:rPr sz="1300" b="1">
                          <a:solidFill>
                            <a:srgbClr val="1A2340"/>
                          </a:solidFill>
                          <a:latin typeface="Calibri"/>
                        </a:rPr>
                        <a:t>Weak</a:t>
                      </a:r>
                    </a:p>
                  </a:txBody>
                  <a:tcPr marL="73152" marR="73152" marT="18288" marB="18288">
                    <a:solidFill>
                      <a:srgbClr val="E4EDF7"/>
                    </a:solidFill>
                  </a:tcPr>
                </a:tc>
              </a:tr>
              <a:tr h="310896">
                <a:tc>
                  <a:txBody>
                    <a:bodyPr wrap="square"/>
                    <a:lstStyle/>
                    <a:p>
                      <a:pPr algn="l"/>
                      <a:r>
                        <a:rPr sz="1300" b="0">
                          <a:solidFill>
                            <a:srgbClr val="1A2340"/>
                          </a:solidFill>
                          <a:latin typeface="Calibri"/>
                        </a:rPr>
                        <a:t>Claude</a:t>
                      </a:r>
                    </a:p>
                  </a:txBody>
                  <a:tcPr marL="73152" marR="73152" marT="18288" marB="18288">
                    <a:solidFill>
                      <a:srgbClr val="FFFFFF"/>
                    </a:solidFill>
                  </a:tcPr>
                </a:tc>
                <a:tc>
                  <a:txBody>
                    <a:bodyPr wrap="square"/>
                    <a:lstStyle/>
                    <a:p>
                      <a:pPr algn="ctr"/>
                      <a:r>
                        <a:rPr sz="1300" b="1">
                          <a:solidFill>
                            <a:srgbClr val="1B9E77"/>
                          </a:solidFill>
                          <a:latin typeface="Calibri"/>
                        </a:rPr>
                        <a:t>no sycophancy observed (0 of 9)</a:t>
                      </a:r>
                    </a:p>
                  </a:txBody>
                  <a:tcPr marL="73152" marR="73152" marT="18288" marB="18288">
                    <a:solidFill>
                      <a:srgbClr val="FFFFFF"/>
                    </a:solidFill>
                  </a:tcPr>
                </a:tc>
                <a:tc>
                  <a:txBody>
                    <a:bodyPr wrap="square"/>
                    <a:lstStyle/>
                    <a:p>
                      <a:pPr algn="ctr"/>
                      <a:r>
                        <a:rPr sz="1300" b="0">
                          <a:solidFill>
                            <a:srgbClr val="D95F02"/>
                          </a:solidFill>
                          <a:latin typeface="Calibri"/>
                        </a:rPr>
                        <a:t>worst recovery from emotional anchoring, 20 percent</a:t>
                      </a:r>
                    </a:p>
                  </a:txBody>
                  <a:tcPr marL="73152" marR="73152" marT="18288" marB="18288">
                    <a:solidFill>
                      <a:srgbClr val="FFFFFF"/>
                    </a:solidFill>
                  </a:tcPr>
                </a:tc>
              </a:tr>
              <a:tr h="310896">
                <a:tc>
                  <a:txBody>
                    <a:bodyPr wrap="square"/>
                    <a:lstStyle/>
                    <a:p>
                      <a:pPr algn="l"/>
                      <a:r>
                        <a:rPr sz="1300" b="0">
                          <a:solidFill>
                            <a:srgbClr val="1A2340"/>
                          </a:solidFill>
                          <a:latin typeface="Calibri"/>
                        </a:rPr>
                        <a:t>Flash 2.0</a:t>
                      </a:r>
                    </a:p>
                  </a:txBody>
                  <a:tcPr marL="73152" marR="73152" marT="18288" marB="18288">
                    <a:solidFill>
                      <a:srgbClr val="FFFFFF"/>
                    </a:solidFill>
                  </a:tcPr>
                </a:tc>
                <a:tc>
                  <a:txBody>
                    <a:bodyPr wrap="square"/>
                    <a:lstStyle/>
                    <a:p>
                      <a:pPr algn="ctr"/>
                      <a:r>
                        <a:rPr sz="1300" b="1">
                          <a:solidFill>
                            <a:srgbClr val="1B9E77"/>
                          </a:solidFill>
                          <a:latin typeface="Calibri"/>
                        </a:rPr>
                        <a:t>best anchoring recovery, 73 percent</a:t>
                      </a:r>
                    </a:p>
                  </a:txBody>
                  <a:tcPr marL="73152" marR="73152" marT="18288" marB="18288">
                    <a:solidFill>
                      <a:srgbClr val="FFFFFF"/>
                    </a:solidFill>
                  </a:tcPr>
                </a:tc>
                <a:tc>
                  <a:txBody>
                    <a:bodyPr wrap="square"/>
                    <a:lstStyle/>
                    <a:p>
                      <a:pPr algn="ctr"/>
                      <a:r>
                        <a:rPr sz="1300" b="0">
                          <a:solidFill>
                            <a:srgbClr val="D95F02"/>
                          </a:solidFill>
                          <a:latin typeface="Calibri"/>
                        </a:rPr>
                        <a:t>worst working memory</a:t>
                      </a:r>
                    </a:p>
                  </a:txBody>
                  <a:tcPr marL="73152" marR="73152" marT="18288" marB="18288">
                    <a:solidFill>
                      <a:srgbClr val="FFFFFF"/>
                    </a:solidFill>
                  </a:tcPr>
                </a:tc>
              </a:tr>
            </a:tbl>
          </a:graphicData>
        </a:graphic>
      </p:graphicFrame>
      <p:sp>
        <p:nvSpPr>
          <p:cNvPr id="7" name="Rounded Rectangle 6"/>
          <p:cNvSpPr/>
          <p:nvPr/>
        </p:nvSpPr>
        <p:spPr>
          <a:xfrm>
            <a:off x="566928" y="3200400"/>
            <a:ext cx="5394960" cy="155448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The consequence for procurement</a:t>
            </a:r>
          </a:p>
          <a:p>
            <a:pPr>
              <a:spcAft>
                <a:spcPts val="500"/>
              </a:spcAft>
            </a:pPr>
            <a:r>
              <a:rPr sz="1400" b="0">
                <a:solidFill>
                  <a:srgbClr val="636363"/>
                </a:solidFill>
                <a:latin typeface="Calibri"/>
              </a:rPr>
              <a:t>Averaging partly independent dimensions produces a number that describes </a:t>
            </a:r>
            <a:r>
              <a:rPr sz="1400" b="1">
                <a:solidFill>
                  <a:srgbClr val="1A2340"/>
                </a:solidFill>
                <a:latin typeface="Calibri"/>
              </a:rPr>
              <a:t>no model accurately</a:t>
            </a:r>
            <a:r>
              <a:rPr sz="1400" b="0">
                <a:solidFill>
                  <a:srgbClr val="636363"/>
                </a:solidFill>
                <a:latin typeface="Calibri"/>
              </a:rPr>
              <a:t>. Certifying on one test gives false assurance.</a:t>
            </a:r>
          </a:p>
        </p:txBody>
      </p:sp>
      <p:sp>
        <p:nvSpPr>
          <p:cNvPr id="8" name="Rounded Rectangle 7"/>
          <p:cNvSpPr/>
          <p:nvPr/>
        </p:nvSpPr>
        <p:spPr>
          <a:xfrm>
            <a:off x="6236208" y="3200400"/>
            <a:ext cx="5394960" cy="155448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And we measured why</a:t>
            </a:r>
          </a:p>
          <a:p>
            <a:pPr>
              <a:spcAft>
                <a:spcPts val="500"/>
              </a:spcAft>
            </a:pPr>
            <a:r>
              <a:rPr sz="1400" b="0">
                <a:solidFill>
                  <a:srgbClr val="636363"/>
                </a:solidFill>
                <a:latin typeface="Calibri"/>
              </a:rPr>
              <a:t>A follow-up test found one general dimension explains most of the spread: five named axes are 98 percent predictable from it. A scalar score is mostly that one channel.</a:t>
            </a:r>
          </a:p>
        </p:txBody>
      </p:sp>
      <p:sp>
        <p:nvSpPr>
          <p:cNvPr id="9" name="Rounded Rectangle 8"/>
          <p:cNvSpPr/>
          <p:nvPr/>
        </p:nvSpPr>
        <p:spPr>
          <a:xfrm>
            <a:off x="566928" y="4956048"/>
            <a:ext cx="11064240" cy="987552"/>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600" b="1">
                <a:solidFill>
                  <a:srgbClr val="1A2340"/>
                </a:solidFill>
                <a:latin typeface="Calibri"/>
              </a:rPr>
              <a:t>The question to ask a supplier</a:t>
            </a:r>
          </a:p>
          <a:p>
            <a:pPr>
              <a:spcAft>
                <a:spcPts val="500"/>
              </a:spcAft>
            </a:pPr>
            <a:r>
              <a:rPr sz="1500" b="0">
                <a:solidFill>
                  <a:srgbClr val="636363"/>
                </a:solidFill>
                <a:latin typeface="Calibri"/>
              </a:rPr>
              <a:t>Not “what is your robustness score” but </a:t>
            </a:r>
            <a:r>
              <a:rPr sz="1500" b="1">
                <a:solidFill>
                  <a:srgbClr val="1A2340"/>
                </a:solidFill>
                <a:latin typeface="Calibri"/>
              </a:rPr>
              <a:t>“which vulnerabilities does your model have, and do they overlap with the decisions we are giving it”</a:t>
            </a:r>
            <a:r>
              <a:rPr sz="1500" b="0">
                <a:solidFill>
                  <a:srgbClr val="636363"/>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What the instrument measures</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9</a:t>
            </a:r>
          </a:p>
        </p:txBody>
      </p:sp>
      <p:sp>
        <p:nvSpPr>
          <p:cNvPr id="5" name="TextBox 4"/>
          <p:cNvSpPr txBox="1"/>
          <p:nvPr/>
        </p:nvSpPr>
        <p:spPr>
          <a:xfrm>
            <a:off x="566928" y="1298448"/>
            <a:ext cx="11064240" cy="502920"/>
          </a:xfrm>
          <a:prstGeom prst="rect">
            <a:avLst/>
          </a:prstGeom>
          <a:noFill/>
        </p:spPr>
        <p:txBody>
          <a:bodyPr wrap="square" lIns="0" rIns="0" tIns="0" bIns="0">
            <a:spAutoFit/>
          </a:bodyPr>
          <a:lstStyle/>
          <a:p>
            <a:pPr>
              <a:spcAft>
                <a:spcPts val="800"/>
              </a:spcAft>
            </a:pPr>
            <a:r>
              <a:rPr sz="1500" b="0">
                <a:solidFill>
                  <a:srgbClr val="636363"/>
                </a:solidFill>
                <a:latin typeface="Calibri"/>
              </a:rPr>
              <a:t>Each judgment becomes a point in a seven-axis harm space. A perturbation moves the point. The distance moved is the vulnerability, per axis, per model.</a:t>
            </a:r>
          </a:p>
        </p:txBody>
      </p:sp>
      <p:sp>
        <p:nvSpPr>
          <p:cNvPr id="6" name="Rounded Rectangle 5"/>
          <p:cNvSpPr/>
          <p:nvPr/>
        </p:nvSpPr>
        <p:spPr>
          <a:xfrm>
            <a:off x="566928" y="1993392"/>
            <a:ext cx="1463040" cy="502920"/>
          </a:xfrm>
          <a:prstGeom prst="roundRect">
            <a:avLst>
              <a:gd name="adj" fmla="val 10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physical</a:t>
            </a:r>
          </a:p>
        </p:txBody>
      </p:sp>
      <p:sp>
        <p:nvSpPr>
          <p:cNvPr id="7" name="Rounded Rectangle 6"/>
          <p:cNvSpPr/>
          <p:nvPr/>
        </p:nvSpPr>
        <p:spPr>
          <a:xfrm>
            <a:off x="2139696" y="1993392"/>
            <a:ext cx="1463040" cy="502920"/>
          </a:xfrm>
          <a:prstGeom prst="roundRect">
            <a:avLst>
              <a:gd name="adj" fmla="val 10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emotional</a:t>
            </a:r>
          </a:p>
        </p:txBody>
      </p:sp>
      <p:sp>
        <p:nvSpPr>
          <p:cNvPr id="8" name="Rounded Rectangle 7"/>
          <p:cNvSpPr/>
          <p:nvPr/>
        </p:nvSpPr>
        <p:spPr>
          <a:xfrm>
            <a:off x="3712464" y="1993392"/>
            <a:ext cx="1463040" cy="502920"/>
          </a:xfrm>
          <a:prstGeom prst="roundRect">
            <a:avLst>
              <a:gd name="adj" fmla="val 10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financial</a:t>
            </a:r>
          </a:p>
        </p:txBody>
      </p:sp>
      <p:sp>
        <p:nvSpPr>
          <p:cNvPr id="9" name="Rounded Rectangle 8"/>
          <p:cNvSpPr/>
          <p:nvPr/>
        </p:nvSpPr>
        <p:spPr>
          <a:xfrm>
            <a:off x="5285232" y="1993392"/>
            <a:ext cx="1463040" cy="502920"/>
          </a:xfrm>
          <a:prstGeom prst="roundRect">
            <a:avLst>
              <a:gd name="adj" fmla="val 10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autonomy</a:t>
            </a:r>
          </a:p>
        </p:txBody>
      </p:sp>
      <p:sp>
        <p:nvSpPr>
          <p:cNvPr id="10" name="Rounded Rectangle 9"/>
          <p:cNvSpPr/>
          <p:nvPr/>
        </p:nvSpPr>
        <p:spPr>
          <a:xfrm>
            <a:off x="6858000" y="1993392"/>
            <a:ext cx="1463040" cy="502920"/>
          </a:xfrm>
          <a:prstGeom prst="roundRect">
            <a:avLst>
              <a:gd name="adj" fmla="val 10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trust</a:t>
            </a:r>
          </a:p>
        </p:txBody>
      </p:sp>
      <p:sp>
        <p:nvSpPr>
          <p:cNvPr id="11" name="Rounded Rectangle 10"/>
          <p:cNvSpPr/>
          <p:nvPr/>
        </p:nvSpPr>
        <p:spPr>
          <a:xfrm>
            <a:off x="8430768" y="1993392"/>
            <a:ext cx="1463040" cy="502920"/>
          </a:xfrm>
          <a:prstGeom prst="roundRect">
            <a:avLst>
              <a:gd name="adj" fmla="val 10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social</a:t>
            </a:r>
          </a:p>
        </p:txBody>
      </p:sp>
      <p:sp>
        <p:nvSpPr>
          <p:cNvPr id="12" name="Rounded Rectangle 11"/>
          <p:cNvSpPr/>
          <p:nvPr/>
        </p:nvSpPr>
        <p:spPr>
          <a:xfrm>
            <a:off x="10003536" y="1993392"/>
            <a:ext cx="1463040" cy="502920"/>
          </a:xfrm>
          <a:prstGeom prst="roundRect">
            <a:avLst>
              <a:gd name="adj" fmla="val 10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200" b="0">
                <a:solidFill>
                  <a:srgbClr val="1A2340"/>
                </a:solidFill>
                <a:latin typeface="Calibri"/>
              </a:rPr>
              <a:t>identity</a:t>
            </a:r>
          </a:p>
        </p:txBody>
      </p:sp>
      <p:sp>
        <p:nvSpPr>
          <p:cNvPr id="13" name="TextBox 12"/>
          <p:cNvSpPr txBox="1"/>
          <p:nvPr/>
        </p:nvSpPr>
        <p:spPr>
          <a:xfrm>
            <a:off x="566928" y="2560320"/>
            <a:ext cx="11064240" cy="365760"/>
          </a:xfrm>
          <a:prstGeom prst="rect">
            <a:avLst/>
          </a:prstGeom>
          <a:noFill/>
        </p:spPr>
        <p:txBody>
          <a:bodyPr wrap="square" lIns="0" rIns="0" tIns="0" bIns="0">
            <a:spAutoFit/>
          </a:bodyPr>
          <a:lstStyle/>
          <a:p>
            <a:r>
              <a:rPr sz="1200" b="0">
                <a:solidFill>
                  <a:srgbClr val="636363"/>
                </a:solidFill>
                <a:latin typeface="Calibri"/>
              </a:rPr>
              <a:t>each scored 0 to 10, so the total runs 0 to 70</a:t>
            </a:r>
          </a:p>
        </p:txBody>
      </p:sp>
      <p:sp>
        <p:nvSpPr>
          <p:cNvPr id="14" name="Rounded Rectangle 13"/>
          <p:cNvSpPr/>
          <p:nvPr/>
        </p:nvSpPr>
        <p:spPr>
          <a:xfrm>
            <a:off x="566928" y="3063240"/>
            <a:ext cx="3520440" cy="169164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Output is a profile</a:t>
            </a:r>
          </a:p>
          <a:p>
            <a:pPr>
              <a:spcAft>
                <a:spcPts val="500"/>
              </a:spcAft>
            </a:pPr>
            <a:r>
              <a:rPr sz="1400" b="0">
                <a:solidFill>
                  <a:srgbClr val="636363"/>
                </a:solidFill>
                <a:latin typeface="Calibri"/>
              </a:rPr>
              <a:t>Not one number. A per-model map of which surfaces move it and by how much.</a:t>
            </a:r>
          </a:p>
        </p:txBody>
      </p:sp>
      <p:sp>
        <p:nvSpPr>
          <p:cNvPr id="15" name="Rounded Rectangle 14"/>
          <p:cNvSpPr/>
          <p:nvPr/>
        </p:nvSpPr>
        <p:spPr>
          <a:xfrm>
            <a:off x="4343400" y="3063240"/>
            <a:ext cx="3520440" cy="169164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Validated for reliability</a:t>
            </a:r>
          </a:p>
          <a:p>
            <a:pPr>
              <a:spcAft>
                <a:spcPts val="500"/>
              </a:spcAft>
            </a:pPr>
            <a:r>
              <a:rPr sz="1400" b="0">
                <a:solidFill>
                  <a:srgbClr val="636363"/>
                </a:solidFill>
                <a:latin typeface="Calibri"/>
              </a:rPr>
              <a:t>Agreement across six models in five families: </a:t>
            </a:r>
            <a:r>
              <a:rPr sz="1400" b="1">
                <a:solidFill>
                  <a:srgbClr val="1A2340"/>
                </a:solidFill>
                <a:latin typeface="Calibri"/>
              </a:rPr>
              <a:t>ICC 0.969</a:t>
            </a:r>
            <a:r>
              <a:rPr sz="1400" b="0">
                <a:solidFill>
                  <a:srgbClr val="636363"/>
                </a:solidFill>
                <a:latin typeface="Calibri"/>
              </a:rPr>
              <a:t>, test–retest 0.96.</a:t>
            </a:r>
          </a:p>
        </p:txBody>
      </p:sp>
      <p:sp>
        <p:nvSpPr>
          <p:cNvPr id="16" name="Rounded Rectangle 15"/>
          <p:cNvSpPr/>
          <p:nvPr/>
        </p:nvSpPr>
        <p:spPr>
          <a:xfrm>
            <a:off x="8119872" y="3063240"/>
            <a:ext cx="3511296" cy="169164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Runs on a modest budget</a:t>
            </a:r>
          </a:p>
          <a:p>
            <a:pPr>
              <a:spcAft>
                <a:spcPts val="500"/>
              </a:spcAft>
            </a:pPr>
            <a:r>
              <a:rPr sz="1400" b="0">
                <a:solidFill>
                  <a:srgbClr val="636363"/>
                </a:solidFill>
                <a:latin typeface="Calibri"/>
              </a:rPr>
              <a:t>About 8,000 model calls, under </a:t>
            </a:r>
            <a:r>
              <a:rPr sz="1400" b="1">
                <a:solidFill>
                  <a:srgbClr val="1A2340"/>
                </a:solidFill>
                <a:latin typeface="Calibri"/>
              </a:rPr>
              <a:t>50 US dollars per day</a:t>
            </a:r>
            <a:r>
              <a:rPr sz="1400" b="0">
                <a:solidFill>
                  <a:srgbClr val="636363"/>
                </a:solidFill>
                <a:latin typeface="Calibri"/>
              </a:rPr>
              <a:t>. Reproducible on an open API.</a:t>
            </a:r>
          </a:p>
        </p:txBody>
      </p:sp>
      <p:sp>
        <p:nvSpPr>
          <p:cNvPr id="17" name="Rounded Rectangle 16"/>
          <p:cNvSpPr/>
          <p:nvPr/>
        </p:nvSpPr>
        <p:spPr>
          <a:xfrm>
            <a:off x="566928" y="4956048"/>
            <a:ext cx="11064240" cy="987552"/>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600" b="1">
                <a:solidFill>
                  <a:srgbClr val="1A2340"/>
                </a:solidFill>
                <a:latin typeface="Calibri"/>
              </a:rPr>
              <a:t>The engineering claim</a:t>
            </a:r>
          </a:p>
          <a:p>
            <a:pPr>
              <a:spcAft>
                <a:spcPts val="500"/>
              </a:spcAft>
            </a:pPr>
            <a:r>
              <a:rPr sz="1500" b="0">
                <a:solidFill>
                  <a:srgbClr val="636363"/>
                </a:solidFill>
                <a:latin typeface="Calibri"/>
              </a:rPr>
              <a:t>A property usually settled by argument, namely whether a judgment has been manipulated, becomes something you can </a:t>
            </a:r>
            <a:r>
              <a:rPr sz="1500" b="1">
                <a:solidFill>
                  <a:srgbClr val="1A2340"/>
                </a:solidFill>
                <a:latin typeface="Calibri"/>
              </a:rPr>
              <a:t>measure, monitor, and set a threshold on</a:t>
            </a:r>
            <a:r>
              <a:rPr sz="1500" b="0">
                <a:solidFill>
                  <a:srgbClr val="636363"/>
                </a:solidFill>
                <a:latin typeface="Calibri"/>
              </a:rPr>
              <a:t>. That is the same move as putting a sensor on a process.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Where this could be useful to Omron</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10</a:t>
            </a:r>
          </a:p>
        </p:txBody>
      </p:sp>
      <p:sp>
        <p:nvSpPr>
          <p:cNvPr id="5" name="TextBox 4"/>
          <p:cNvSpPr txBox="1"/>
          <p:nvPr/>
        </p:nvSpPr>
        <p:spPr>
          <a:xfrm>
            <a:off x="566928" y="1298448"/>
            <a:ext cx="11064240" cy="457200"/>
          </a:xfrm>
          <a:prstGeom prst="rect">
            <a:avLst/>
          </a:prstGeom>
          <a:noFill/>
        </p:spPr>
        <p:txBody>
          <a:bodyPr wrap="square" lIns="0" rIns="0" tIns="0" bIns="0">
            <a:spAutoFit/>
          </a:bodyPr>
          <a:lstStyle/>
          <a:p>
            <a:pPr>
              <a:spcAft>
                <a:spcPts val="800"/>
              </a:spcAft>
            </a:pPr>
            <a:r>
              <a:rPr sz="1500" b="0">
                <a:solidFill>
                  <a:srgbClr val="636363"/>
                </a:solidFill>
                <a:latin typeface="Calibri"/>
              </a:rPr>
              <a:t>We are not proposing a specific engagement today. We are offering a capability and asking where it touches your roadmap.</a:t>
            </a:r>
          </a:p>
        </p:txBody>
      </p:sp>
      <p:sp>
        <p:nvSpPr>
          <p:cNvPr id="6" name="Rounded Rectangle 5"/>
          <p:cNvSpPr/>
          <p:nvPr/>
        </p:nvSpPr>
        <p:spPr>
          <a:xfrm>
            <a:off x="566928" y="1920240"/>
            <a:ext cx="3520440" cy="228600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What we can do now</a:t>
            </a:r>
          </a:p>
          <a:p>
            <a:pPr>
              <a:spcAft>
                <a:spcPts val="500"/>
              </a:spcAft>
            </a:pPr>
            <a:r>
              <a:rPr sz="1400" b="0">
                <a:solidFill>
                  <a:srgbClr val="636363"/>
                </a:solidFill>
                <a:latin typeface="Calibri"/>
              </a:rPr>
              <a:t>Profile a model or pipeline across the seven axes and report where it is movable.</a:t>
            </a:r>
          </a:p>
          <a:p>
            <a:pPr>
              <a:spcAft>
                <a:spcPts val="500"/>
              </a:spcAft>
            </a:pPr>
            <a:r>
              <a:rPr sz="1400" b="0">
                <a:solidFill>
                  <a:srgbClr val="636363"/>
                </a:solidFill>
                <a:latin typeface="Calibri"/>
              </a:rPr>
              <a:t>Build a register-crossing test set for a specific domain.</a:t>
            </a:r>
          </a:p>
          <a:p>
            <a:pPr>
              <a:spcAft>
                <a:spcPts val="500"/>
              </a:spcAft>
            </a:pPr>
            <a:r>
              <a:rPr sz="1400" b="0">
                <a:solidFill>
                  <a:srgbClr val="636363"/>
                </a:solidFill>
                <a:latin typeface="Calibri"/>
              </a:rPr>
              <a:t>Advise on where the safe-state boundary belongs.</a:t>
            </a:r>
          </a:p>
        </p:txBody>
      </p:sp>
      <p:sp>
        <p:nvSpPr>
          <p:cNvPr id="7" name="Rounded Rectangle 6"/>
          <p:cNvSpPr/>
          <p:nvPr/>
        </p:nvSpPr>
        <p:spPr>
          <a:xfrm>
            <a:off x="4343400" y="1920240"/>
            <a:ext cx="3520440" cy="228600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Questions we would ask you</a:t>
            </a:r>
          </a:p>
          <a:p>
            <a:pPr>
              <a:spcAft>
                <a:spcPts val="500"/>
              </a:spcAft>
            </a:pPr>
            <a:r>
              <a:rPr sz="1400" b="0">
                <a:solidFill>
                  <a:srgbClr val="636363"/>
                </a:solidFill>
                <a:latin typeface="Calibri"/>
              </a:rPr>
              <a:t>Where does a text-based judgment currently gate a decision in your products or operations?</a:t>
            </a:r>
          </a:p>
          <a:p>
            <a:pPr>
              <a:spcAft>
                <a:spcPts val="500"/>
              </a:spcAft>
            </a:pPr>
            <a:r>
              <a:rPr sz="1400" b="0">
                <a:solidFill>
                  <a:srgbClr val="636363"/>
                </a:solidFill>
                <a:latin typeface="Calibri"/>
              </a:rPr>
              <a:t>Which harm axes matter for those decisions?</a:t>
            </a:r>
          </a:p>
          <a:p>
            <a:pPr>
              <a:spcAft>
                <a:spcPts val="500"/>
              </a:spcAft>
            </a:pPr>
            <a:r>
              <a:rPr sz="1400" b="0">
                <a:solidFill>
                  <a:srgbClr val="636363"/>
                </a:solidFill>
                <a:latin typeface="Calibri"/>
              </a:rPr>
              <a:t>What is the cost of a missed flag versus a false alarm?</a:t>
            </a:r>
          </a:p>
        </p:txBody>
      </p:sp>
      <p:sp>
        <p:nvSpPr>
          <p:cNvPr id="8" name="Rounded Rectangle 7"/>
          <p:cNvSpPr/>
          <p:nvPr/>
        </p:nvSpPr>
        <p:spPr>
          <a:xfrm>
            <a:off x="8119872" y="1920240"/>
            <a:ext cx="3511296" cy="228600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What we would need</a:t>
            </a:r>
          </a:p>
          <a:p>
            <a:pPr>
              <a:spcAft>
                <a:spcPts val="500"/>
              </a:spcAft>
            </a:pPr>
            <a:r>
              <a:rPr sz="1400" b="0">
                <a:solidFill>
                  <a:srgbClr val="636363"/>
                </a:solidFill>
                <a:latin typeface="Calibri"/>
              </a:rPr>
              <a:t>Nothing confidential to start. The instrument runs on public models and synthetic scenarios in your domain.</a:t>
            </a:r>
          </a:p>
          <a:p>
            <a:pPr>
              <a:spcAft>
                <a:spcPts val="500"/>
              </a:spcAft>
            </a:pPr>
            <a:r>
              <a:rPr sz="1400" b="1">
                <a:solidFill>
                  <a:srgbClr val="1A2340"/>
                </a:solidFill>
                <a:latin typeface="Calibri"/>
              </a:rPr>
              <a:t>A domain expert to audit that rewrites preserve the facts.</a:t>
            </a:r>
          </a:p>
        </p:txBody>
      </p:sp>
      <p:sp>
        <p:nvSpPr>
          <p:cNvPr id="9" name="Rounded Rectangle 8"/>
          <p:cNvSpPr/>
          <p:nvPr/>
        </p:nvSpPr>
        <p:spPr>
          <a:xfrm>
            <a:off x="566928" y="4434840"/>
            <a:ext cx="11064240" cy="150876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600" b="1">
                <a:solidFill>
                  <a:srgbClr val="1A2340"/>
                </a:solidFill>
                <a:latin typeface="Calibri"/>
              </a:rPr>
              <a:t>The one thing worth remembering</a:t>
            </a:r>
          </a:p>
          <a:p>
            <a:pPr>
              <a:spcAft>
                <a:spcPts val="500"/>
              </a:spcAft>
            </a:pPr>
            <a:r>
              <a:rPr sz="1500" b="0">
                <a:solidFill>
                  <a:srgbClr val="636363"/>
                </a:solidFill>
                <a:latin typeface="Calibri"/>
              </a:rPr>
              <a:t>A text-only check can be evaded by rewording, the obvious fix does not close it, and a single robustness score will not tell you. Until the front end is hardened, </a:t>
            </a:r>
            <a:r>
              <a:rPr sz="1500" b="1">
                <a:solidFill>
                  <a:srgbClr val="1A2340"/>
                </a:solidFill>
                <a:latin typeface="Calibri"/>
              </a:rPr>
              <a:t>the safe default has to carry the risk</a:t>
            </a:r>
            <a:r>
              <a:rPr sz="1500" b="0">
                <a:solidFill>
                  <a:srgbClr val="636363"/>
                </a:solidFill>
                <a:latin typeface="Calibri"/>
              </a:rPr>
              <a:t>.</a:t>
            </a:r>
          </a:p>
          <a:p>
            <a:pPr>
              <a:spcAft>
                <a:spcPts val="500"/>
              </a:spcAft>
            </a:pPr>
            <a:r>
              <a:rPr sz="1500" b="0">
                <a:solidFill>
                  <a:srgbClr val="636363"/>
                </a:solidFill>
                <a:latin typeface="Calibri"/>
              </a:rPr>
              <a:t>Everything in this deck is measured, sample sizes are stated, and the negative results are included.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017520"/>
            <a:ext cx="12191695" cy="3810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822960"/>
          </a:xfrm>
          <a:prstGeom prst="rect">
            <a:avLst/>
          </a:prstGeom>
          <a:noFill/>
        </p:spPr>
        <p:txBody>
          <a:bodyPr wrap="square" lIns="0" rIns="0" tIns="0" bIns="0">
            <a:spAutoFit/>
          </a:bodyPr>
          <a:lstStyle/>
          <a:p>
            <a:r>
              <a:rPr sz="3400" b="1">
                <a:solidFill>
                  <a:srgbClr val="1A2340"/>
                </a:solidFill>
                <a:latin typeface="Calibri"/>
              </a:rPr>
              <a:t>Appendix: method and evidence</a:t>
            </a:r>
          </a:p>
        </p:txBody>
      </p:sp>
      <p:sp>
        <p:nvSpPr>
          <p:cNvPr id="4" name="TextBox 3"/>
          <p:cNvSpPr txBox="1"/>
          <p:nvPr/>
        </p:nvSpPr>
        <p:spPr>
          <a:xfrm>
            <a:off x="822960" y="3291840"/>
            <a:ext cx="10515600" cy="548640"/>
          </a:xfrm>
          <a:prstGeom prst="rect">
            <a:avLst/>
          </a:prstGeom>
          <a:noFill/>
        </p:spPr>
        <p:txBody>
          <a:bodyPr wrap="square" lIns="0" rIns="0" tIns="0" bIns="0">
            <a:spAutoFit/>
          </a:bodyPr>
          <a:lstStyle/>
          <a:p>
            <a:r>
              <a:rPr sz="1600" b="0">
                <a:solidFill>
                  <a:srgbClr val="636363"/>
                </a:solidFill>
                <a:latin typeface="Calibri"/>
              </a:rPr>
              <a:t>For the technical session. Validation, the decision kernel, the bifactor result, limits, and a bilingual glossary.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Is the harm space reliably measurable?</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12</a:t>
            </a:r>
          </a:p>
        </p:txBody>
      </p:sp>
      <p:sp>
        <p:nvSpPr>
          <p:cNvPr id="5" name="TextBox 4"/>
          <p:cNvSpPr txBox="1"/>
          <p:nvPr/>
        </p:nvSpPr>
        <p:spPr>
          <a:xfrm>
            <a:off x="566928" y="1298448"/>
            <a:ext cx="11064240" cy="731520"/>
          </a:xfrm>
          <a:prstGeom prst="rect">
            <a:avLst/>
          </a:prstGeom>
          <a:noFill/>
        </p:spPr>
        <p:txBody>
          <a:bodyPr wrap="square" lIns="0" rIns="0" tIns="0" bIns="0">
            <a:spAutoFit/>
          </a:bodyPr>
          <a:lstStyle/>
          <a:p>
            <a:pPr>
              <a:spcAft>
                <a:spcPts val="800"/>
              </a:spcAft>
            </a:pPr>
            <a:r>
              <a:rPr sz="1500" b="0">
                <a:solidFill>
                  <a:srgbClr val="636363"/>
                </a:solidFill>
                <a:latin typeface="Calibri"/>
              </a:rPr>
              <a:t>The first question a referee asked, and the right one. If the seven axes are not measurable to begin with, displacement along them means nothing. We tested agreement across an open, multi-family panel.</a:t>
            </a:r>
          </a:p>
        </p:txBody>
      </p:sp>
      <p:graphicFrame>
        <p:nvGraphicFramePr>
          <p:cNvPr id="6" name="Table 5"/>
          <p:cNvGraphicFramePr>
            <a:graphicFrameLocks noGrp="1"/>
          </p:cNvGraphicFramePr>
          <p:nvPr/>
        </p:nvGraphicFramePr>
        <p:xfrm>
          <a:off x="566928" y="2240280"/>
          <a:ext cx="6766560" cy="1554480"/>
        </p:xfrm>
        <a:graphic>
          <a:graphicData uri="http://schemas.openxmlformats.org/drawingml/2006/table">
            <a:tbl>
              <a:tblPr firstRow="1" bandRow="1">
                <a:tableStyleId>{5C22544A-7EE6-4342-B048-85BDC9FD1C3A}</a:tableStyleId>
              </a:tblPr>
              <a:tblGrid>
                <a:gridCol w="3291840"/>
                <a:gridCol w="1737360"/>
                <a:gridCol w="1737360"/>
              </a:tblGrid>
              <a:tr h="310896">
                <a:tc>
                  <a:txBody>
                    <a:bodyPr wrap="square"/>
                    <a:lstStyle/>
                    <a:p>
                      <a:pPr algn="l"/>
                      <a:r>
                        <a:rPr sz="1300" b="1">
                          <a:solidFill>
                            <a:srgbClr val="1A2340"/>
                          </a:solidFill>
                          <a:latin typeface="Calibri"/>
                        </a:rPr>
                        <a:t/>
                      </a:r>
                    </a:p>
                  </a:txBody>
                  <a:tcPr marL="73152" marR="73152" marT="18288" marB="18288">
                    <a:solidFill>
                      <a:srgbClr val="E4EDF7"/>
                    </a:solidFill>
                  </a:tcPr>
                </a:tc>
                <a:tc>
                  <a:txBody>
                    <a:bodyPr wrap="square"/>
                    <a:lstStyle/>
                    <a:p>
                      <a:pPr algn="ctr"/>
                      <a:r>
                        <a:rPr sz="1300" b="1">
                          <a:solidFill>
                            <a:srgbClr val="1A2340"/>
                          </a:solidFill>
                          <a:latin typeface="Calibri"/>
                        </a:rPr>
                        <a:t>ICC(2,k)</a:t>
                      </a:r>
                    </a:p>
                  </a:txBody>
                  <a:tcPr marL="73152" marR="73152" marT="18288" marB="18288">
                    <a:solidFill>
                      <a:srgbClr val="E4EDF7"/>
                    </a:solidFill>
                  </a:tcPr>
                </a:tc>
                <a:tc>
                  <a:txBody>
                    <a:bodyPr wrap="square"/>
                    <a:lstStyle/>
                    <a:p>
                      <a:pPr algn="ctr"/>
                      <a:r>
                        <a:rPr sz="1300" b="1">
                          <a:solidFill>
                            <a:srgbClr val="1A2340"/>
                          </a:solidFill>
                          <a:latin typeface="Calibri"/>
                        </a:rPr>
                        <a:t>Krippendorff α</a:t>
                      </a:r>
                    </a:p>
                  </a:txBody>
                  <a:tcPr marL="73152" marR="73152" marT="18288" marB="18288">
                    <a:solidFill>
                      <a:srgbClr val="E4EDF7"/>
                    </a:solidFill>
                  </a:tcPr>
                </a:tc>
              </a:tr>
              <a:tr h="310896">
                <a:tc>
                  <a:txBody>
                    <a:bodyPr wrap="square"/>
                    <a:lstStyle/>
                    <a:p>
                      <a:pPr algn="l"/>
                      <a:r>
                        <a:rPr sz="1300" b="0">
                          <a:solidFill>
                            <a:srgbClr val="1A2340"/>
                          </a:solidFill>
                          <a:latin typeface="Calibri"/>
                        </a:rPr>
                        <a:t>Financial (highest)</a:t>
                      </a:r>
                    </a:p>
                  </a:txBody>
                  <a:tcPr marL="73152" marR="73152" marT="18288" marB="18288">
                    <a:solidFill>
                      <a:srgbClr val="FFFFFF"/>
                    </a:solidFill>
                  </a:tcPr>
                </a:tc>
                <a:tc>
                  <a:txBody>
                    <a:bodyPr wrap="square"/>
                    <a:lstStyle/>
                    <a:p>
                      <a:pPr algn="ctr"/>
                      <a:r>
                        <a:rPr sz="1300" b="0">
                          <a:solidFill>
                            <a:srgbClr val="1A2340"/>
                          </a:solidFill>
                          <a:latin typeface="Calibri"/>
                        </a:rPr>
                        <a:t>0.983</a:t>
                      </a:r>
                    </a:p>
                  </a:txBody>
                  <a:tcPr marL="73152" marR="73152" marT="18288" marB="18288">
                    <a:solidFill>
                      <a:srgbClr val="FFFFFF"/>
                    </a:solidFill>
                  </a:tcPr>
                </a:tc>
                <a:tc>
                  <a:txBody>
                    <a:bodyPr wrap="square"/>
                    <a:lstStyle/>
                    <a:p>
                      <a:pPr algn="ctr"/>
                      <a:r>
                        <a:rPr sz="1300" b="0">
                          <a:solidFill>
                            <a:srgbClr val="1A2340"/>
                          </a:solidFill>
                          <a:latin typeface="Calibri"/>
                        </a:rPr>
                        <a:t>0.902</a:t>
                      </a:r>
                    </a:p>
                  </a:txBody>
                  <a:tcPr marL="73152" marR="73152" marT="18288" marB="18288">
                    <a:solidFill>
                      <a:srgbClr val="FFFFFF"/>
                    </a:solidFill>
                  </a:tcPr>
                </a:tc>
              </a:tr>
              <a:tr h="310896">
                <a:tc>
                  <a:txBody>
                    <a:bodyPr wrap="square"/>
                    <a:lstStyle/>
                    <a:p>
                      <a:pPr algn="l"/>
                      <a:r>
                        <a:rPr sz="1300" b="0">
                          <a:solidFill>
                            <a:srgbClr val="1A2340"/>
                          </a:solidFill>
                          <a:latin typeface="Calibri"/>
                        </a:rPr>
                        <a:t>Trust</a:t>
                      </a:r>
                    </a:p>
                  </a:txBody>
                  <a:tcPr marL="73152" marR="73152" marT="18288" marB="18288">
                    <a:solidFill>
                      <a:srgbClr val="FFFFFF"/>
                    </a:solidFill>
                  </a:tcPr>
                </a:tc>
                <a:tc>
                  <a:txBody>
                    <a:bodyPr wrap="square"/>
                    <a:lstStyle/>
                    <a:p>
                      <a:pPr algn="ctr"/>
                      <a:r>
                        <a:rPr sz="1300" b="0">
                          <a:solidFill>
                            <a:srgbClr val="1A2340"/>
                          </a:solidFill>
                          <a:latin typeface="Calibri"/>
                        </a:rPr>
                        <a:t>0.958</a:t>
                      </a:r>
                    </a:p>
                  </a:txBody>
                  <a:tcPr marL="73152" marR="73152" marT="18288" marB="18288">
                    <a:solidFill>
                      <a:srgbClr val="FFFFFF"/>
                    </a:solidFill>
                  </a:tcPr>
                </a:tc>
                <a:tc>
                  <a:txBody>
                    <a:bodyPr wrap="square"/>
                    <a:lstStyle/>
                    <a:p>
                      <a:pPr algn="ctr"/>
                      <a:r>
                        <a:rPr sz="1300" b="0">
                          <a:solidFill>
                            <a:srgbClr val="1A2340"/>
                          </a:solidFill>
                          <a:latin typeface="Calibri"/>
                        </a:rPr>
                        <a:t>0.783</a:t>
                      </a:r>
                    </a:p>
                  </a:txBody>
                  <a:tcPr marL="73152" marR="73152" marT="18288" marB="18288">
                    <a:solidFill>
                      <a:srgbClr val="FFFFFF"/>
                    </a:solidFill>
                  </a:tcPr>
                </a:tc>
              </a:tr>
              <a:tr h="310896">
                <a:tc>
                  <a:txBody>
                    <a:bodyPr wrap="square"/>
                    <a:lstStyle/>
                    <a:p>
                      <a:pPr algn="l"/>
                      <a:r>
                        <a:rPr sz="1300" b="0">
                          <a:solidFill>
                            <a:srgbClr val="1A2340"/>
                          </a:solidFill>
                          <a:latin typeface="Calibri"/>
                        </a:rPr>
                        <a:t>Physical / autonomy (lowest)</a:t>
                      </a:r>
                    </a:p>
                  </a:txBody>
                  <a:tcPr marL="73152" marR="73152" marT="18288" marB="18288">
                    <a:solidFill>
                      <a:srgbClr val="FFFFFF"/>
                    </a:solidFill>
                  </a:tcPr>
                </a:tc>
                <a:tc>
                  <a:txBody>
                    <a:bodyPr wrap="square"/>
                    <a:lstStyle/>
                    <a:p>
                      <a:pPr algn="ctr"/>
                      <a:r>
                        <a:rPr sz="1300" b="0">
                          <a:solidFill>
                            <a:srgbClr val="1A2340"/>
                          </a:solidFill>
                          <a:latin typeface="Calibri"/>
                        </a:rPr>
                        <a:t>0.893</a:t>
                      </a:r>
                    </a:p>
                  </a:txBody>
                  <a:tcPr marL="73152" marR="73152" marT="18288" marB="18288">
                    <a:solidFill>
                      <a:srgbClr val="FFFFFF"/>
                    </a:solidFill>
                  </a:tcPr>
                </a:tc>
                <a:tc>
                  <a:txBody>
                    <a:bodyPr wrap="square"/>
                    <a:lstStyle/>
                    <a:p>
                      <a:pPr algn="ctr"/>
                      <a:r>
                        <a:rPr sz="1300" b="0">
                          <a:solidFill>
                            <a:srgbClr val="1A2340"/>
                          </a:solidFill>
                          <a:latin typeface="Calibri"/>
                        </a:rPr>
                        <a:t>about 0.57</a:t>
                      </a:r>
                    </a:p>
                  </a:txBody>
                  <a:tcPr marL="73152" marR="73152" marT="18288" marB="18288">
                    <a:solidFill>
                      <a:srgbClr val="FFFFFF"/>
                    </a:solidFill>
                  </a:tcPr>
                </a:tc>
              </a:tr>
              <a:tr h="310896">
                <a:tc>
                  <a:txBody>
                    <a:bodyPr wrap="square"/>
                    <a:lstStyle/>
                    <a:p>
                      <a:pPr algn="l"/>
                      <a:r>
                        <a:rPr sz="1300" b="0">
                          <a:solidFill>
                            <a:srgbClr val="1A2340"/>
                          </a:solidFill>
                          <a:latin typeface="Calibri"/>
                        </a:rPr>
                        <a:t>Overall</a:t>
                      </a:r>
                    </a:p>
                  </a:txBody>
                  <a:tcPr marL="73152" marR="73152" marT="18288" marB="18288">
                    <a:solidFill>
                      <a:srgbClr val="FFFFFF"/>
                    </a:solidFill>
                  </a:tcPr>
                </a:tc>
                <a:tc>
                  <a:txBody>
                    <a:bodyPr wrap="square"/>
                    <a:lstStyle/>
                    <a:p>
                      <a:pPr algn="ctr"/>
                      <a:r>
                        <a:rPr sz="1300" b="1">
                          <a:solidFill>
                            <a:srgbClr val="1A2340"/>
                          </a:solidFill>
                          <a:latin typeface="Calibri"/>
                        </a:rPr>
                        <a:t>0.969</a:t>
                      </a:r>
                    </a:p>
                  </a:txBody>
                  <a:tcPr marL="73152" marR="73152" marT="18288" marB="18288">
                    <a:solidFill>
                      <a:srgbClr val="FFFFFF"/>
                    </a:solidFill>
                  </a:tcPr>
                </a:tc>
                <a:tc>
                  <a:txBody>
                    <a:bodyPr wrap="square"/>
                    <a:lstStyle/>
                    <a:p>
                      <a:pPr algn="ctr"/>
                      <a:r>
                        <a:rPr sz="1300" b="1">
                          <a:solidFill>
                            <a:srgbClr val="1A2340"/>
                          </a:solidFill>
                          <a:latin typeface="Calibri"/>
                        </a:rPr>
                        <a:t>0.836</a:t>
                      </a:r>
                    </a:p>
                  </a:txBody>
                  <a:tcPr marL="73152" marR="73152" marT="18288" marB="18288">
                    <a:solidFill>
                      <a:srgbClr val="FFFFFF"/>
                    </a:solidFill>
                  </a:tcPr>
                </a:tc>
              </a:tr>
            </a:tbl>
          </a:graphicData>
        </a:graphic>
      </p:graphicFrame>
      <p:sp>
        <p:nvSpPr>
          <p:cNvPr id="7" name="Rounded Rectangle 6"/>
          <p:cNvSpPr/>
          <p:nvPr/>
        </p:nvSpPr>
        <p:spPr>
          <a:xfrm>
            <a:off x="7635240" y="2240280"/>
            <a:ext cx="3995928" cy="219456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400" b="1">
                <a:solidFill>
                  <a:srgbClr val="1A2340"/>
                </a:solidFill>
                <a:latin typeface="Calibri"/>
              </a:rPr>
              <a:t>Panel design</a:t>
            </a:r>
          </a:p>
          <a:p>
            <a:pPr>
              <a:spcAft>
                <a:spcPts val="500"/>
              </a:spcAft>
            </a:pPr>
            <a:r>
              <a:rPr sz="1300" b="0">
                <a:solidFill>
                  <a:srgbClr val="636363"/>
                </a:solidFill>
                <a:latin typeface="Calibri"/>
              </a:rPr>
              <a:t>Six models, five families: Qwen3, Qwen3-small, GLM-5, GPT-OSS, MiniMax-M2, Gemma.</a:t>
            </a:r>
          </a:p>
          <a:p>
            <a:pPr>
              <a:spcAft>
                <a:spcPts val="500"/>
              </a:spcAft>
            </a:pPr>
            <a:r>
              <a:rPr sz="1300" b="0">
                <a:solidFill>
                  <a:srgbClr val="636363"/>
                </a:solidFill>
                <a:latin typeface="Calibri"/>
              </a:rPr>
              <a:t>31 scenarios, disjoint from the systems under test.</a:t>
            </a:r>
          </a:p>
          <a:p>
            <a:pPr>
              <a:spcAft>
                <a:spcPts val="500"/>
              </a:spcAft>
            </a:pPr>
            <a:r>
              <a:rPr sz="1300" b="0">
                <a:solidFill>
                  <a:srgbClr val="636363"/>
                </a:solidFill>
                <a:latin typeface="Calibri"/>
              </a:rPr>
              <a:t>Open managed API, fully reproducible.</a:t>
            </a:r>
          </a:p>
        </p:txBody>
      </p:sp>
      <p:sp>
        <p:nvSpPr>
          <p:cNvPr id="8" name="Rounded Rectangle 7"/>
          <p:cNvSpPr/>
          <p:nvPr/>
        </p:nvSpPr>
        <p:spPr>
          <a:xfrm>
            <a:off x="566928" y="4160520"/>
            <a:ext cx="11064240" cy="173736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Reading the numbers</a:t>
            </a:r>
          </a:p>
          <a:p>
            <a:pPr>
              <a:spcAft>
                <a:spcPts val="500"/>
              </a:spcAft>
            </a:pPr>
            <a:r>
              <a:rPr sz="1400" b="0">
                <a:solidFill>
                  <a:srgbClr val="636363"/>
                </a:solidFill>
                <a:latin typeface="Calibri"/>
              </a:rPr>
              <a:t>Overall agreement of 0.969 and test–retest of 0.96 mean the axes index a structure that different model families share. They are not one model's idiosyncrasy.</a:t>
            </a:r>
          </a:p>
          <a:p>
            <a:pPr>
              <a:spcAft>
                <a:spcPts val="500"/>
              </a:spcAft>
            </a:pPr>
            <a:r>
              <a:rPr sz="1400" b="0">
                <a:solidFill>
                  <a:srgbClr val="636363"/>
                </a:solidFill>
                <a:latin typeface="Calibri"/>
              </a:rPr>
              <a:t>Physical and autonomy are the weakest, near 0.57 on the stricter statistic. We report the weakest axis rather than only the average.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The exploit survives a principled decision kernel</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13</a:t>
            </a:r>
          </a:p>
        </p:txBody>
      </p:sp>
      <p:sp>
        <p:nvSpPr>
          <p:cNvPr id="5" name="TextBox 4"/>
          <p:cNvSpPr txBox="1"/>
          <p:nvPr/>
        </p:nvSpPr>
        <p:spPr>
          <a:xfrm>
            <a:off x="566928" y="1298448"/>
            <a:ext cx="11064240" cy="685800"/>
          </a:xfrm>
          <a:prstGeom prst="rect">
            <a:avLst/>
          </a:prstGeom>
          <a:noFill/>
        </p:spPr>
        <p:txBody>
          <a:bodyPr wrap="square" lIns="0" rIns="0" tIns="0" bIns="0">
            <a:spAutoFit/>
          </a:bodyPr>
          <a:lstStyle/>
          <a:p>
            <a:pPr>
              <a:spcAft>
                <a:spcPts val="800"/>
              </a:spcAft>
            </a:pPr>
            <a:r>
              <a:rPr sz="1500" b="0">
                <a:solidFill>
                  <a:srgbClr val="636363"/>
                </a:solidFill>
                <a:latin typeface="Calibri"/>
              </a:rPr>
              <a:t>A natural objection: perhaps the problem is the scoring, and a properly structured decision procedure would be immune. We routed the same scenarios through a real typed decision kernel and re-measured.</a:t>
            </a:r>
          </a:p>
        </p:txBody>
      </p:sp>
      <p:graphicFrame>
        <p:nvGraphicFramePr>
          <p:cNvPr id="6" name="Table 5"/>
          <p:cNvGraphicFramePr>
            <a:graphicFrameLocks noGrp="1"/>
          </p:cNvGraphicFramePr>
          <p:nvPr/>
        </p:nvGraphicFramePr>
        <p:xfrm>
          <a:off x="566928" y="2194560"/>
          <a:ext cx="8229600" cy="1243584"/>
        </p:xfrm>
        <a:graphic>
          <a:graphicData uri="http://schemas.openxmlformats.org/drawingml/2006/table">
            <a:tbl>
              <a:tblPr firstRow="1" bandRow="1">
                <a:tableStyleId>{5C22544A-7EE6-4342-B048-85BDC9FD1C3A}</a:tableStyleId>
              </a:tblPr>
              <a:tblGrid>
                <a:gridCol w="5486400"/>
                <a:gridCol w="2743200"/>
              </a:tblGrid>
              <a:tr h="310896">
                <a:tc>
                  <a:txBody>
                    <a:bodyPr wrap="square"/>
                    <a:lstStyle/>
                    <a:p>
                      <a:pPr algn="l"/>
                      <a:r>
                        <a:rPr sz="1300" b="1">
                          <a:solidFill>
                            <a:srgbClr val="1A2340"/>
                          </a:solidFill>
                          <a:latin typeface="Calibri"/>
                        </a:rPr>
                        <a:t>Measure</a:t>
                      </a:r>
                    </a:p>
                  </a:txBody>
                  <a:tcPr marL="73152" marR="73152" marT="18288" marB="18288">
                    <a:solidFill>
                      <a:srgbClr val="E4EDF7"/>
                    </a:solidFill>
                  </a:tcPr>
                </a:tc>
                <a:tc>
                  <a:txBody>
                    <a:bodyPr wrap="square"/>
                    <a:lstStyle/>
                    <a:p>
                      <a:pPr algn="ctr"/>
                      <a:r>
                        <a:rPr sz="1300" b="1">
                          <a:solidFill>
                            <a:srgbClr val="1A2340"/>
                          </a:solidFill>
                          <a:latin typeface="Calibri"/>
                        </a:rPr>
                        <a:t>Result</a:t>
                      </a:r>
                    </a:p>
                  </a:txBody>
                  <a:tcPr marL="73152" marR="73152" marT="18288" marB="18288">
                    <a:solidFill>
                      <a:srgbClr val="E4EDF7"/>
                    </a:solidFill>
                  </a:tcPr>
                </a:tc>
              </a:tr>
              <a:tr h="310896">
                <a:tc>
                  <a:txBody>
                    <a:bodyPr wrap="square"/>
                    <a:lstStyle/>
                    <a:p>
                      <a:pPr algn="l"/>
                      <a:r>
                        <a:rPr sz="1300" b="0">
                          <a:solidFill>
                            <a:srgbClr val="1A2340"/>
                          </a:solidFill>
                          <a:latin typeface="Calibri"/>
                        </a:rPr>
                        <a:t>Verdicts moving from forbid or avoid to permissive</a:t>
                      </a:r>
                    </a:p>
                  </a:txBody>
                  <a:tcPr marL="73152" marR="73152" marT="18288" marB="18288">
                    <a:solidFill>
                      <a:srgbClr val="FFFFFF"/>
                    </a:solidFill>
                  </a:tcPr>
                </a:tc>
                <a:tc>
                  <a:txBody>
                    <a:bodyPr wrap="square"/>
                    <a:lstStyle/>
                    <a:p>
                      <a:pPr algn="ctr"/>
                      <a:r>
                        <a:rPr sz="1300" b="1">
                          <a:solidFill>
                            <a:srgbClr val="D95F02"/>
                          </a:solidFill>
                          <a:latin typeface="Calibri"/>
                        </a:rPr>
                        <a:t>13.7 percent</a:t>
                      </a:r>
                    </a:p>
                  </a:txBody>
                  <a:tcPr marL="73152" marR="73152" marT="18288" marB="18288">
                    <a:solidFill>
                      <a:srgbClr val="FFFFFF"/>
                    </a:solidFill>
                  </a:tcPr>
                </a:tc>
              </a:tr>
              <a:tr h="310896">
                <a:tc>
                  <a:txBody>
                    <a:bodyPr wrap="square"/>
                    <a:lstStyle/>
                    <a:p>
                      <a:pPr algn="l"/>
                      <a:r>
                        <a:rPr sz="1300" b="0">
                          <a:solidFill>
                            <a:srgbClr val="1A2340"/>
                          </a:solidFill>
                          <a:latin typeface="Calibri"/>
                        </a:rPr>
                        <a:t>Items rated forbid, before and after softening</a:t>
                      </a:r>
                    </a:p>
                  </a:txBody>
                  <a:tcPr marL="73152" marR="73152" marT="18288" marB="18288">
                    <a:solidFill>
                      <a:srgbClr val="FFFFFF"/>
                    </a:solidFill>
                  </a:tcPr>
                </a:tc>
                <a:tc>
                  <a:txBody>
                    <a:bodyPr wrap="square"/>
                    <a:lstStyle/>
                    <a:p>
                      <a:pPr algn="ctr"/>
                      <a:r>
                        <a:rPr sz="1300" b="1">
                          <a:solidFill>
                            <a:srgbClr val="D95F02"/>
                          </a:solidFill>
                          <a:latin typeface="Calibri"/>
                        </a:rPr>
                        <a:t>44 → 27</a:t>
                      </a:r>
                    </a:p>
                  </a:txBody>
                  <a:tcPr marL="73152" marR="73152" marT="18288" marB="18288">
                    <a:solidFill>
                      <a:srgbClr val="FFFFFF"/>
                    </a:solidFill>
                  </a:tcPr>
                </a:tc>
              </a:tr>
              <a:tr h="310896">
                <a:tc>
                  <a:txBody>
                    <a:bodyPr wrap="square"/>
                    <a:lstStyle/>
                    <a:p>
                      <a:pPr algn="l"/>
                      <a:r>
                        <a:rPr sz="1300" b="0">
                          <a:solidFill>
                            <a:srgbClr val="1A2340"/>
                          </a:solidFill>
                          <a:latin typeface="Calibri"/>
                        </a:rPr>
                        <a:t>Scenarios evaluated</a:t>
                      </a:r>
                    </a:p>
                  </a:txBody>
                  <a:tcPr marL="73152" marR="73152" marT="18288" marB="18288">
                    <a:solidFill>
                      <a:srgbClr val="FFFFFF"/>
                    </a:solidFill>
                  </a:tcPr>
                </a:tc>
                <a:tc>
                  <a:txBody>
                    <a:bodyPr wrap="square"/>
                    <a:lstStyle/>
                    <a:p>
                      <a:pPr algn="ctr"/>
                      <a:r>
                        <a:rPr sz="1300" b="0">
                          <a:solidFill>
                            <a:srgbClr val="1A2340"/>
                          </a:solidFill>
                          <a:latin typeface="Calibri"/>
                        </a:rPr>
                        <a:t>n = 161</a:t>
                      </a:r>
                    </a:p>
                  </a:txBody>
                  <a:tcPr marL="73152" marR="73152" marT="18288" marB="18288">
                    <a:solidFill>
                      <a:srgbClr val="FFFFFF"/>
                    </a:solidFill>
                  </a:tcPr>
                </a:tc>
              </a:tr>
            </a:tbl>
          </a:graphicData>
        </a:graphic>
      </p:graphicFrame>
      <p:sp>
        <p:nvSpPr>
          <p:cNvPr id="7" name="Rounded Rectangle 6"/>
          <p:cNvSpPr/>
          <p:nvPr/>
        </p:nvSpPr>
        <p:spPr>
          <a:xfrm>
            <a:off x="566928" y="3794760"/>
            <a:ext cx="11064240" cy="210312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Why this matters more than the score result</a:t>
            </a:r>
          </a:p>
          <a:p>
            <a:pPr>
              <a:spcAft>
                <a:spcPts val="500"/>
              </a:spcAft>
            </a:pPr>
            <a:r>
              <a:rPr sz="1400" b="0">
                <a:solidFill>
                  <a:srgbClr val="636363"/>
                </a:solidFill>
                <a:latin typeface="Calibri"/>
              </a:rPr>
              <a:t>The scalar score moving is a measurement artefact you could argue about. A </a:t>
            </a:r>
            <a:r>
              <a:rPr sz="1400" b="1">
                <a:solidFill>
                  <a:srgbClr val="1A2340"/>
                </a:solidFill>
                <a:latin typeface="Calibri"/>
              </a:rPr>
              <a:t>typed verdict</a:t>
            </a:r>
            <a:r>
              <a:rPr sz="1400" b="0">
                <a:solidFill>
                  <a:srgbClr val="636363"/>
                </a:solidFill>
                <a:latin typeface="Calibri"/>
              </a:rPr>
              <a:t> moving from forbid to permissive is a decision changing.</a:t>
            </a:r>
          </a:p>
          <a:p>
            <a:pPr>
              <a:spcAft>
                <a:spcPts val="500"/>
              </a:spcAft>
            </a:pPr>
            <a:r>
              <a:rPr sz="1400" b="0">
                <a:solidFill>
                  <a:srgbClr val="636363"/>
                </a:solidFill>
                <a:latin typeface="Calibri"/>
              </a:rPr>
              <a:t>It also localises the fault. The kernel's logic is sound; it inherits a movable front end. Structure downstream does not protect you from manipulation upstream, which is why we name the fact-extraction stage as the hardening target.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Reliable does not mean distinct</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14</a:t>
            </a:r>
          </a:p>
        </p:txBody>
      </p:sp>
      <p:sp>
        <p:nvSpPr>
          <p:cNvPr id="5" name="TextBox 4"/>
          <p:cNvSpPr txBox="1"/>
          <p:nvPr/>
        </p:nvSpPr>
        <p:spPr>
          <a:xfrm>
            <a:off x="566928" y="1298448"/>
            <a:ext cx="11064240" cy="685800"/>
          </a:xfrm>
          <a:prstGeom prst="rect">
            <a:avLst/>
          </a:prstGeom>
          <a:noFill/>
        </p:spPr>
        <p:txBody>
          <a:bodyPr wrap="square" lIns="0" rIns="0" tIns="0" bIns="0">
            <a:spAutoFit/>
          </a:bodyPr>
          <a:lstStyle/>
          <a:p>
            <a:pPr>
              <a:spcAft>
                <a:spcPts val="800"/>
              </a:spcAft>
            </a:pPr>
            <a:r>
              <a:rPr sz="1500" b="0">
                <a:solidFill>
                  <a:srgbClr val="636363"/>
                </a:solidFill>
                <a:latin typeface="Calibri"/>
              </a:rPr>
              <a:t>High agreement says the axes are measurable. It does not say they are independent. We registered a test for that, and it changed what we claim.</a:t>
            </a:r>
          </a:p>
        </p:txBody>
      </p:sp>
      <p:graphicFrame>
        <p:nvGraphicFramePr>
          <p:cNvPr id="6" name="Table 5"/>
          <p:cNvGraphicFramePr>
            <a:graphicFrameLocks noGrp="1"/>
          </p:cNvGraphicFramePr>
          <p:nvPr/>
        </p:nvGraphicFramePr>
        <p:xfrm>
          <a:off x="566928" y="2194560"/>
          <a:ext cx="8778240" cy="1554480"/>
        </p:xfrm>
        <a:graphic>
          <a:graphicData uri="http://schemas.openxmlformats.org/drawingml/2006/table">
            <a:tbl>
              <a:tblPr firstRow="1" bandRow="1">
                <a:tableStyleId>{5C22544A-7EE6-4342-B048-85BDC9FD1C3A}</a:tableStyleId>
              </a:tblPr>
              <a:tblGrid>
                <a:gridCol w="6035040"/>
                <a:gridCol w="2743200"/>
              </a:tblGrid>
              <a:tr h="310896">
                <a:tc>
                  <a:txBody>
                    <a:bodyPr wrap="square"/>
                    <a:lstStyle/>
                    <a:p>
                      <a:pPr algn="l"/>
                      <a:r>
                        <a:rPr sz="1300" b="1">
                          <a:solidFill>
                            <a:srgbClr val="1A2340"/>
                          </a:solidFill>
                          <a:latin typeface="Calibri"/>
                        </a:rPr>
                        <a:t>Finding</a:t>
                      </a:r>
                    </a:p>
                  </a:txBody>
                  <a:tcPr marL="73152" marR="73152" marT="18288" marB="18288">
                    <a:solidFill>
                      <a:srgbClr val="E4EDF7"/>
                    </a:solidFill>
                  </a:tcPr>
                </a:tc>
                <a:tc>
                  <a:txBody>
                    <a:bodyPr wrap="square"/>
                    <a:lstStyle/>
                    <a:p>
                      <a:pPr algn="ctr"/>
                      <a:r>
                        <a:rPr sz="1300" b="1">
                          <a:solidFill>
                            <a:srgbClr val="1A2340"/>
                          </a:solidFill>
                          <a:latin typeface="Calibri"/>
                        </a:rPr>
                        <a:t>Value</a:t>
                      </a:r>
                    </a:p>
                  </a:txBody>
                  <a:tcPr marL="73152" marR="73152" marT="18288" marB="18288">
                    <a:solidFill>
                      <a:srgbClr val="E4EDF7"/>
                    </a:solidFill>
                  </a:tcPr>
                </a:tc>
              </a:tr>
              <a:tr h="310896">
                <a:tc>
                  <a:txBody>
                    <a:bodyPr wrap="square"/>
                    <a:lstStyle/>
                    <a:p>
                      <a:pPr algn="l"/>
                      <a:r>
                        <a:rPr sz="1300" b="0">
                          <a:solidFill>
                            <a:srgbClr val="1A2340"/>
                          </a:solidFill>
                          <a:latin typeface="Calibri"/>
                        </a:rPr>
                        <a:t>A single general dimension separates the cases (AUROC)</a:t>
                      </a:r>
                    </a:p>
                  </a:txBody>
                  <a:tcPr marL="73152" marR="73152" marT="18288" marB="18288">
                    <a:solidFill>
                      <a:srgbClr val="FFFFFF"/>
                    </a:solidFill>
                  </a:tcPr>
                </a:tc>
                <a:tc>
                  <a:txBody>
                    <a:bodyPr wrap="square"/>
                    <a:lstStyle/>
                    <a:p>
                      <a:pPr algn="ctr"/>
                      <a:r>
                        <a:rPr sz="1300" b="0">
                          <a:solidFill>
                            <a:srgbClr val="1A2340"/>
                          </a:solidFill>
                          <a:latin typeface="Calibri"/>
                        </a:rPr>
                        <a:t>0.856</a:t>
                      </a:r>
                    </a:p>
                  </a:txBody>
                  <a:tcPr marL="73152" marR="73152" marT="18288" marB="18288">
                    <a:solidFill>
                      <a:srgbClr val="FFFFFF"/>
                    </a:solidFill>
                  </a:tcPr>
                </a:tc>
              </a:tr>
              <a:tr h="310896">
                <a:tc>
                  <a:txBody>
                    <a:bodyPr wrap="square"/>
                    <a:lstStyle/>
                    <a:p>
                      <a:pPr algn="l"/>
                      <a:r>
                        <a:rPr sz="1300" b="0">
                          <a:solidFill>
                            <a:srgbClr val="1A2340"/>
                          </a:solidFill>
                          <a:latin typeface="Calibri"/>
                        </a:rPr>
                        <a:t>Named axes predictable from that one dimension alone</a:t>
                      </a:r>
                    </a:p>
                  </a:txBody>
                  <a:tcPr marL="73152" marR="73152" marT="18288" marB="18288">
                    <a:solidFill>
                      <a:srgbClr val="FFFFFF"/>
                    </a:solidFill>
                  </a:tcPr>
                </a:tc>
                <a:tc>
                  <a:txBody>
                    <a:bodyPr wrap="square"/>
                    <a:lstStyle/>
                    <a:p>
                      <a:pPr algn="ctr"/>
                      <a:r>
                        <a:rPr sz="1300" b="1">
                          <a:solidFill>
                            <a:srgbClr val="D95F02"/>
                          </a:solidFill>
                          <a:latin typeface="Calibri"/>
                        </a:rPr>
                        <a:t>five axes at 0.98 or above</a:t>
                      </a:r>
                    </a:p>
                  </a:txBody>
                  <a:tcPr marL="73152" marR="73152" marT="18288" marB="18288">
                    <a:solidFill>
                      <a:srgbClr val="FFFFFF"/>
                    </a:solidFill>
                  </a:tcPr>
                </a:tc>
              </a:tr>
              <a:tr h="310896">
                <a:tc>
                  <a:txBody>
                    <a:bodyPr wrap="square"/>
                    <a:lstStyle/>
                    <a:p>
                      <a:pPr algn="l"/>
                      <a:r>
                        <a:rPr sz="1300" b="0">
                          <a:solidFill>
                            <a:srgbClr val="1A2340"/>
                          </a:solidFill>
                          <a:latin typeface="Calibri"/>
                        </a:rPr>
                        <a:t>Variance carried by the first component in the panel's own matrix</a:t>
                      </a:r>
                    </a:p>
                  </a:txBody>
                  <a:tcPr marL="73152" marR="73152" marT="18288" marB="18288">
                    <a:solidFill>
                      <a:srgbClr val="FFFFFF"/>
                    </a:solidFill>
                  </a:tcPr>
                </a:tc>
                <a:tc>
                  <a:txBody>
                    <a:bodyPr wrap="square"/>
                    <a:lstStyle/>
                    <a:p>
                      <a:pPr algn="ctr"/>
                      <a:r>
                        <a:rPr sz="1300" b="1">
                          <a:solidFill>
                            <a:srgbClr val="D95F02"/>
                          </a:solidFill>
                          <a:latin typeface="Calibri"/>
                        </a:rPr>
                        <a:t>54.2 percent</a:t>
                      </a:r>
                    </a:p>
                  </a:txBody>
                  <a:tcPr marL="73152" marR="73152" marT="18288" marB="18288">
                    <a:solidFill>
                      <a:srgbClr val="FFFFFF"/>
                    </a:solidFill>
                  </a:tcPr>
                </a:tc>
              </a:tr>
              <a:tr h="310896">
                <a:tc>
                  <a:txBody>
                    <a:bodyPr wrap="square"/>
                    <a:lstStyle/>
                    <a:p>
                      <a:pPr algn="l"/>
                      <a:r>
                        <a:rPr sz="1300" b="0">
                          <a:solidFill>
                            <a:srgbClr val="1A2340"/>
                          </a:solidFill>
                          <a:latin typeface="Calibri"/>
                        </a:rPr>
                        <a:t>Axis that stays genuinely specific</a:t>
                      </a:r>
                    </a:p>
                  </a:txBody>
                  <a:tcPr marL="73152" marR="73152" marT="18288" marB="18288">
                    <a:solidFill>
                      <a:srgbClr val="FFFFFF"/>
                    </a:solidFill>
                  </a:tcPr>
                </a:tc>
                <a:tc>
                  <a:txBody>
                    <a:bodyPr wrap="square"/>
                    <a:lstStyle/>
                    <a:p>
                      <a:pPr algn="ctr"/>
                      <a:r>
                        <a:rPr sz="1300" b="1">
                          <a:solidFill>
                            <a:srgbClr val="1B9E77"/>
                          </a:solidFill>
                          <a:latin typeface="Calibri"/>
                        </a:rPr>
                        <a:t>physical</a:t>
                      </a:r>
                    </a:p>
                  </a:txBody>
                  <a:tcPr marL="73152" marR="73152" marT="18288" marB="18288">
                    <a:solidFill>
                      <a:srgbClr val="FFFFFF"/>
                    </a:solidFill>
                  </a:tcPr>
                </a:tc>
              </a:tr>
            </a:tbl>
          </a:graphicData>
        </a:graphic>
      </p:graphicFrame>
      <p:sp>
        <p:nvSpPr>
          <p:cNvPr id="7" name="Rounded Rectangle 6"/>
          <p:cNvSpPr/>
          <p:nvPr/>
        </p:nvSpPr>
        <p:spPr>
          <a:xfrm>
            <a:off x="566928" y="3977639"/>
            <a:ext cx="11064240" cy="192024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What we did with an unwelcome result</a:t>
            </a:r>
          </a:p>
          <a:p>
            <a:pPr>
              <a:spcAft>
                <a:spcPts val="500"/>
              </a:spcAft>
            </a:pPr>
            <a:r>
              <a:rPr sz="1400" b="0">
                <a:solidFill>
                  <a:srgbClr val="636363"/>
                </a:solidFill>
                <a:latin typeface="Calibri"/>
              </a:rPr>
              <a:t>Most of the apparent multi-dimensionality is one general valence channel. That weakens a claim we would have liked to keep, so we demoted it in print rather than around it.</a:t>
            </a:r>
          </a:p>
          <a:p>
            <a:pPr>
              <a:spcAft>
                <a:spcPts val="500"/>
              </a:spcAft>
            </a:pPr>
            <a:r>
              <a:rPr sz="1400" b="0">
                <a:solidFill>
                  <a:srgbClr val="636363"/>
                </a:solidFill>
                <a:latin typeface="Calibri"/>
              </a:rPr>
              <a:t>It also sharpens the practical advice: a single score is mostly that one channel, which is </a:t>
            </a:r>
            <a:r>
              <a:rPr sz="1400" b="1">
                <a:solidFill>
                  <a:srgbClr val="1A2340"/>
                </a:solidFill>
                <a:latin typeface="Calibri"/>
              </a:rPr>
              <a:t>why</a:t>
            </a:r>
            <a:r>
              <a:rPr sz="1400" b="0">
                <a:solidFill>
                  <a:srgbClr val="636363"/>
                </a:solidFill>
                <a:latin typeface="Calibri"/>
              </a:rPr>
              <a:t> one score cannot see the specific vulnerabilities. And physical harm remains separately informative.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What we have not shown</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15</a:t>
            </a:r>
          </a:p>
        </p:txBody>
      </p:sp>
      <p:sp>
        <p:nvSpPr>
          <p:cNvPr id="5" name="TextBox 4"/>
          <p:cNvSpPr txBox="1"/>
          <p:nvPr/>
        </p:nvSpPr>
        <p:spPr>
          <a:xfrm>
            <a:off x="566928" y="1298448"/>
            <a:ext cx="11064240" cy="457200"/>
          </a:xfrm>
          <a:prstGeom prst="rect">
            <a:avLst/>
          </a:prstGeom>
          <a:noFill/>
        </p:spPr>
        <p:txBody>
          <a:bodyPr wrap="square" lIns="0" rIns="0" tIns="0" bIns="0">
            <a:spAutoFit/>
          </a:bodyPr>
          <a:lstStyle/>
          <a:p>
            <a:pPr>
              <a:spcAft>
                <a:spcPts val="800"/>
              </a:spcAft>
            </a:pPr>
            <a:r>
              <a:rPr sz="1500" b="0">
                <a:solidFill>
                  <a:srgbClr val="636363"/>
                </a:solidFill>
                <a:latin typeface="Calibri"/>
              </a:rPr>
              <a:t>The four claims that bound everything above.</a:t>
            </a:r>
          </a:p>
        </p:txBody>
      </p:sp>
      <p:sp>
        <p:nvSpPr>
          <p:cNvPr id="6" name="TextBox 5"/>
          <p:cNvSpPr txBox="1"/>
          <p:nvPr/>
        </p:nvSpPr>
        <p:spPr>
          <a:xfrm>
            <a:off x="566928" y="1874519"/>
            <a:ext cx="11064240" cy="4023360"/>
          </a:xfrm>
          <a:prstGeom prst="rect">
            <a:avLst/>
          </a:prstGeom>
          <a:noFill/>
        </p:spPr>
        <p:txBody>
          <a:bodyPr wrap="square" lIns="0" rIns="0" tIns="0" bIns="0">
            <a:spAutoFit/>
          </a:bodyPr>
          <a:lstStyle/>
          <a:p>
            <a:pPr>
              <a:spcAft>
                <a:spcPts val="800"/>
              </a:spcAft>
            </a:pPr>
            <a:r>
              <a:rPr sz="1500" b="0">
                <a:solidFill>
                  <a:srgbClr val="636363"/>
                </a:solidFill>
                <a:latin typeface="Calibri"/>
              </a:rPr>
              <a:t>•  </a:t>
            </a:r>
            <a:r>
              <a:rPr sz="1500" b="1">
                <a:solidFill>
                  <a:srgbClr val="1A2340"/>
                </a:solidFill>
                <a:latin typeface="Calibri"/>
              </a:rPr>
              <a:t>Adversarial defence is unproven at scale. </a:t>
            </a:r>
            <a:r>
              <a:rPr sz="1500" b="0">
                <a:solidFill>
                  <a:srgbClr val="636363"/>
                </a:solidFill>
                <a:latin typeface="Calibri"/>
              </a:rPr>
              <a:t>Averaging halves drift on natural rewording. Against softened register the audited set shows it does not hold, 3 of 3 still flip. The at-scale adversarial run is designed and not yet run.</a:t>
            </a:r>
          </a:p>
          <a:p>
            <a:pPr>
              <a:spcAft>
                <a:spcPts val="800"/>
              </a:spcAft>
            </a:pPr>
            <a:r>
              <a:rPr sz="1500" b="0">
                <a:solidFill>
                  <a:srgbClr val="636363"/>
                </a:solidFill>
                <a:latin typeface="Calibri"/>
              </a:rPr>
              <a:t>•  </a:t>
            </a:r>
            <a:r>
              <a:rPr sz="1500" b="1">
                <a:solidFill>
                  <a:srgbClr val="1A2340"/>
                </a:solidFill>
                <a:latin typeface="Calibri"/>
              </a:rPr>
              <a:t>Two claims rest on small samples. </a:t>
            </a:r>
            <a:r>
              <a:rPr sz="1500" b="0">
                <a:solidFill>
                  <a:srgbClr val="636363"/>
                </a:solidFill>
                <a:latin typeface="Calibri"/>
              </a:rPr>
              <a:t>The end-to-end threshold result is six hand-audited items. The zero-sycophancy observation is 0 of 9. Both are directionally clear and neither is a population rate.</a:t>
            </a:r>
          </a:p>
          <a:p>
            <a:pPr>
              <a:spcAft>
                <a:spcPts val="800"/>
              </a:spcAft>
            </a:pPr>
            <a:r>
              <a:rPr sz="1500" b="0">
                <a:solidFill>
                  <a:srgbClr val="636363"/>
                </a:solidFill>
                <a:latin typeface="Calibri"/>
              </a:rPr>
              <a:t>•  </a:t>
            </a:r>
            <a:r>
              <a:rPr sz="1500" b="1">
                <a:solidFill>
                  <a:srgbClr val="1A2340"/>
                </a:solidFill>
                <a:latin typeface="Calibri"/>
              </a:rPr>
              <a:t>Two different implementations. </a:t>
            </a:r>
            <a:r>
              <a:rPr sz="1500" b="0">
                <a:solidFill>
                  <a:srgbClr val="636363"/>
                </a:solidFill>
                <a:latin typeface="Calibri"/>
              </a:rPr>
              <a:t>Attack results come from model judges; the defence and bifactor results from trained per-axis scorers. Running all five tracks through one pipeline is designed, not done.</a:t>
            </a:r>
          </a:p>
          <a:p>
            <a:pPr>
              <a:spcAft>
                <a:spcPts val="800"/>
              </a:spcAft>
            </a:pPr>
            <a:r>
              <a:rPr sz="1500" b="0">
                <a:solidFill>
                  <a:srgbClr val="636363"/>
                </a:solidFill>
                <a:latin typeface="Calibri"/>
              </a:rPr>
              <a:t>•  </a:t>
            </a:r>
            <a:r>
              <a:rPr sz="1500" b="1">
                <a:solidFill>
                  <a:srgbClr val="1A2340"/>
                </a:solidFill>
                <a:latin typeface="Calibri"/>
              </a:rPr>
              <a:t>Corpus scope. </a:t>
            </a:r>
            <a:r>
              <a:rPr sz="1500" b="0">
                <a:solidFill>
                  <a:srgbClr val="636363"/>
                </a:solidFill>
                <a:latin typeface="Calibri"/>
              </a:rPr>
              <a:t>Moderation and social-norm material, predominantly English. Cross-cultural and cross-domain transfer is untested, which is a real limitation for a Japanese deployment.</a:t>
            </a:r>
          </a:p>
        </p:txBody>
      </p:sp>
      <p:sp>
        <p:nvSpPr>
          <p:cNvPr id="7" name="TextBox 6"/>
          <p:cNvSpPr txBox="1"/>
          <p:nvPr/>
        </p:nvSpPr>
        <p:spPr>
          <a:xfrm>
            <a:off x="566928" y="6236208"/>
            <a:ext cx="10607040" cy="457200"/>
          </a:xfrm>
          <a:prstGeom prst="rect">
            <a:avLst/>
          </a:prstGeom>
          <a:noFill/>
        </p:spPr>
        <p:txBody>
          <a:bodyPr wrap="square" lIns="0" rIns="0" tIns="0" bIns="0">
            <a:spAutoFit/>
          </a:bodyPr>
          <a:lstStyle/>
          <a:p>
            <a:r>
              <a:rPr sz="1100" b="0">
                <a:solidFill>
                  <a:srgbClr val="636363"/>
                </a:solidFill>
                <a:latin typeface="Calibri"/>
              </a:rPr>
              <a:t>Every number in this deck is hedged where it appears. This slide collects the four bounds in one place.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Reproducibility and what exists today</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16</a:t>
            </a:r>
          </a:p>
        </p:txBody>
      </p:sp>
      <p:graphicFrame>
        <p:nvGraphicFramePr>
          <p:cNvPr id="5" name="Table 4"/>
          <p:cNvGraphicFramePr>
            <a:graphicFrameLocks noGrp="1"/>
          </p:cNvGraphicFramePr>
          <p:nvPr/>
        </p:nvGraphicFramePr>
        <p:xfrm>
          <a:off x="566928" y="1371600"/>
          <a:ext cx="10058400" cy="2176272"/>
        </p:xfrm>
        <a:graphic>
          <a:graphicData uri="http://schemas.openxmlformats.org/drawingml/2006/table">
            <a:tbl>
              <a:tblPr firstRow="1" bandRow="1">
                <a:tableStyleId>{5C22544A-7EE6-4342-B048-85BDC9FD1C3A}</a:tableStyleId>
              </a:tblPr>
              <a:tblGrid>
                <a:gridCol w="6400800"/>
                <a:gridCol w="3657600"/>
              </a:tblGrid>
              <a:tr h="310896">
                <a:tc>
                  <a:txBody>
                    <a:bodyPr wrap="square"/>
                    <a:lstStyle/>
                    <a:p>
                      <a:pPr algn="l"/>
                      <a:r>
                        <a:rPr sz="1300" b="1">
                          <a:solidFill>
                            <a:srgbClr val="1A2340"/>
                          </a:solidFill>
                          <a:latin typeface="Calibri"/>
                        </a:rPr>
                        <a:t>Component</a:t>
                      </a:r>
                    </a:p>
                  </a:txBody>
                  <a:tcPr marL="73152" marR="73152" marT="18288" marB="18288">
                    <a:solidFill>
                      <a:srgbClr val="E4EDF7"/>
                    </a:solidFill>
                  </a:tcPr>
                </a:tc>
                <a:tc>
                  <a:txBody>
                    <a:bodyPr wrap="square"/>
                    <a:lstStyle/>
                    <a:p>
                      <a:pPr algn="ctr"/>
                      <a:r>
                        <a:rPr sz="1300" b="1">
                          <a:solidFill>
                            <a:srgbClr val="1A2340"/>
                          </a:solidFill>
                          <a:latin typeface="Calibri"/>
                        </a:rPr>
                        <a:t>State</a:t>
                      </a:r>
                    </a:p>
                  </a:txBody>
                  <a:tcPr marL="73152" marR="73152" marT="18288" marB="18288">
                    <a:solidFill>
                      <a:srgbClr val="E4EDF7"/>
                    </a:solidFill>
                  </a:tcPr>
                </a:tc>
              </a:tr>
              <a:tr h="310896">
                <a:tc>
                  <a:txBody>
                    <a:bodyPr wrap="square"/>
                    <a:lstStyle/>
                    <a:p>
                      <a:pPr algn="l"/>
                      <a:r>
                        <a:rPr sz="1300" b="0">
                          <a:solidFill>
                            <a:srgbClr val="1A2340"/>
                          </a:solidFill>
                          <a:latin typeface="Calibri"/>
                        </a:rPr>
                        <a:t>Benchmark and five measurement tracks</a:t>
                      </a:r>
                    </a:p>
                  </a:txBody>
                  <a:tcPr marL="73152" marR="73152" marT="18288" marB="18288">
                    <a:solidFill>
                      <a:srgbClr val="FFFFFF"/>
                    </a:solidFill>
                  </a:tcPr>
                </a:tc>
                <a:tc>
                  <a:txBody>
                    <a:bodyPr wrap="square"/>
                    <a:lstStyle/>
                    <a:p>
                      <a:pPr algn="ctr"/>
                      <a:r>
                        <a:rPr sz="1300" b="1">
                          <a:solidFill>
                            <a:srgbClr val="1B9E77"/>
                          </a:solidFill>
                          <a:latin typeface="Calibri"/>
                        </a:rPr>
                        <a:t>published, tagged release</a:t>
                      </a:r>
                    </a:p>
                  </a:txBody>
                  <a:tcPr marL="73152" marR="73152" marT="18288" marB="18288">
                    <a:solidFill>
                      <a:srgbClr val="FFFFFF"/>
                    </a:solidFill>
                  </a:tcPr>
                </a:tc>
              </a:tr>
              <a:tr h="310896">
                <a:tc>
                  <a:txBody>
                    <a:bodyPr wrap="square"/>
                    <a:lstStyle/>
                    <a:p>
                      <a:pPr algn="l"/>
                      <a:r>
                        <a:rPr sz="1300" b="0">
                          <a:solidFill>
                            <a:srgbClr val="1A2340"/>
                          </a:solidFill>
                          <a:latin typeface="Calibri"/>
                        </a:rPr>
                        <a:t>Validation panel on an open managed API</a:t>
                      </a:r>
                    </a:p>
                  </a:txBody>
                  <a:tcPr marL="73152" marR="73152" marT="18288" marB="18288">
                    <a:solidFill>
                      <a:srgbClr val="FFFFFF"/>
                    </a:solidFill>
                  </a:tcPr>
                </a:tc>
                <a:tc>
                  <a:txBody>
                    <a:bodyPr wrap="square"/>
                    <a:lstStyle/>
                    <a:p>
                      <a:pPr algn="ctr"/>
                      <a:r>
                        <a:rPr sz="1300" b="1">
                          <a:solidFill>
                            <a:srgbClr val="1B9E77"/>
                          </a:solidFill>
                          <a:latin typeface="Calibri"/>
                        </a:rPr>
                        <a:t>reproducible by a third party</a:t>
                      </a:r>
                    </a:p>
                  </a:txBody>
                  <a:tcPr marL="73152" marR="73152" marT="18288" marB="18288">
                    <a:solidFill>
                      <a:srgbClr val="FFFFFF"/>
                    </a:solidFill>
                  </a:tcPr>
                </a:tc>
              </a:tr>
              <a:tr h="310896">
                <a:tc>
                  <a:txBody>
                    <a:bodyPr wrap="square"/>
                    <a:lstStyle/>
                    <a:p>
                      <a:pPr algn="l"/>
                      <a:r>
                        <a:rPr sz="1300" b="0">
                          <a:solidFill>
                            <a:srgbClr val="1A2340"/>
                          </a:solidFill>
                          <a:latin typeface="Calibri"/>
                        </a:rPr>
                        <a:t>Per-axis trained scorers</a:t>
                      </a:r>
                    </a:p>
                  </a:txBody>
                  <a:tcPr marL="73152" marR="73152" marT="18288" marB="18288">
                    <a:solidFill>
                      <a:srgbClr val="FFFFFF"/>
                    </a:solidFill>
                  </a:tcPr>
                </a:tc>
                <a:tc>
                  <a:txBody>
                    <a:bodyPr wrap="square"/>
                    <a:lstStyle/>
                    <a:p>
                      <a:pPr algn="ctr"/>
                      <a:r>
                        <a:rPr sz="1300" b="0">
                          <a:solidFill>
                            <a:srgbClr val="1A2340"/>
                          </a:solidFill>
                          <a:latin typeface="Calibri"/>
                        </a:rPr>
                        <a:t>research code</a:t>
                      </a:r>
                    </a:p>
                  </a:txBody>
                  <a:tcPr marL="73152" marR="73152" marT="18288" marB="18288">
                    <a:solidFill>
                      <a:srgbClr val="FFFFFF"/>
                    </a:solidFill>
                  </a:tcPr>
                </a:tc>
              </a:tr>
              <a:tr h="310896">
                <a:tc>
                  <a:txBody>
                    <a:bodyPr wrap="square"/>
                    <a:lstStyle/>
                    <a:p>
                      <a:pPr algn="l"/>
                      <a:r>
                        <a:rPr sz="1300" b="0">
                          <a:solidFill>
                            <a:srgbClr val="1A2340"/>
                          </a:solidFill>
                          <a:latin typeface="Calibri"/>
                        </a:rPr>
                        <a:t>Typed decision kernel</a:t>
                      </a:r>
                    </a:p>
                  </a:txBody>
                  <a:tcPr marL="73152" marR="73152" marT="18288" marB="18288">
                    <a:solidFill>
                      <a:srgbClr val="FFFFFF"/>
                    </a:solidFill>
                  </a:tcPr>
                </a:tc>
                <a:tc>
                  <a:txBody>
                    <a:bodyPr wrap="square"/>
                    <a:lstStyle/>
                    <a:p>
                      <a:pPr algn="ctr"/>
                      <a:r>
                        <a:rPr sz="1300" b="0">
                          <a:solidFill>
                            <a:srgbClr val="1A2340"/>
                          </a:solidFill>
                          <a:latin typeface="Calibri"/>
                        </a:rPr>
                        <a:t>research library</a:t>
                      </a:r>
                    </a:p>
                  </a:txBody>
                  <a:tcPr marL="73152" marR="73152" marT="18288" marB="18288">
                    <a:solidFill>
                      <a:srgbClr val="FFFFFF"/>
                    </a:solidFill>
                  </a:tcPr>
                </a:tc>
              </a:tr>
              <a:tr h="310896">
                <a:tc>
                  <a:txBody>
                    <a:bodyPr wrap="square"/>
                    <a:lstStyle/>
                    <a:p>
                      <a:pPr algn="l"/>
                      <a:r>
                        <a:rPr sz="1300" b="0">
                          <a:solidFill>
                            <a:srgbClr val="1A2340"/>
                          </a:solidFill>
                          <a:latin typeface="Calibri"/>
                        </a:rPr>
                        <a:t>Native re-run of all tracks in one pipeline</a:t>
                      </a:r>
                    </a:p>
                  </a:txBody>
                  <a:tcPr marL="73152" marR="73152" marT="18288" marB="18288">
                    <a:solidFill>
                      <a:srgbClr val="FFFFFF"/>
                    </a:solidFill>
                  </a:tcPr>
                </a:tc>
                <a:tc>
                  <a:txBody>
                    <a:bodyPr wrap="square"/>
                    <a:lstStyle/>
                    <a:p>
                      <a:pPr algn="ctr"/>
                      <a:r>
                        <a:rPr sz="1300" b="1">
                          <a:solidFill>
                            <a:srgbClr val="D95F02"/>
                          </a:solidFill>
                          <a:latin typeface="Calibri"/>
                        </a:rPr>
                        <a:t>designed, not run</a:t>
                      </a:r>
                    </a:p>
                  </a:txBody>
                  <a:tcPr marL="73152" marR="73152" marT="18288" marB="18288">
                    <a:solidFill>
                      <a:srgbClr val="FFFFFF"/>
                    </a:solidFill>
                  </a:tcPr>
                </a:tc>
              </a:tr>
              <a:tr h="310896">
                <a:tc>
                  <a:txBody>
                    <a:bodyPr wrap="square"/>
                    <a:lstStyle/>
                    <a:p>
                      <a:pPr algn="l"/>
                      <a:r>
                        <a:rPr sz="1300" b="0">
                          <a:solidFill>
                            <a:srgbClr val="1A2340"/>
                          </a:solidFill>
                          <a:latin typeface="Calibri"/>
                        </a:rPr>
                        <a:t>Register-crossing generator for adversarial defence</a:t>
                      </a:r>
                    </a:p>
                  </a:txBody>
                  <a:tcPr marL="73152" marR="73152" marT="18288" marB="18288">
                    <a:solidFill>
                      <a:srgbClr val="FFFFFF"/>
                    </a:solidFill>
                  </a:tcPr>
                </a:tc>
                <a:tc>
                  <a:txBody>
                    <a:bodyPr wrap="square"/>
                    <a:lstStyle/>
                    <a:p>
                      <a:pPr algn="ctr"/>
                      <a:r>
                        <a:rPr sz="1300" b="1">
                          <a:solidFill>
                            <a:srgbClr val="D95F02"/>
                          </a:solidFill>
                          <a:latin typeface="Calibri"/>
                        </a:rPr>
                        <a:t>the open engineering problem</a:t>
                      </a:r>
                    </a:p>
                  </a:txBody>
                  <a:tcPr marL="73152" marR="73152" marT="18288" marB="18288">
                    <a:solidFill>
                      <a:srgbClr val="FFFFFF"/>
                    </a:solidFill>
                  </a:tcPr>
                </a:tc>
              </a:tr>
            </a:tbl>
          </a:graphicData>
        </a:graphic>
      </p:graphicFrame>
      <p:sp>
        <p:nvSpPr>
          <p:cNvPr id="6" name="Rounded Rectangle 5"/>
          <p:cNvSpPr/>
          <p:nvPr/>
        </p:nvSpPr>
        <p:spPr>
          <a:xfrm>
            <a:off x="566928" y="4114800"/>
            <a:ext cx="10058400" cy="1783080"/>
          </a:xfrm>
          <a:prstGeom prst="roundRect">
            <a:avLst>
              <a:gd name="adj" fmla="val 4000"/>
            </a:avLst>
          </a:prstGeom>
          <a:solidFill>
            <a:srgbClr val="E4EDF7"/>
          </a:solidFill>
          <a:ln w="13970">
            <a:solidFill>
              <a:srgbClr val="2171B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600"/>
              </a:spcAft>
            </a:pPr>
            <a:r>
              <a:rPr sz="1500" b="1">
                <a:solidFill>
                  <a:srgbClr val="1A2340"/>
                </a:solidFill>
                <a:latin typeface="Calibri"/>
              </a:rPr>
              <a:t>Total cost of the published study</a:t>
            </a:r>
          </a:p>
          <a:p>
            <a:pPr>
              <a:spcAft>
                <a:spcPts val="500"/>
              </a:spcAft>
            </a:pPr>
            <a:r>
              <a:rPr sz="1400" b="0">
                <a:solidFill>
                  <a:srgbClr val="636363"/>
                </a:solidFill>
                <a:latin typeface="Calibri"/>
              </a:rPr>
              <a:t>About 8,000 model calls, under 50 US dollars per day. The point is that this class of testing is cheap enough to run routinely rather than once at certification.</a:t>
            </a:r>
          </a:p>
          <a:p>
            <a:pPr>
              <a:spcAft>
                <a:spcPts val="500"/>
              </a:spcAft>
            </a:pPr>
            <a:r>
              <a:rPr sz="1400" b="1">
                <a:solidFill>
                  <a:srgbClr val="1A2340"/>
                </a:solidFill>
                <a:latin typeface="Calibri"/>
              </a:rPr>
              <a:t>That is the argument for making it part of a development process instead of an audit event.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424160" cy="640080"/>
          </a:xfrm>
          <a:prstGeom prst="rect">
            <a:avLst/>
          </a:prstGeom>
          <a:noFill/>
        </p:spPr>
        <p:txBody>
          <a:bodyPr wrap="square" lIns="0" rIns="0" tIns="0" bIns="0">
            <a:spAutoFit/>
          </a:bodyPr>
          <a:lstStyle/>
          <a:p>
            <a:r>
              <a:rPr sz="2700" b="1">
                <a:solidFill>
                  <a:srgbClr val="1A2340"/>
                </a:solidFill>
                <a:latin typeface="Calibri"/>
              </a:rPr>
              <a:t>Glossary of key terms (EN / JA)</a:t>
            </a:r>
          </a:p>
        </p:txBody>
      </p:sp>
      <p:sp>
        <p:nvSpPr>
          <p:cNvPr id="3" name="Rectangle 2"/>
          <p:cNvSpPr/>
          <p:nvPr/>
        </p:nvSpPr>
        <p:spPr>
          <a:xfrm>
            <a:off x="566928" y="1024128"/>
            <a:ext cx="11064240" cy="27940"/>
          </a:xfrm>
          <a:prstGeom prst="rect">
            <a:avLst/>
          </a:prstGeom>
          <a:solidFill>
            <a:srgbClr val="217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27648"/>
            <a:ext cx="548640" cy="274320"/>
          </a:xfrm>
          <a:prstGeom prst="rect">
            <a:avLst/>
          </a:prstGeom>
          <a:noFill/>
        </p:spPr>
        <p:txBody>
          <a:bodyPr wrap="square" lIns="0" rIns="0" tIns="0" bIns="0">
            <a:spAutoFit/>
          </a:bodyPr>
          <a:lstStyle/>
          <a:p>
            <a:pPr algn="r"/>
            <a:r>
              <a:rPr sz="1100" b="0">
                <a:solidFill>
                  <a:srgbClr val="636363"/>
                </a:solidFill>
                <a:latin typeface="Calibri"/>
              </a:rPr>
              <a:t>17</a:t>
            </a:r>
          </a:p>
        </p:txBody>
      </p:sp>
      <p:sp>
        <p:nvSpPr>
          <p:cNvPr id="5" name="TextBox 4"/>
          <p:cNvSpPr txBox="1"/>
          <p:nvPr/>
        </p:nvSpPr>
        <p:spPr>
          <a:xfrm>
            <a:off x="566928" y="1280160"/>
            <a:ext cx="11064240" cy="411480"/>
          </a:xfrm>
          <a:prstGeom prst="rect">
            <a:avLst/>
          </a:prstGeom>
          <a:noFill/>
        </p:spPr>
        <p:txBody>
          <a:bodyPr wrap="square" lIns="0" rIns="0" tIns="0" bIns="0">
            <a:spAutoFit/>
          </a:bodyPr>
          <a:lstStyle/>
          <a:p>
            <a:pPr>
              <a:spcAft>
                <a:spcPts val="800"/>
              </a:spcAft>
            </a:pPr>
            <a:r>
              <a:rPr sz="1300" b="0">
                <a:solidFill>
                  <a:srgbClr val="636363"/>
                </a:solidFill>
                <a:latin typeface="Calibri"/>
              </a:rPr>
              <a:t>Draft translations for reference. </a:t>
            </a:r>
            <a:r>
              <a:rPr sz="1300" b="1">
                <a:solidFill>
                  <a:srgbClr val="D95F02"/>
                </a:solidFill>
                <a:latin typeface="Calibri"/>
              </a:rPr>
              <a:t>Please have a native speaker verify before use.</a:t>
            </a:r>
          </a:p>
        </p:txBody>
      </p:sp>
      <p:graphicFrame>
        <p:nvGraphicFramePr>
          <p:cNvPr id="6" name="Table 5"/>
          <p:cNvGraphicFramePr>
            <a:graphicFrameLocks noGrp="1"/>
          </p:cNvGraphicFramePr>
          <p:nvPr/>
        </p:nvGraphicFramePr>
        <p:xfrm>
          <a:off x="566928" y="1783080"/>
          <a:ext cx="11064240" cy="4352544"/>
        </p:xfrm>
        <a:graphic>
          <a:graphicData uri="http://schemas.openxmlformats.org/drawingml/2006/table">
            <a:tbl>
              <a:tblPr firstRow="1" bandRow="1">
                <a:tableStyleId>{5C22544A-7EE6-4342-B048-85BDC9FD1C3A}</a:tableStyleId>
              </a:tblPr>
              <a:tblGrid>
                <a:gridCol w="2834640"/>
                <a:gridCol w="2834640"/>
                <a:gridCol w="5394960"/>
              </a:tblGrid>
              <a:tr h="310896">
                <a:tc>
                  <a:txBody>
                    <a:bodyPr wrap="square"/>
                    <a:lstStyle/>
                    <a:p>
                      <a:pPr algn="l"/>
                      <a:r>
                        <a:rPr sz="1200" b="1">
                          <a:solidFill>
                            <a:srgbClr val="1A2340"/>
                          </a:solidFill>
                          <a:latin typeface="Calibri"/>
                        </a:rPr>
                        <a:t>English</a:t>
                      </a:r>
                    </a:p>
                  </a:txBody>
                  <a:tcPr marL="73152" marR="73152" marT="18288" marB="18288">
                    <a:solidFill>
                      <a:srgbClr val="E4EDF7"/>
                    </a:solidFill>
                  </a:tcPr>
                </a:tc>
                <a:tc>
                  <a:txBody>
                    <a:bodyPr wrap="square"/>
                    <a:lstStyle/>
                    <a:p>
                      <a:pPr algn="ctr"/>
                      <a:r>
                        <a:rPr sz="1200" b="1">
                          <a:solidFill>
                            <a:srgbClr val="1A2340"/>
                          </a:solidFill>
                          <a:latin typeface="Calibri"/>
                        </a:rPr>
                        <a:t>日本語</a:t>
                      </a:r>
                    </a:p>
                  </a:txBody>
                  <a:tcPr marL="73152" marR="73152" marT="18288" marB="18288">
                    <a:solidFill>
                      <a:srgbClr val="E4EDF7"/>
                    </a:solidFill>
                  </a:tcPr>
                </a:tc>
                <a:tc>
                  <a:txBody>
                    <a:bodyPr wrap="square"/>
                    <a:lstStyle/>
                    <a:p>
                      <a:pPr algn="ctr"/>
                      <a:r>
                        <a:rPr sz="1200" b="1">
                          <a:solidFill>
                            <a:srgbClr val="1A2340"/>
                          </a:solidFill>
                          <a:latin typeface="Calibri"/>
                        </a:rPr>
                        <a:t>Meaning here</a:t>
                      </a:r>
                    </a:p>
                  </a:txBody>
                  <a:tcPr marL="73152" marR="73152" marT="18288" marB="18288">
                    <a:solidFill>
                      <a:srgbClr val="E4EDF7"/>
                    </a:solidFill>
                  </a:tcPr>
                </a:tc>
              </a:tr>
              <a:tr h="310896">
                <a:tc>
                  <a:txBody>
                    <a:bodyPr wrap="square"/>
                    <a:lstStyle/>
                    <a:p>
                      <a:pPr algn="l"/>
                      <a:r>
                        <a:rPr sz="1200" b="0">
                          <a:solidFill>
                            <a:srgbClr val="1A2340"/>
                          </a:solidFill>
                          <a:latin typeface="Calibri"/>
                        </a:rPr>
                        <a:t>harm space</a:t>
                      </a:r>
                    </a:p>
                  </a:txBody>
                  <a:tcPr marL="73152" marR="73152" marT="18288" marB="18288">
                    <a:solidFill>
                      <a:srgbClr val="FFFFFF"/>
                    </a:solidFill>
                  </a:tcPr>
                </a:tc>
                <a:tc>
                  <a:txBody>
                    <a:bodyPr wrap="square"/>
                    <a:lstStyle/>
                    <a:p>
                      <a:pPr algn="ctr"/>
                      <a:r>
                        <a:rPr sz="1200" b="0">
                          <a:solidFill>
                            <a:srgbClr val="1A2340"/>
                          </a:solidFill>
                          <a:latin typeface="Calibri"/>
                        </a:rPr>
                        <a:t>危害空間</a:t>
                      </a:r>
                    </a:p>
                  </a:txBody>
                  <a:tcPr marL="73152" marR="73152" marT="18288" marB="18288">
                    <a:solidFill>
                      <a:srgbClr val="FFFFFF"/>
                    </a:solidFill>
                  </a:tcPr>
                </a:tc>
                <a:tc>
                  <a:txBody>
                    <a:bodyPr wrap="square"/>
                    <a:lstStyle/>
                    <a:p>
                      <a:pPr algn="ctr"/>
                      <a:r>
                        <a:rPr sz="1200" b="0">
                          <a:solidFill>
                            <a:srgbClr val="1A2340"/>
                          </a:solidFill>
                          <a:latin typeface="Calibri"/>
                        </a:rPr>
                        <a:t>the seven-axis space judgments are mapped into</a:t>
                      </a:r>
                    </a:p>
                  </a:txBody>
                  <a:tcPr marL="73152" marR="73152" marT="18288" marB="18288">
                    <a:solidFill>
                      <a:srgbClr val="FFFFFF"/>
                    </a:solidFill>
                  </a:tcPr>
                </a:tc>
              </a:tr>
              <a:tr h="310896">
                <a:tc>
                  <a:txBody>
                    <a:bodyPr wrap="square"/>
                    <a:lstStyle/>
                    <a:p>
                      <a:pPr algn="l"/>
                      <a:r>
                        <a:rPr sz="1200" b="0">
                          <a:solidFill>
                            <a:srgbClr val="1A2340"/>
                          </a:solidFill>
                          <a:latin typeface="Calibri"/>
                        </a:rPr>
                        <a:t>systematic fault</a:t>
                      </a:r>
                    </a:p>
                  </a:txBody>
                  <a:tcPr marL="73152" marR="73152" marT="18288" marB="18288">
                    <a:solidFill>
                      <a:srgbClr val="FFFFFF"/>
                    </a:solidFill>
                  </a:tcPr>
                </a:tc>
                <a:tc>
                  <a:txBody>
                    <a:bodyPr wrap="square"/>
                    <a:lstStyle/>
                    <a:p>
                      <a:pPr algn="ctr"/>
                      <a:r>
                        <a:rPr sz="1200" b="0">
                          <a:solidFill>
                            <a:srgbClr val="1A2340"/>
                          </a:solidFill>
                          <a:latin typeface="Calibri"/>
                        </a:rPr>
                        <a:t>系統的故障</a:t>
                      </a:r>
                    </a:p>
                  </a:txBody>
                  <a:tcPr marL="73152" marR="73152" marT="18288" marB="18288">
                    <a:solidFill>
                      <a:srgbClr val="FFFFFF"/>
                    </a:solidFill>
                  </a:tcPr>
                </a:tc>
                <a:tc>
                  <a:txBody>
                    <a:bodyPr wrap="square"/>
                    <a:lstStyle/>
                    <a:p>
                      <a:pPr algn="ctr"/>
                      <a:r>
                        <a:rPr sz="1200" b="0">
                          <a:solidFill>
                            <a:srgbClr val="1A2340"/>
                          </a:solidFill>
                          <a:latin typeface="Calibri"/>
                        </a:rPr>
                        <a:t>reproducible and directional, not diluted by volume</a:t>
                      </a:r>
                    </a:p>
                  </a:txBody>
                  <a:tcPr marL="73152" marR="73152" marT="18288" marB="18288">
                    <a:solidFill>
                      <a:srgbClr val="FFFFFF"/>
                    </a:solidFill>
                  </a:tcPr>
                </a:tc>
              </a:tr>
              <a:tr h="310896">
                <a:tc>
                  <a:txBody>
                    <a:bodyPr wrap="square"/>
                    <a:lstStyle/>
                    <a:p>
                      <a:pPr algn="l"/>
                      <a:r>
                        <a:rPr sz="1200" b="0">
                          <a:solidFill>
                            <a:srgbClr val="1A2340"/>
                          </a:solidFill>
                          <a:latin typeface="Calibri"/>
                        </a:rPr>
                        <a:t>random fault</a:t>
                      </a:r>
                    </a:p>
                  </a:txBody>
                  <a:tcPr marL="73152" marR="73152" marT="18288" marB="18288">
                    <a:solidFill>
                      <a:srgbClr val="FFFFFF"/>
                    </a:solidFill>
                  </a:tcPr>
                </a:tc>
                <a:tc>
                  <a:txBody>
                    <a:bodyPr wrap="square"/>
                    <a:lstStyle/>
                    <a:p>
                      <a:pPr algn="ctr"/>
                      <a:r>
                        <a:rPr sz="1200" b="0">
                          <a:solidFill>
                            <a:srgbClr val="1A2340"/>
                          </a:solidFill>
                          <a:latin typeface="Calibri"/>
                        </a:rPr>
                        <a:t>ランダム故障</a:t>
                      </a:r>
                    </a:p>
                  </a:txBody>
                  <a:tcPr marL="73152" marR="73152" marT="18288" marB="18288">
                    <a:solidFill>
                      <a:srgbClr val="FFFFFF"/>
                    </a:solidFill>
                  </a:tcPr>
                </a:tc>
                <a:tc>
                  <a:txBody>
                    <a:bodyPr wrap="square"/>
                    <a:lstStyle/>
                    <a:p>
                      <a:pPr algn="ctr"/>
                      <a:r>
                        <a:rPr sz="1200" b="0">
                          <a:solidFill>
                            <a:srgbClr val="1A2340"/>
                          </a:solidFill>
                          <a:latin typeface="Calibri"/>
                        </a:rPr>
                        <a:t>the kind statistics over many cases does catch</a:t>
                      </a:r>
                    </a:p>
                  </a:txBody>
                  <a:tcPr marL="73152" marR="73152" marT="18288" marB="18288">
                    <a:solidFill>
                      <a:srgbClr val="FFFFFF"/>
                    </a:solidFill>
                  </a:tcPr>
                </a:tc>
              </a:tr>
              <a:tr h="310896">
                <a:tc>
                  <a:txBody>
                    <a:bodyPr wrap="square"/>
                    <a:lstStyle/>
                    <a:p>
                      <a:pPr algn="l"/>
                      <a:r>
                        <a:rPr sz="1200" b="0">
                          <a:solidFill>
                            <a:srgbClr val="1A2340"/>
                          </a:solidFill>
                          <a:latin typeface="Calibri"/>
                        </a:rPr>
                        <a:t>diagnostic coverage</a:t>
                      </a:r>
                    </a:p>
                  </a:txBody>
                  <a:tcPr marL="73152" marR="73152" marT="18288" marB="18288">
                    <a:solidFill>
                      <a:srgbClr val="FFFFFF"/>
                    </a:solidFill>
                  </a:tcPr>
                </a:tc>
                <a:tc>
                  <a:txBody>
                    <a:bodyPr wrap="square"/>
                    <a:lstStyle/>
                    <a:p>
                      <a:pPr algn="ctr"/>
                      <a:r>
                        <a:rPr sz="1200" b="0">
                          <a:solidFill>
                            <a:srgbClr val="1A2340"/>
                          </a:solidFill>
                          <a:latin typeface="Calibri"/>
                        </a:rPr>
                        <a:t>診断カバレッジ</a:t>
                      </a:r>
                    </a:p>
                  </a:txBody>
                  <a:tcPr marL="73152" marR="73152" marT="18288" marB="18288">
                    <a:solidFill>
                      <a:srgbClr val="FFFFFF"/>
                    </a:solidFill>
                  </a:tcPr>
                </a:tc>
                <a:tc>
                  <a:txBody>
                    <a:bodyPr wrap="square"/>
                    <a:lstStyle/>
                    <a:p>
                      <a:pPr algn="ctr"/>
                      <a:r>
                        <a:rPr sz="1200" b="0">
                          <a:solidFill>
                            <a:srgbClr val="1A2340"/>
                          </a:solidFill>
                          <a:latin typeface="Calibri"/>
                        </a:rPr>
                        <a:t>the fraction of faults a check can actually detect</a:t>
                      </a:r>
                    </a:p>
                  </a:txBody>
                  <a:tcPr marL="73152" marR="73152" marT="18288" marB="18288">
                    <a:solidFill>
                      <a:srgbClr val="FFFFFF"/>
                    </a:solidFill>
                  </a:tcPr>
                </a:tc>
              </a:tr>
              <a:tr h="310896">
                <a:tc>
                  <a:txBody>
                    <a:bodyPr wrap="square"/>
                    <a:lstStyle/>
                    <a:p>
                      <a:pPr algn="l"/>
                      <a:r>
                        <a:rPr sz="1200" b="0">
                          <a:solidFill>
                            <a:srgbClr val="1A2340"/>
                          </a:solidFill>
                          <a:latin typeface="Calibri"/>
                        </a:rPr>
                        <a:t>fail-safe / safe state</a:t>
                      </a:r>
                    </a:p>
                  </a:txBody>
                  <a:tcPr marL="73152" marR="73152" marT="18288" marB="18288">
                    <a:solidFill>
                      <a:srgbClr val="FFFFFF"/>
                    </a:solidFill>
                  </a:tcPr>
                </a:tc>
                <a:tc>
                  <a:txBody>
                    <a:bodyPr wrap="square"/>
                    <a:lstStyle/>
                    <a:p>
                      <a:pPr algn="ctr"/>
                      <a:r>
                        <a:rPr sz="1200" b="0">
                          <a:solidFill>
                            <a:srgbClr val="1A2340"/>
                          </a:solidFill>
                          <a:latin typeface="Calibri"/>
                        </a:rPr>
                        <a:t>フェールセーフ／安全状態</a:t>
                      </a:r>
                    </a:p>
                  </a:txBody>
                  <a:tcPr marL="73152" marR="73152" marT="18288" marB="18288">
                    <a:solidFill>
                      <a:srgbClr val="FFFFFF"/>
                    </a:solidFill>
                  </a:tcPr>
                </a:tc>
                <a:tc>
                  <a:txBody>
                    <a:bodyPr wrap="square"/>
                    <a:lstStyle/>
                    <a:p>
                      <a:pPr algn="ctr"/>
                      <a:r>
                        <a:rPr sz="1200" b="0">
                          <a:solidFill>
                            <a:srgbClr val="1A2340"/>
                          </a:solidFill>
                          <a:latin typeface="Calibri"/>
                        </a:rPr>
                        <a:t>escalate rather than pass when the check is untrustworthy</a:t>
                      </a:r>
                    </a:p>
                  </a:txBody>
                  <a:tcPr marL="73152" marR="73152" marT="18288" marB="18288">
                    <a:solidFill>
                      <a:srgbClr val="FFFFFF"/>
                    </a:solidFill>
                  </a:tcPr>
                </a:tc>
              </a:tr>
              <a:tr h="310896">
                <a:tc>
                  <a:txBody>
                    <a:bodyPr wrap="square"/>
                    <a:lstStyle/>
                    <a:p>
                      <a:pPr algn="l"/>
                      <a:r>
                        <a:rPr sz="1200" b="0">
                          <a:solidFill>
                            <a:srgbClr val="1A2340"/>
                          </a:solidFill>
                          <a:latin typeface="Calibri"/>
                        </a:rPr>
                        <a:t>threshold evasion</a:t>
                      </a:r>
                    </a:p>
                  </a:txBody>
                  <a:tcPr marL="73152" marR="73152" marT="18288" marB="18288">
                    <a:solidFill>
                      <a:srgbClr val="FFFFFF"/>
                    </a:solidFill>
                  </a:tcPr>
                </a:tc>
                <a:tc>
                  <a:txBody>
                    <a:bodyPr wrap="square"/>
                    <a:lstStyle/>
                    <a:p>
                      <a:pPr algn="ctr"/>
                      <a:r>
                        <a:rPr sz="1200" b="0">
                          <a:solidFill>
                            <a:srgbClr val="1A2340"/>
                          </a:solidFill>
                          <a:latin typeface="Calibri"/>
                        </a:rPr>
                        <a:t>閾値回避</a:t>
                      </a:r>
                    </a:p>
                  </a:txBody>
                  <a:tcPr marL="73152" marR="73152" marT="18288" marB="18288">
                    <a:solidFill>
                      <a:srgbClr val="FFFFFF"/>
                    </a:solidFill>
                  </a:tcPr>
                </a:tc>
                <a:tc>
                  <a:txBody>
                    <a:bodyPr wrap="square"/>
                    <a:lstStyle/>
                    <a:p>
                      <a:pPr algn="ctr"/>
                      <a:r>
                        <a:rPr sz="1200" b="0">
                          <a:solidFill>
                            <a:srgbClr val="1A2340"/>
                          </a:solidFill>
                          <a:latin typeface="Calibri"/>
                        </a:rPr>
                        <a:t>rewording until the score falls below the flag threshold</a:t>
                      </a:r>
                    </a:p>
                  </a:txBody>
                  <a:tcPr marL="73152" marR="73152" marT="18288" marB="18288">
                    <a:solidFill>
                      <a:srgbClr val="FFFFFF"/>
                    </a:solidFill>
                  </a:tcPr>
                </a:tc>
              </a:tr>
              <a:tr h="310896">
                <a:tc>
                  <a:txBody>
                    <a:bodyPr wrap="square"/>
                    <a:lstStyle/>
                    <a:p>
                      <a:pPr algn="l"/>
                      <a:r>
                        <a:rPr sz="1200" b="0">
                          <a:solidFill>
                            <a:srgbClr val="1A2340"/>
                          </a:solidFill>
                          <a:latin typeface="Calibri"/>
                        </a:rPr>
                        <a:t>euphemism</a:t>
                      </a:r>
                    </a:p>
                  </a:txBody>
                  <a:tcPr marL="73152" marR="73152" marT="18288" marB="18288">
                    <a:solidFill>
                      <a:srgbClr val="FFFFFF"/>
                    </a:solidFill>
                  </a:tcPr>
                </a:tc>
                <a:tc>
                  <a:txBody>
                    <a:bodyPr wrap="square"/>
                    <a:lstStyle/>
                    <a:p>
                      <a:pPr algn="ctr"/>
                      <a:r>
                        <a:rPr sz="1200" b="0">
                          <a:solidFill>
                            <a:srgbClr val="1A2340"/>
                          </a:solidFill>
                          <a:latin typeface="Calibri"/>
                        </a:rPr>
                        <a:t>婉曲表現</a:t>
                      </a:r>
                    </a:p>
                  </a:txBody>
                  <a:tcPr marL="73152" marR="73152" marT="18288" marB="18288">
                    <a:solidFill>
                      <a:srgbClr val="FFFFFF"/>
                    </a:solidFill>
                  </a:tcPr>
                </a:tc>
                <a:tc>
                  <a:txBody>
                    <a:bodyPr wrap="square"/>
                    <a:lstStyle/>
                    <a:p>
                      <a:pPr algn="ctr"/>
                      <a:r>
                        <a:rPr sz="1200" b="0">
                          <a:solidFill>
                            <a:srgbClr val="1A2340"/>
                          </a:solidFill>
                          <a:latin typeface="Calibri"/>
                        </a:rPr>
                        <a:t>softened wording that preserves the facts</a:t>
                      </a:r>
                    </a:p>
                  </a:txBody>
                  <a:tcPr marL="73152" marR="73152" marT="18288" marB="18288">
                    <a:solidFill>
                      <a:srgbClr val="FFFFFF"/>
                    </a:solidFill>
                  </a:tcPr>
                </a:tc>
              </a:tr>
              <a:tr h="310896">
                <a:tc>
                  <a:txBody>
                    <a:bodyPr wrap="square"/>
                    <a:lstStyle/>
                    <a:p>
                      <a:pPr algn="l"/>
                      <a:r>
                        <a:rPr sz="1200" b="0">
                          <a:solidFill>
                            <a:srgbClr val="1A2340"/>
                          </a:solidFill>
                          <a:latin typeface="Calibri"/>
                        </a:rPr>
                        <a:t>register (of language)</a:t>
                      </a:r>
                    </a:p>
                  </a:txBody>
                  <a:tcPr marL="73152" marR="73152" marT="18288" marB="18288">
                    <a:solidFill>
                      <a:srgbClr val="FFFFFF"/>
                    </a:solidFill>
                  </a:tcPr>
                </a:tc>
                <a:tc>
                  <a:txBody>
                    <a:bodyPr wrap="square"/>
                    <a:lstStyle/>
                    <a:p>
                      <a:pPr algn="ctr"/>
                      <a:r>
                        <a:rPr sz="1200" b="0">
                          <a:solidFill>
                            <a:srgbClr val="1A2340"/>
                          </a:solidFill>
                          <a:latin typeface="Calibri"/>
                        </a:rPr>
                        <a:t>文体・語調</a:t>
                      </a:r>
                    </a:p>
                  </a:txBody>
                  <a:tcPr marL="73152" marR="73152" marT="18288" marB="18288">
                    <a:solidFill>
                      <a:srgbClr val="FFFFFF"/>
                    </a:solidFill>
                  </a:tcPr>
                </a:tc>
                <a:tc>
                  <a:txBody>
                    <a:bodyPr wrap="square"/>
                    <a:lstStyle/>
                    <a:p>
                      <a:pPr algn="ctr"/>
                      <a:r>
                        <a:rPr sz="1200" b="0">
                          <a:solidFill>
                            <a:srgbClr val="1A2340"/>
                          </a:solidFill>
                          <a:latin typeface="Calibri"/>
                        </a:rPr>
                        <a:t>the style level; the actual attack vector here</a:t>
                      </a:r>
                    </a:p>
                  </a:txBody>
                  <a:tcPr marL="73152" marR="73152" marT="18288" marB="18288">
                    <a:solidFill>
                      <a:srgbClr val="FFFFFF"/>
                    </a:solidFill>
                  </a:tcPr>
                </a:tc>
              </a:tr>
              <a:tr h="310896">
                <a:tc>
                  <a:txBody>
                    <a:bodyPr wrap="square"/>
                    <a:lstStyle/>
                    <a:p>
                      <a:pPr algn="l"/>
                      <a:r>
                        <a:rPr sz="1200" b="0">
                          <a:solidFill>
                            <a:srgbClr val="1A2340"/>
                          </a:solidFill>
                          <a:latin typeface="Calibri"/>
                        </a:rPr>
                        <a:t>invariance</a:t>
                      </a:r>
                    </a:p>
                  </a:txBody>
                  <a:tcPr marL="73152" marR="73152" marT="18288" marB="18288">
                    <a:solidFill>
                      <a:srgbClr val="FFFFFF"/>
                    </a:solidFill>
                  </a:tcPr>
                </a:tc>
                <a:tc>
                  <a:txBody>
                    <a:bodyPr wrap="square"/>
                    <a:lstStyle/>
                    <a:p>
                      <a:pPr algn="ctr"/>
                      <a:r>
                        <a:rPr sz="1200" b="0">
                          <a:solidFill>
                            <a:srgbClr val="1A2340"/>
                          </a:solidFill>
                          <a:latin typeface="Calibri"/>
                        </a:rPr>
                        <a:t>不変性</a:t>
                      </a:r>
                    </a:p>
                  </a:txBody>
                  <a:tcPr marL="73152" marR="73152" marT="18288" marB="18288">
                    <a:solidFill>
                      <a:srgbClr val="FFFFFF"/>
                    </a:solidFill>
                  </a:tcPr>
                </a:tc>
                <a:tc>
                  <a:txBody>
                    <a:bodyPr wrap="square"/>
                    <a:lstStyle/>
                    <a:p>
                      <a:pPr algn="ctr"/>
                      <a:r>
                        <a:rPr sz="1200" b="0">
                          <a:solidFill>
                            <a:srgbClr val="1A2340"/>
                          </a:solidFill>
                          <a:latin typeface="Calibri"/>
                        </a:rPr>
                        <a:t>the property a sound evaluator should have</a:t>
                      </a:r>
                    </a:p>
                  </a:txBody>
                  <a:tcPr marL="73152" marR="73152" marT="18288" marB="18288">
                    <a:solidFill>
                      <a:srgbClr val="FFFFFF"/>
                    </a:solidFill>
                  </a:tcPr>
                </a:tc>
              </a:tr>
              <a:tr h="310896">
                <a:tc>
                  <a:txBody>
                    <a:bodyPr wrap="square"/>
                    <a:lstStyle/>
                    <a:p>
                      <a:pPr algn="l"/>
                      <a:r>
                        <a:rPr sz="1200" b="0">
                          <a:solidFill>
                            <a:srgbClr val="1A2340"/>
                          </a:solidFill>
                          <a:latin typeface="Calibri"/>
                        </a:rPr>
                        <a:t>displacement</a:t>
                      </a:r>
                    </a:p>
                  </a:txBody>
                  <a:tcPr marL="73152" marR="73152" marT="18288" marB="18288">
                    <a:solidFill>
                      <a:srgbClr val="FFFFFF"/>
                    </a:solidFill>
                  </a:tcPr>
                </a:tc>
                <a:tc>
                  <a:txBody>
                    <a:bodyPr wrap="square"/>
                    <a:lstStyle/>
                    <a:p>
                      <a:pPr algn="ctr"/>
                      <a:r>
                        <a:rPr sz="1200" b="0">
                          <a:solidFill>
                            <a:srgbClr val="1A2340"/>
                          </a:solidFill>
                          <a:latin typeface="Calibri"/>
                        </a:rPr>
                        <a:t>変位</a:t>
                      </a:r>
                    </a:p>
                  </a:txBody>
                  <a:tcPr marL="73152" marR="73152" marT="18288" marB="18288">
                    <a:solidFill>
                      <a:srgbClr val="FFFFFF"/>
                    </a:solidFill>
                  </a:tcPr>
                </a:tc>
                <a:tc>
                  <a:txBody>
                    <a:bodyPr wrap="square"/>
                    <a:lstStyle/>
                    <a:p>
                      <a:pPr algn="ctr"/>
                      <a:r>
                        <a:rPr sz="1200" b="0">
                          <a:solidFill>
                            <a:srgbClr val="1A2340"/>
                          </a:solidFill>
                          <a:latin typeface="Calibri"/>
                        </a:rPr>
                        <a:t>how far a judgment moved when the wording changed</a:t>
                      </a:r>
                    </a:p>
                  </a:txBody>
                  <a:tcPr marL="73152" marR="73152" marT="18288" marB="18288">
                    <a:solidFill>
                      <a:srgbClr val="FFFFFF"/>
                    </a:solidFill>
                  </a:tcPr>
                </a:tc>
              </a:tr>
              <a:tr h="310896">
                <a:tc>
                  <a:txBody>
                    <a:bodyPr wrap="square"/>
                    <a:lstStyle/>
                    <a:p>
                      <a:pPr algn="l"/>
                      <a:r>
                        <a:rPr sz="1200" b="0">
                          <a:solidFill>
                            <a:srgbClr val="1A2340"/>
                          </a:solidFill>
                          <a:latin typeface="Calibri"/>
                        </a:rPr>
                        <a:t>inter-rater reliability</a:t>
                      </a:r>
                    </a:p>
                  </a:txBody>
                  <a:tcPr marL="73152" marR="73152" marT="18288" marB="18288">
                    <a:solidFill>
                      <a:srgbClr val="FFFFFF"/>
                    </a:solidFill>
                  </a:tcPr>
                </a:tc>
                <a:tc>
                  <a:txBody>
                    <a:bodyPr wrap="square"/>
                    <a:lstStyle/>
                    <a:p>
                      <a:pPr algn="ctr"/>
                      <a:r>
                        <a:rPr sz="1200" b="0">
                          <a:solidFill>
                            <a:srgbClr val="1A2340"/>
                          </a:solidFill>
                          <a:latin typeface="Calibri"/>
                        </a:rPr>
                        <a:t>評価者間信頼性</a:t>
                      </a:r>
                    </a:p>
                  </a:txBody>
                  <a:tcPr marL="73152" marR="73152" marT="18288" marB="18288">
                    <a:solidFill>
                      <a:srgbClr val="FFFFFF"/>
                    </a:solidFill>
                  </a:tcPr>
                </a:tc>
                <a:tc>
                  <a:txBody>
                    <a:bodyPr wrap="square"/>
                    <a:lstStyle/>
                    <a:p>
                      <a:pPr algn="ctr"/>
                      <a:r>
                        <a:rPr sz="1200" b="0">
                          <a:solidFill>
                            <a:srgbClr val="1A2340"/>
                          </a:solidFill>
                          <a:latin typeface="Calibri"/>
                        </a:rPr>
                        <a:t>whether independent judges agree beyond chance</a:t>
                      </a:r>
                    </a:p>
                  </a:txBody>
                  <a:tcPr marL="73152" marR="73152" marT="18288" marB="18288">
                    <a:solidFill>
                      <a:srgbClr val="FFFFFF"/>
                    </a:solidFill>
                  </a:tcPr>
                </a:tc>
              </a:tr>
              <a:tr h="310896">
                <a:tc>
                  <a:txBody>
                    <a:bodyPr wrap="square"/>
                    <a:lstStyle/>
                    <a:p>
                      <a:pPr algn="l"/>
                      <a:r>
                        <a:rPr sz="1200" b="0">
                          <a:solidFill>
                            <a:srgbClr val="1A2340"/>
                          </a:solidFill>
                          <a:latin typeface="Calibri"/>
                        </a:rPr>
                        <a:t>calibration error</a:t>
                      </a:r>
                    </a:p>
                  </a:txBody>
                  <a:tcPr marL="73152" marR="73152" marT="18288" marB="18288">
                    <a:solidFill>
                      <a:srgbClr val="FFFFFF"/>
                    </a:solidFill>
                  </a:tcPr>
                </a:tc>
                <a:tc>
                  <a:txBody>
                    <a:bodyPr wrap="square"/>
                    <a:lstStyle/>
                    <a:p>
                      <a:pPr algn="ctr"/>
                      <a:r>
                        <a:rPr sz="1200" b="0">
                          <a:solidFill>
                            <a:srgbClr val="1A2340"/>
                          </a:solidFill>
                          <a:latin typeface="Calibri"/>
                        </a:rPr>
                        <a:t>キャリブレーション誤差</a:t>
                      </a:r>
                    </a:p>
                  </a:txBody>
                  <a:tcPr marL="73152" marR="73152" marT="18288" marB="18288">
                    <a:solidFill>
                      <a:srgbClr val="FFFFFF"/>
                    </a:solidFill>
                  </a:tcPr>
                </a:tc>
                <a:tc>
                  <a:txBody>
                    <a:bodyPr wrap="square"/>
                    <a:lstStyle/>
                    <a:p>
                      <a:pPr algn="ctr"/>
                      <a:r>
                        <a:rPr sz="1200" b="0">
                          <a:solidFill>
                            <a:srgbClr val="1A2340"/>
                          </a:solidFill>
                          <a:latin typeface="Calibri"/>
                        </a:rPr>
                        <a:t>gap between stated confidence and actual accuracy</a:t>
                      </a:r>
                    </a:p>
                  </a:txBody>
                  <a:tcPr marL="73152" marR="73152" marT="18288" marB="18288">
                    <a:solidFill>
                      <a:srgbClr val="FFFFFF"/>
                    </a:solidFill>
                  </a:tcPr>
                </a:tc>
              </a:tr>
              <a:tr h="310896">
                <a:tc>
                  <a:txBody>
                    <a:bodyPr wrap="square"/>
                    <a:lstStyle/>
                    <a:p>
                      <a:pPr algn="l"/>
                      <a:r>
                        <a:rPr sz="1200" b="0">
                          <a:solidFill>
                            <a:srgbClr val="1A2340"/>
                          </a:solidFill>
                          <a:latin typeface="Calibri"/>
                        </a:rPr>
                        <a:t>salience</a:t>
                      </a:r>
                    </a:p>
                  </a:txBody>
                  <a:tcPr marL="73152" marR="73152" marT="18288" marB="18288">
                    <a:solidFill>
                      <a:srgbClr val="FFFFFF"/>
                    </a:solidFill>
                  </a:tcPr>
                </a:tc>
                <a:tc>
                  <a:txBody>
                    <a:bodyPr wrap="square"/>
                    <a:lstStyle/>
                    <a:p>
                      <a:pPr algn="ctr"/>
                      <a:r>
                        <a:rPr sz="1200" b="0">
                          <a:solidFill>
                            <a:srgbClr val="1A2340"/>
                          </a:solidFill>
                          <a:latin typeface="Calibri"/>
                        </a:rPr>
                        <a:t>顕著性</a:t>
                      </a:r>
                    </a:p>
                  </a:txBody>
                  <a:tcPr marL="73152" marR="73152" marT="18288" marB="18288">
                    <a:solidFill>
                      <a:srgbClr val="FFFFFF"/>
                    </a:solidFill>
                  </a:tcPr>
                </a:tc>
                <a:tc>
                  <a:txBody>
                    <a:bodyPr wrap="square"/>
                    <a:lstStyle/>
                    <a:p>
                      <a:pPr algn="ctr"/>
                      <a:r>
                        <a:rPr sz="1200" b="0">
                          <a:solidFill>
                            <a:srgbClr val="1A2340"/>
                          </a:solidFill>
                          <a:latin typeface="Calibri"/>
                        </a:rPr>
                        <a:t>how noticeable a feature is made</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